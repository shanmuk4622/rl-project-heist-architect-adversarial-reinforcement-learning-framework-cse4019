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6" r:id="rId16"/>
    <p:sldId id="270" r:id="rId17"/>
    <p:sldId id="271" r:id="rId18"/>
    <p:sldId id="272" r:id="rId19"/>
    <p:sldId id="273" r:id="rId20"/>
    <p:sldId id="274" r:id="rId21"/>
    <p:sldId id="275" r:id="rId22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>
        <p:scale>
          <a:sx n="75" d="100"/>
          <a:sy n="75" d="100"/>
        </p:scale>
        <p:origin x="946" y="12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8812CA0-ACB1-4300-A218-F455AF45EC05}" type="datetimeFigureOut">
              <a:rPr lang="en-IN" smtClean="0"/>
              <a:t>22-04-2026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F1615A1-8EF6-4881-9945-472535B9DAC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157295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1615A1-8EF6-4881-9945-472535B9DAC0}" type="slidenum">
              <a:rPr lang="en-IN" smtClean="0"/>
              <a:t>3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8147850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.jpeg"/><Relationship Id="rId4" Type="http://schemas.openxmlformats.org/officeDocument/2006/relationships/image" Target="../media/image4.jpe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13716" y="0"/>
            <a:ext cx="12188952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12188952" cy="2103120"/>
          </a:xfrm>
          <a:prstGeom prst="rect">
            <a:avLst/>
          </a:prstGeom>
          <a:solidFill>
            <a:srgbClr val="14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20040" y="411480"/>
            <a:ext cx="1152144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 i="0">
                <a:solidFill>
                  <a:srgbClr val="FFFFFF"/>
                </a:solidFill>
              </a:rPr>
              <a:t>HEIST ARCHITECT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298448"/>
            <a:ext cx="11521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1">
                <a:solidFill>
                  <a:srgbClr val="00B4D8"/>
                </a:solidFill>
              </a:rPr>
              <a:t>Adversarial Reinforcement Learning Framework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920240"/>
            <a:ext cx="11521440" cy="27432"/>
          </a:xfrm>
          <a:prstGeom prst="rect">
            <a:avLst/>
          </a:prstGeom>
          <a:solidFill>
            <a:srgbClr val="5566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20040" y="2057400"/>
            <a:ext cx="11521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8E8"/>
                </a:solidFill>
              </a:rPr>
              <a:t>Two AI agents play an infinite game of cops-and-robbers.
One designs the security system. The other breaks in.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295E74FA-7C04-2A4E-DBEC-C58EF463CF7C}"/>
              </a:ext>
            </a:extLst>
          </p:cNvPr>
          <p:cNvGrpSpPr/>
          <p:nvPr/>
        </p:nvGrpSpPr>
        <p:grpSpPr>
          <a:xfrm>
            <a:off x="1823348" y="5433822"/>
            <a:ext cx="1463040" cy="347472"/>
            <a:chOff x="601912" y="5029200"/>
            <a:chExt cx="1463040" cy="347472"/>
          </a:xfrm>
        </p:grpSpPr>
        <p:sp>
          <p:nvSpPr>
            <p:cNvPr id="10" name="Rectangle 9"/>
            <p:cNvSpPr/>
            <p:nvPr/>
          </p:nvSpPr>
          <p:spPr>
            <a:xfrm>
              <a:off x="601912" y="5029200"/>
              <a:ext cx="1463040" cy="347472"/>
            </a:xfrm>
            <a:prstGeom prst="rect">
              <a:avLst/>
            </a:prstGeom>
            <a:solidFill>
              <a:srgbClr val="00B4D8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743299" y="5081275"/>
              <a:ext cx="1118734" cy="2616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1100" b="1" i="0">
                  <a:solidFill>
                    <a:srgbClr val="0D1117"/>
                  </a:solidFill>
                </a:rPr>
                <a:t>PHASE I</a:t>
              </a:r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9DCDBBD5-4971-D537-4A77-52767412D6F0}"/>
              </a:ext>
            </a:extLst>
          </p:cNvPr>
          <p:cNvGrpSpPr/>
          <p:nvPr/>
        </p:nvGrpSpPr>
        <p:grpSpPr>
          <a:xfrm>
            <a:off x="5227410" y="5401066"/>
            <a:ext cx="1463040" cy="347472"/>
            <a:chOff x="2557136" y="4761376"/>
            <a:chExt cx="1463040" cy="347472"/>
          </a:xfrm>
        </p:grpSpPr>
        <p:sp>
          <p:nvSpPr>
            <p:cNvPr id="12" name="Rectangle 11"/>
            <p:cNvSpPr/>
            <p:nvPr/>
          </p:nvSpPr>
          <p:spPr>
            <a:xfrm>
              <a:off x="2557136" y="4761376"/>
              <a:ext cx="1463040" cy="347472"/>
            </a:xfrm>
            <a:prstGeom prst="rect">
              <a:avLst/>
            </a:prstGeom>
            <a:solidFill>
              <a:srgbClr val="FFB7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2681326" y="4804307"/>
              <a:ext cx="1147837" cy="2616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1100" b="1" i="0" dirty="0">
                  <a:solidFill>
                    <a:srgbClr val="0D1117"/>
                  </a:solidFill>
                </a:rPr>
                <a:t>PHASE II</a:t>
              </a:r>
            </a:p>
          </p:txBody>
        </p:sp>
      </p:grpSp>
      <p:sp>
        <p:nvSpPr>
          <p:cNvPr id="14" name="TextBox 13"/>
          <p:cNvSpPr txBox="1"/>
          <p:nvPr/>
        </p:nvSpPr>
        <p:spPr>
          <a:xfrm>
            <a:off x="2554868" y="5929485"/>
            <a:ext cx="6396092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 dirty="0">
                <a:solidFill>
                  <a:schemeClr val="bg2"/>
                </a:solidFill>
              </a:rPr>
              <a:t>Local Training  →  Kaggle Cloud Scale-Up  →  17,000 Episodes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309360"/>
            <a:ext cx="12188952" cy="548640"/>
          </a:xfrm>
          <a:prstGeom prst="rect">
            <a:avLst/>
          </a:prstGeom>
          <a:solidFill>
            <a:srgbClr val="14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20040" y="6355080"/>
            <a:ext cx="11521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56677"/>
                </a:solidFill>
              </a:rPr>
              <a:t>CSE4019 – Reinforcement Learning Project  |  2025–2026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" y="6492240"/>
            <a:ext cx="11521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6677"/>
                </a:solidFill>
              </a:rPr>
              <a:t>Built with PyTorch · Flask · CUDA · Kaggle T4 GPUs  |  Hugging Face: Shanmuk4622/heist-architect-v2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7F3D8FDB-FBAF-D92D-07D0-1819BEF65A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7523" y="2691143"/>
            <a:ext cx="2520242" cy="2562085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25503ED0-626B-63C2-5ADC-0581007777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0320" y="2716333"/>
            <a:ext cx="2430398" cy="2507221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FF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182880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B700"/>
                </a:solidFill>
              </a:rPr>
              <a:t>Presentation Outline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777240"/>
            <a:ext cx="11338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C8D8E8"/>
                </a:solidFill>
              </a:rPr>
              <a:t>A two-phase journey from local prototype to cloud-scale AI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115568"/>
            <a:ext cx="11365992" cy="2286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FF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274320" y="1234440"/>
            <a:ext cx="5532120" cy="5349240"/>
          </a:xfrm>
          <a:prstGeom prst="rect">
            <a:avLst/>
          </a:prstGeom>
          <a:solidFill>
            <a:srgbClr val="141E2E"/>
          </a:solidFill>
          <a:ln w="1270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137160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B4D8"/>
                </a:solidFill>
              </a:rPr>
              <a:t>PHASE I — Local Framework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737360"/>
            <a:ext cx="5166360" cy="2286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7200" y="1828800"/>
            <a:ext cx="5120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8D8E8"/>
                </a:solidFill>
              </a:rPr>
              <a:t>01.  Problem Statement &amp; Motivation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450592"/>
            <a:ext cx="5120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8D8E8"/>
                </a:solidFill>
              </a:rPr>
              <a:t>02.  Adversarial RL Concept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072384"/>
            <a:ext cx="5120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8D8E8"/>
                </a:solidFill>
              </a:rPr>
              <a:t>03.  Dual-Agent Architecture (Architect vs Solver)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694176"/>
            <a:ext cx="5120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8D8E8"/>
                </a:solidFill>
              </a:rPr>
              <a:t>04.  Environment Design — 20×20 Grid World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4315968"/>
            <a:ext cx="5120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8D8E8"/>
                </a:solidFill>
              </a:rPr>
              <a:t>05.  Security Components (Walls, Cameras, Guards)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937760"/>
            <a:ext cx="5120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8D8E8"/>
                </a:solidFill>
              </a:rPr>
              <a:t>06.  Curriculum Learning Pipeline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59552"/>
            <a:ext cx="5120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8D8E8"/>
                </a:solidFill>
              </a:rPr>
              <a:t>07.  Neural Networks (CNN + LSTM / Encoder-Decoder)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181344"/>
            <a:ext cx="5120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8D8E8"/>
                </a:solidFill>
              </a:rPr>
              <a:t>08.  Phase I Results — 500 Episode Local Run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55080" y="1234440"/>
            <a:ext cx="5532120" cy="5349240"/>
          </a:xfrm>
          <a:prstGeom prst="rect">
            <a:avLst/>
          </a:prstGeom>
          <a:solidFill>
            <a:srgbClr val="141E2E"/>
          </a:solidFill>
          <a:ln w="12700">
            <a:solidFill>
              <a:srgbClr val="FFB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537960" y="137160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B700"/>
                </a:solidFill>
              </a:rPr>
              <a:t>PHASE II — Cloud Scale-Up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37960" y="1737360"/>
            <a:ext cx="5166360" cy="22860"/>
          </a:xfrm>
          <a:prstGeom prst="rect">
            <a:avLst/>
          </a:prstGeom>
          <a:solidFill>
            <a:srgbClr val="FF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537960" y="1828800"/>
            <a:ext cx="5120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8D8E8"/>
                </a:solidFill>
              </a:rPr>
              <a:t>01.  Phase II — Kaggle Cloud Scale-Up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37960" y="2450592"/>
            <a:ext cx="5120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8D8E8"/>
                </a:solidFill>
              </a:rPr>
              <a:t>02.  17,000 Episode Training on Dual T4 GPUs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37960" y="3072384"/>
            <a:ext cx="5120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8D8E8"/>
                </a:solidFill>
              </a:rPr>
              <a:t>03.  Collapse &amp; Recovery Cycles (Adversarial Dynamics)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37960" y="3694176"/>
            <a:ext cx="5120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8D8E8"/>
                </a:solidFill>
              </a:rPr>
              <a:t>04.  ELO Arms Race — Strategic Equilibrium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37960" y="4315968"/>
            <a:ext cx="5120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8D8E8"/>
                </a:solidFill>
              </a:rPr>
              <a:t>05.  Web Dashboard — Real-Time Monitoring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37960" y="4937760"/>
            <a:ext cx="5120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8D8E8"/>
                </a:solidFill>
              </a:rPr>
              <a:t>06.  Key Quantitative Results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37960" y="5559552"/>
            <a:ext cx="5120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8D8E8"/>
                </a:solidFill>
              </a:rPr>
              <a:t>07.  Emergent Strategies &amp; Nash Equilibrium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37960" y="6181344"/>
            <a:ext cx="5120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8D8E8"/>
                </a:solidFill>
              </a:rPr>
              <a:t>08.  References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182880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0B4D8"/>
                </a:solidFill>
              </a:rPr>
              <a:t>Problem Statement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777240"/>
            <a:ext cx="11338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C8D8E8"/>
                </a:solidFill>
              </a:rPr>
              <a:t>What are we solving, and why does it matter?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115568"/>
            <a:ext cx="11365992" cy="2286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274320" y="1261872"/>
            <a:ext cx="11640312" cy="1463040"/>
          </a:xfrm>
          <a:prstGeom prst="rect">
            <a:avLst/>
          </a:prstGeom>
          <a:solidFill>
            <a:srgbClr val="141E2E"/>
          </a:solidFill>
          <a:ln w="1270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2920" y="1371600"/>
            <a:ext cx="111556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1">
                <a:solidFill>
                  <a:srgbClr val="FFB700"/>
                </a:solidFill>
              </a:rPr>
              <a:t>"Standard RL trains a single agent on a fixed environment.
Real-world security is a dynamic, adaptive adversarial game."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2880360"/>
            <a:ext cx="3794760" cy="3611880"/>
          </a:xfrm>
          <a:prstGeom prst="rect">
            <a:avLst/>
          </a:prstGeom>
          <a:solidFill>
            <a:srgbClr val="141E2E"/>
          </a:solidFill>
          <a:ln w="1905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274320" y="2880360"/>
            <a:ext cx="3794760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11479" y="2999232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B4D8"/>
                </a:solidFill>
              </a:rPr>
              <a:t>Static Environments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79" y="3456432"/>
            <a:ext cx="34747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8D8E8"/>
                </a:solidFill>
              </a:rPr>
              <a:t>Traditional RL agents memorize solutions. Security threats evolve — a defender must adapt to an ever-improving attacker.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97680" y="2880360"/>
            <a:ext cx="3474720" cy="3611880"/>
          </a:xfrm>
          <a:prstGeom prst="rect">
            <a:avLst/>
          </a:prstGeom>
          <a:solidFill>
            <a:srgbClr val="141E2E"/>
          </a:solidFill>
          <a:ln w="19050">
            <a:solidFill>
              <a:srgbClr val="FF47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297680" y="2880360"/>
            <a:ext cx="3474720" cy="73152"/>
          </a:xfrm>
          <a:prstGeom prst="rect">
            <a:avLst/>
          </a:prstGeom>
          <a:solidFill>
            <a:srgbClr val="FF4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434840" y="2999232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476F"/>
                </a:solidFill>
              </a:rPr>
              <a:t>Single-Agent Limitation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34840" y="3438144"/>
            <a:ext cx="3256280" cy="623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8D8E8"/>
                </a:solidFill>
              </a:rPr>
              <a:t>Training on a fixed maze produces brittle policies. An intelligent adversary (Architect) forces the agent to generalize, not memorize.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46720" y="2889504"/>
            <a:ext cx="3794760" cy="3611880"/>
          </a:xfrm>
          <a:prstGeom prst="rect">
            <a:avLst/>
          </a:prstGeom>
          <a:solidFill>
            <a:srgbClr val="141E2E"/>
          </a:solidFill>
          <a:ln w="19050">
            <a:solidFill>
              <a:srgbClr val="06D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8046720" y="2889504"/>
            <a:ext cx="3794760" cy="73152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183880" y="3008376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6D6A0"/>
                </a:solidFill>
              </a:rPr>
              <a:t>No Adversarial Co-Learning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65465" y="3438144"/>
            <a:ext cx="34747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8D8E8"/>
                </a:solidFill>
              </a:rPr>
              <a:t>Existing benchmarks (e.g., MiniGrid) lack an intelligent, learning opponent. This project fills that gap with simultaneous dual-agent training.</a:t>
            </a:r>
          </a:p>
        </p:txBody>
      </p:sp>
      <p:pic>
        <p:nvPicPr>
          <p:cNvPr id="1026" name="Picture 2" descr="Easy Simple Game on Steam">
            <a:extLst>
              <a:ext uri="{FF2B5EF4-FFF2-40B4-BE49-F238E27FC236}">
                <a16:creationId xmlns:a16="http://schemas.microsoft.com/office/drawing/2014/main" id="{C72E2FFD-B852-0F4D-20A1-1DDE74D163F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174" r="12522"/>
          <a:stretch>
            <a:fillRect/>
          </a:stretch>
        </p:blipFill>
        <p:spPr bwMode="auto">
          <a:xfrm>
            <a:off x="411478" y="4192714"/>
            <a:ext cx="3474721" cy="20478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Multi-Agent vs Single-Agent Systems Explained | Bluebash">
            <a:extLst>
              <a:ext uri="{FF2B5EF4-FFF2-40B4-BE49-F238E27FC236}">
                <a16:creationId xmlns:a16="http://schemas.microsoft.com/office/drawing/2014/main" id="{85262B76-85A4-FA99-66BB-35DE1741B7A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7017" t="16782" r="12811" b="45476"/>
          <a:stretch>
            <a:fillRect/>
          </a:stretch>
        </p:blipFill>
        <p:spPr bwMode="auto">
          <a:xfrm>
            <a:off x="5130006" y="4239290"/>
            <a:ext cx="1901508" cy="20012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2" name="AutoShape 6" descr="Image result for colearning">
            <a:extLst>
              <a:ext uri="{FF2B5EF4-FFF2-40B4-BE49-F238E27FC236}">
                <a16:creationId xmlns:a16="http://schemas.microsoft.com/office/drawing/2014/main" id="{F459742D-3614-6D34-173E-ECF5ADDA547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2013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pic>
        <p:nvPicPr>
          <p:cNvPr id="1034" name="Picture 10" descr="Premium AI Image | hand and network">
            <a:extLst>
              <a:ext uri="{FF2B5EF4-FFF2-40B4-BE49-F238E27FC236}">
                <a16:creationId xmlns:a16="http://schemas.microsoft.com/office/drawing/2014/main" id="{794D4A31-CA23-3D07-283A-96DE539E940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84" t="26797" r="8903" b="23293"/>
          <a:stretch>
            <a:fillRect/>
          </a:stretch>
        </p:blipFill>
        <p:spPr bwMode="auto">
          <a:xfrm>
            <a:off x="8424545" y="4318139"/>
            <a:ext cx="2956560" cy="17970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FF4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182880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476F"/>
                </a:solidFill>
              </a:rPr>
              <a:t>Adversarial Reinforcement Learning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777240"/>
            <a:ext cx="11338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C8D8E8"/>
                </a:solidFill>
              </a:rPr>
              <a:t>Self-play that drives emergent intelligence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115568"/>
            <a:ext cx="11365992" cy="2286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FF4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20040" y="1261872"/>
            <a:ext cx="5394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B4D8"/>
                </a:solidFill>
              </a:rPr>
              <a:t>🔹 Standard MDP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627632"/>
            <a:ext cx="5394960" cy="2286000"/>
          </a:xfrm>
          <a:prstGeom prst="rect">
            <a:avLst/>
          </a:prstGeom>
          <a:solidFill>
            <a:srgbClr val="141E2E"/>
          </a:solidFill>
          <a:ln w="1270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02920" y="1719072"/>
            <a:ext cx="502920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8D8E8"/>
                </a:solidFill>
              </a:rPr>
              <a:t>• One agent, one fixed environment
• Converges to a stable optimal policy
• Learns to memorize patterns
• Fails when environment shifts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1261872"/>
            <a:ext cx="5577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476F"/>
                </a:solidFill>
              </a:rPr>
              <a:t>⚔️  Markov Game (This Project)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9360" y="1627632"/>
            <a:ext cx="5577840" cy="2286000"/>
          </a:xfrm>
          <a:prstGeom prst="rect">
            <a:avLst/>
          </a:prstGeom>
          <a:solidFill>
            <a:srgbClr val="141E2E"/>
          </a:solidFill>
          <a:ln w="12700">
            <a:solidFill>
              <a:srgbClr val="FF47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92240" y="1719072"/>
            <a:ext cx="521208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8D8E8"/>
                </a:solidFill>
              </a:rPr>
              <a:t>• Two agents, adversarially generated environment
• Strategically non-stationary — task changes as opponent evolves
• Forces generalisation over memorisation
• Converges toward Nash Equilibrium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E84100D3-22BC-20C1-C6E0-A200BCE8BBF5}"/>
              </a:ext>
            </a:extLst>
          </p:cNvPr>
          <p:cNvGrpSpPr/>
          <p:nvPr/>
        </p:nvGrpSpPr>
        <p:grpSpPr>
          <a:xfrm>
            <a:off x="5678424" y="2148840"/>
            <a:ext cx="658368" cy="658368"/>
            <a:chOff x="5486400" y="2103120"/>
            <a:chExt cx="658368" cy="658368"/>
          </a:xfrm>
        </p:grpSpPr>
        <p:sp>
          <p:nvSpPr>
            <p:cNvPr id="14" name="Rectangle 13"/>
            <p:cNvSpPr/>
            <p:nvPr/>
          </p:nvSpPr>
          <p:spPr>
            <a:xfrm>
              <a:off x="5486400" y="2103120"/>
              <a:ext cx="658368" cy="658368"/>
            </a:xfrm>
            <a:prstGeom prst="rect">
              <a:avLst/>
            </a:prstGeom>
            <a:solidFill>
              <a:srgbClr val="FFB7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5486400" y="2157984"/>
              <a:ext cx="658368" cy="54864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1800" b="1" i="0">
                  <a:solidFill>
                    <a:srgbClr val="0D1117"/>
                  </a:solidFill>
                </a:rPr>
                <a:t>VS</a:t>
              </a:r>
            </a:p>
          </p:txBody>
        </p:sp>
      </p:grpSp>
      <p:sp>
        <p:nvSpPr>
          <p:cNvPr id="16" name="Rectangle 15"/>
          <p:cNvSpPr/>
          <p:nvPr/>
        </p:nvSpPr>
        <p:spPr>
          <a:xfrm>
            <a:off x="274320" y="4096512"/>
            <a:ext cx="2834640" cy="1133856"/>
          </a:xfrm>
          <a:prstGeom prst="rect">
            <a:avLst/>
          </a:prstGeom>
          <a:solidFill>
            <a:srgbClr val="141E2E"/>
          </a:solidFill>
          <a:ln w="1270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11479" y="420624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B4D8"/>
                </a:solidFill>
              </a:rPr>
              <a:t>Non-Stationarity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79" y="4617720"/>
            <a:ext cx="25603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C8D8E8"/>
                </a:solidFill>
              </a:rPr>
              <a:t>Task distribution changes as the opponent learns new strategies</a:t>
            </a: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43DA6887-C1B3-DA2B-C93E-BFD48806334C}"/>
              </a:ext>
            </a:extLst>
          </p:cNvPr>
          <p:cNvGrpSpPr/>
          <p:nvPr/>
        </p:nvGrpSpPr>
        <p:grpSpPr>
          <a:xfrm>
            <a:off x="3246119" y="4878324"/>
            <a:ext cx="2834640" cy="1705864"/>
            <a:chOff x="3255263" y="4109720"/>
            <a:chExt cx="2834640" cy="2336800"/>
          </a:xfrm>
        </p:grpSpPr>
        <p:sp>
          <p:nvSpPr>
            <p:cNvPr id="19" name="Rectangle 18"/>
            <p:cNvSpPr/>
            <p:nvPr/>
          </p:nvSpPr>
          <p:spPr>
            <a:xfrm>
              <a:off x="3255263" y="4109720"/>
              <a:ext cx="2834640" cy="1133856"/>
            </a:xfrm>
            <a:prstGeom prst="rect">
              <a:avLst/>
            </a:prstGeom>
            <a:solidFill>
              <a:srgbClr val="141E2E"/>
            </a:solidFill>
            <a:ln w="12700">
              <a:solidFill>
                <a:srgbClr val="FFB7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3392423" y="4206240"/>
              <a:ext cx="2560320" cy="3657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200" b="1" i="0" dirty="0">
                  <a:solidFill>
                    <a:srgbClr val="FFB700"/>
                  </a:solidFill>
                </a:rPr>
                <a:t>Co-Adaptation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3392423" y="4617720"/>
              <a:ext cx="2560320" cy="18288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050" b="0" i="0">
                  <a:solidFill>
                    <a:srgbClr val="C8D8E8"/>
                  </a:solidFill>
                </a:rPr>
                <a:t>Both policies evolve in response to each other — arms race dynamics</a:t>
              </a:r>
            </a:p>
          </p:txBody>
        </p:sp>
      </p:grpSp>
      <p:sp>
        <p:nvSpPr>
          <p:cNvPr id="22" name="Rectangle 21"/>
          <p:cNvSpPr/>
          <p:nvPr/>
        </p:nvSpPr>
        <p:spPr>
          <a:xfrm>
            <a:off x="6236207" y="4096512"/>
            <a:ext cx="2834640" cy="1019556"/>
          </a:xfrm>
          <a:prstGeom prst="rect">
            <a:avLst/>
          </a:prstGeom>
          <a:solidFill>
            <a:srgbClr val="141E2E"/>
          </a:solidFill>
          <a:ln w="12700">
            <a:solidFill>
              <a:srgbClr val="06D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373368" y="420624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D6A0"/>
                </a:solidFill>
              </a:rPr>
              <a:t>Nash Equilibrium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3368" y="4617720"/>
            <a:ext cx="25603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C8D8E8"/>
                </a:solidFill>
              </a:rPr>
              <a:t>Stable endpoint where neither agent can improve by changing strategy alone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217151" y="4796028"/>
            <a:ext cx="2834640" cy="910011"/>
          </a:xfrm>
          <a:prstGeom prst="rect">
            <a:avLst/>
          </a:prstGeom>
          <a:solidFill>
            <a:srgbClr val="141E2E"/>
          </a:solidFill>
          <a:ln w="12700">
            <a:solidFill>
              <a:srgbClr val="FF47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9326880" y="4850029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 dirty="0">
                <a:solidFill>
                  <a:srgbClr val="FF476F"/>
                </a:solidFill>
              </a:rPr>
              <a:t>ELO Rating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26878" y="5121148"/>
            <a:ext cx="25603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 dirty="0">
                <a:solidFill>
                  <a:srgbClr val="C8D8E8"/>
                </a:solidFill>
              </a:rPr>
              <a:t>Relative skill score that tracks which agent is currently dominating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182880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6D6A0"/>
                </a:solidFill>
              </a:rPr>
              <a:t>The Two 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777240"/>
            <a:ext cx="11338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C8D8E8"/>
                </a:solidFill>
              </a:rPr>
              <a:t>Architect vs Solver — an infinite adversarial game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115568"/>
            <a:ext cx="11365992" cy="2286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274320" y="1261872"/>
            <a:ext cx="5577840" cy="5344668"/>
          </a:xfrm>
          <a:prstGeom prst="rect">
            <a:avLst/>
          </a:prstGeom>
          <a:solidFill>
            <a:srgbClr val="141E2E"/>
          </a:solidFill>
          <a:ln w="1270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274320" y="1261872"/>
            <a:ext cx="5577840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7200" y="1371600"/>
            <a:ext cx="5212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0B4D8"/>
                </a:solidFill>
              </a:rPr>
              <a:t>🔒  THE ARCHITECT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828800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556677"/>
                </a:solidFill>
              </a:rPr>
              <a:t>Security Designer — The Adversary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194560"/>
            <a:ext cx="5166360" cy="17774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300"/>
              </a:spcBef>
            </a:pPr>
            <a:r>
              <a:rPr sz="1150" b="0" i="0" dirty="0">
                <a:solidFill>
                  <a:srgbClr val="C8D8E8"/>
                </a:solidFill>
              </a:rPr>
              <a:t>▸ Places Walls, Cameras &amp; Guards on a 20×20 grid</a:t>
            </a:r>
          </a:p>
          <a:p>
            <a:pPr algn="l">
              <a:spcBef>
                <a:spcPts val="300"/>
              </a:spcBef>
            </a:pPr>
            <a:r>
              <a:rPr sz="1150" b="0" i="0" dirty="0">
                <a:solidFill>
                  <a:srgbClr val="C8D8E8"/>
                </a:solidFill>
              </a:rPr>
              <a:t>▸ Must stay within a budget (Wall=1 pt, Cam=3 pt, Guard=5 pt)</a:t>
            </a:r>
          </a:p>
          <a:p>
            <a:pPr algn="l">
              <a:spcBef>
                <a:spcPts val="300"/>
              </a:spcBef>
            </a:pPr>
            <a:r>
              <a:rPr sz="1150" b="0" i="0" dirty="0">
                <a:solidFill>
                  <a:srgbClr val="C8D8E8"/>
                </a:solidFill>
              </a:rPr>
              <a:t>▸ Budget grows with curriculum: 5 → 8 → 15 → 22 pts</a:t>
            </a:r>
          </a:p>
          <a:p>
            <a:pPr algn="l">
              <a:spcBef>
                <a:spcPts val="300"/>
              </a:spcBef>
            </a:pPr>
            <a:r>
              <a:rPr sz="1150" b="0" i="0" dirty="0">
                <a:solidFill>
                  <a:srgbClr val="C8D8E8"/>
                </a:solidFill>
              </a:rPr>
              <a:t>▸ </a:t>
            </a:r>
            <a:r>
              <a:rPr sz="1150" b="0" i="0" dirty="0" err="1">
                <a:solidFill>
                  <a:srgbClr val="C8D8E8"/>
                </a:solidFill>
              </a:rPr>
              <a:t>Penalised</a:t>
            </a:r>
            <a:r>
              <a:rPr sz="1150" b="0" i="0" dirty="0">
                <a:solidFill>
                  <a:srgbClr val="C8D8E8"/>
                </a:solidFill>
              </a:rPr>
              <a:t> if no valid path exists to the Vault</a:t>
            </a:r>
          </a:p>
          <a:p>
            <a:pPr algn="l">
              <a:spcBef>
                <a:spcPts val="300"/>
              </a:spcBef>
            </a:pPr>
            <a:r>
              <a:rPr sz="1150" b="0" i="0" dirty="0">
                <a:solidFill>
                  <a:srgbClr val="C8D8E8"/>
                </a:solidFill>
              </a:rPr>
              <a:t>▸ </a:t>
            </a:r>
            <a:r>
              <a:rPr sz="1150" b="0" i="0" dirty="0" err="1">
                <a:solidFill>
                  <a:srgbClr val="C8D8E8"/>
                </a:solidFill>
              </a:rPr>
              <a:t>Penalised</a:t>
            </a:r>
            <a:r>
              <a:rPr sz="1150" b="0" i="0" dirty="0">
                <a:solidFill>
                  <a:srgbClr val="C8D8E8"/>
                </a:solidFill>
              </a:rPr>
              <a:t> if the Solver finds it too easy (&gt;80% solve rate)</a:t>
            </a:r>
          </a:p>
          <a:p>
            <a:pPr algn="l">
              <a:spcBef>
                <a:spcPts val="300"/>
              </a:spcBef>
            </a:pPr>
            <a:r>
              <a:rPr sz="1150" b="0" i="0" dirty="0">
                <a:solidFill>
                  <a:srgbClr val="C8D8E8"/>
                </a:solidFill>
              </a:rPr>
              <a:t>▸ Rewarded proportionally to Detection Rate achieved</a:t>
            </a:r>
          </a:p>
          <a:p>
            <a:pPr algn="l">
              <a:spcBef>
                <a:spcPts val="300"/>
              </a:spcBef>
            </a:pPr>
            <a:r>
              <a:rPr sz="1150" b="0" i="0" dirty="0">
                <a:solidFill>
                  <a:srgbClr val="C8D8E8"/>
                </a:solidFill>
              </a:rPr>
              <a:t>▸ Network: </a:t>
            </a:r>
            <a:r>
              <a:rPr sz="1150" b="0" i="0" dirty="0" err="1">
                <a:solidFill>
                  <a:srgbClr val="C8D8E8"/>
                </a:solidFill>
              </a:rPr>
              <a:t>ResNet</a:t>
            </a:r>
            <a:r>
              <a:rPr sz="1150" b="0" i="0" dirty="0">
                <a:solidFill>
                  <a:srgbClr val="C8D8E8"/>
                </a:solidFill>
              </a:rPr>
              <a:t> + Group Norm Backbone — 8.5M parameters</a:t>
            </a:r>
          </a:p>
          <a:p>
            <a:pPr algn="l">
              <a:spcBef>
                <a:spcPts val="300"/>
              </a:spcBef>
            </a:pPr>
            <a:r>
              <a:rPr sz="1150" b="0" i="0" dirty="0">
                <a:solidFill>
                  <a:srgbClr val="C8D8E8"/>
                </a:solidFill>
              </a:rPr>
              <a:t>▸ Uses 512-dim LSTM hidden state to map a dense 400-cell grid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55080" y="1261872"/>
            <a:ext cx="5577840" cy="5257800"/>
          </a:xfrm>
          <a:prstGeom prst="rect">
            <a:avLst/>
          </a:prstGeom>
          <a:solidFill>
            <a:srgbClr val="141E2E"/>
          </a:solidFill>
          <a:ln w="12700">
            <a:solidFill>
              <a:srgbClr val="FFB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355080" y="1261872"/>
            <a:ext cx="5577840" cy="73152"/>
          </a:xfrm>
          <a:prstGeom prst="rect">
            <a:avLst/>
          </a:prstGeom>
          <a:solidFill>
            <a:srgbClr val="FF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537960" y="1371600"/>
            <a:ext cx="5212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B700"/>
                </a:solidFill>
              </a:rPr>
              <a:t>🕵️  THE SOLVER (ROBBER)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60" y="1828800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 dirty="0">
                <a:solidFill>
                  <a:srgbClr val="556677"/>
                </a:solidFill>
              </a:rPr>
              <a:t>Infiltrator — The Navigator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60" y="2194560"/>
            <a:ext cx="51663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300"/>
              </a:spcBef>
            </a:pPr>
            <a:r>
              <a:rPr sz="1150" b="0" i="0">
                <a:solidFill>
                  <a:srgbClr val="C8D8E8"/>
                </a:solidFill>
              </a:rPr>
              <a:t>▸ Navigates from Start (1,1) to Vault (18,18) undetected</a:t>
            </a:r>
          </a:p>
          <a:p>
            <a:pPr algn="l">
              <a:spcBef>
                <a:spcPts val="300"/>
              </a:spcBef>
            </a:pPr>
            <a:r>
              <a:rPr sz="1150" b="0" i="0">
                <a:solidFill>
                  <a:srgbClr val="C8D8E8"/>
                </a:solidFill>
              </a:rPr>
              <a:t>▸ Actions: UP, DOWN, LEFT, RIGHT, WAIT</a:t>
            </a:r>
          </a:p>
          <a:p>
            <a:pPr algn="l">
              <a:spcBef>
                <a:spcPts val="300"/>
              </a:spcBef>
            </a:pPr>
            <a:r>
              <a:rPr sz="1150" b="0" i="0">
                <a:solidFill>
                  <a:srgbClr val="C8D8E8"/>
                </a:solidFill>
              </a:rPr>
              <a:t>▸ Sees 12-channel spatial tensors (geodesic dists, danger zones)</a:t>
            </a:r>
          </a:p>
          <a:p>
            <a:pPr algn="l">
              <a:spcBef>
                <a:spcPts val="300"/>
              </a:spcBef>
            </a:pPr>
            <a:r>
              <a:rPr sz="1150" b="0" i="0">
                <a:solidFill>
                  <a:srgbClr val="C8D8E8"/>
                </a:solidFill>
              </a:rPr>
              <a:t>▸ WAIT action is critical — times camera rotations precisely</a:t>
            </a:r>
          </a:p>
          <a:p>
            <a:pPr algn="l">
              <a:spcBef>
                <a:spcPts val="300"/>
              </a:spcBef>
            </a:pPr>
            <a:r>
              <a:rPr sz="1150" b="0" i="0">
                <a:solidFill>
                  <a:srgbClr val="C8D8E8"/>
                </a:solidFill>
              </a:rPr>
              <a:t>▸ Uses massive 512-param LSTM memory to track temporal guard sequences</a:t>
            </a:r>
          </a:p>
          <a:p>
            <a:pPr algn="l">
              <a:spcBef>
                <a:spcPts val="300"/>
              </a:spcBef>
            </a:pPr>
            <a:r>
              <a:rPr sz="1150" b="0" i="0">
                <a:solidFill>
                  <a:srgbClr val="C8D8E8"/>
                </a:solidFill>
              </a:rPr>
              <a:t>▸ Penalised -1.0 for detection; rewarded +10.0 for vault reach</a:t>
            </a:r>
          </a:p>
          <a:p>
            <a:pPr algn="l">
              <a:spcBef>
                <a:spcPts val="300"/>
              </a:spcBef>
            </a:pPr>
            <a:r>
              <a:rPr sz="1150" b="0" i="0">
                <a:solidFill>
                  <a:srgbClr val="C8D8E8"/>
                </a:solidFill>
              </a:rPr>
              <a:t>▸ Network: CNN + 512-dim LSTM — 7M parameters</a:t>
            </a:r>
          </a:p>
          <a:p>
            <a:pPr algn="l">
              <a:spcBef>
                <a:spcPts val="300"/>
              </a:spcBef>
            </a:pPr>
            <a:r>
              <a:rPr sz="1150" b="0" i="0">
                <a:solidFill>
                  <a:srgbClr val="C8D8E8"/>
                </a:solidFill>
              </a:rPr>
              <a:t>▸ Distance-based shaping guides learning from episode one</a:t>
            </a:r>
          </a:p>
        </p:txBody>
      </p:sp>
      <p:sp>
        <p:nvSpPr>
          <p:cNvPr id="18" name="AutoShape 2" descr="Builder Clip Art">
            <a:extLst>
              <a:ext uri="{FF2B5EF4-FFF2-40B4-BE49-F238E27FC236}">
                <a16:creationId xmlns:a16="http://schemas.microsoft.com/office/drawing/2014/main" id="{8B57652D-CB7C-B72F-5FE0-7F94BE79917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2013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2B9942CB-F55B-692F-EBE6-C3181C2BF7A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1629359" y="3980351"/>
            <a:ext cx="2526081" cy="2423835"/>
          </a:xfrm>
          <a:prstGeom prst="rect">
            <a:avLst/>
          </a:prstGeom>
        </p:spPr>
      </p:pic>
      <p:pic>
        <p:nvPicPr>
          <p:cNvPr id="2058" name="Picture 10" descr="28+ Free Thief Clipart in Transparent PNG [800kb] | Best PNG Album">
            <a:extLst>
              <a:ext uri="{FF2B5EF4-FFF2-40B4-BE49-F238E27FC236}">
                <a16:creationId xmlns:a16="http://schemas.microsoft.com/office/drawing/2014/main" id="{CE5937D9-4F4C-C61E-1164-9263F6C8FA1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/>
          <a:srcRect t="3900" b="7864"/>
          <a:stretch>
            <a:fillRect/>
          </a:stretch>
        </p:blipFill>
        <p:spPr bwMode="auto">
          <a:xfrm>
            <a:off x="8382000" y="4029085"/>
            <a:ext cx="1706880" cy="23236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FF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182880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B700"/>
                </a:solidFill>
              </a:rPr>
              <a:t>The Grid World Environment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777240"/>
            <a:ext cx="11338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C8D8E8"/>
                </a:solidFill>
              </a:rPr>
              <a:t>A 20×20 dynamic adversarial arena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115568"/>
            <a:ext cx="11365992" cy="2286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FF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274320" y="1261872"/>
            <a:ext cx="5029200" cy="5257800"/>
          </a:xfrm>
          <a:prstGeom prst="rect">
            <a:avLst/>
          </a:prstGeom>
          <a:solidFill>
            <a:srgbClr val="141E2E"/>
          </a:solidFill>
          <a:ln w="12700">
            <a:solidFill>
              <a:srgbClr val="FFB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1417320"/>
            <a:ext cx="295656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 dirty="0">
                <a:solidFill>
                  <a:srgbClr val="06D6A0"/>
                </a:solidFill>
              </a:rPr>
              <a:t>  ####################
  #S.</a:t>
            </a:r>
            <a:r>
              <a:rPr lang="en-US" sz="1050" b="1" dirty="0">
                <a:solidFill>
                  <a:srgbClr val="06D6A0"/>
                </a:solidFill>
              </a:rPr>
              <a:t> </a:t>
            </a:r>
            <a:r>
              <a:rPr sz="1050" b="1" i="0" dirty="0">
                <a:solidFill>
                  <a:srgbClr val="06D6A0"/>
                </a:solidFill>
              </a:rPr>
              <a:t>.</a:t>
            </a:r>
            <a:r>
              <a:rPr lang="en-US" sz="1050" b="1" i="0" dirty="0">
                <a:solidFill>
                  <a:srgbClr val="06D6A0"/>
                </a:solidFill>
              </a:rPr>
              <a:t> </a:t>
            </a:r>
            <a:r>
              <a:rPr sz="1050" b="1" i="0" dirty="0">
                <a:solidFill>
                  <a:srgbClr val="06D6A0"/>
                </a:solidFill>
              </a:rPr>
              <a:t>.</a:t>
            </a:r>
            <a:r>
              <a:rPr lang="en-US" sz="1050" b="1" i="0" dirty="0">
                <a:solidFill>
                  <a:srgbClr val="06D6A0"/>
                </a:solidFill>
              </a:rPr>
              <a:t> </a:t>
            </a:r>
            <a:r>
              <a:rPr sz="1050" b="1" i="0" dirty="0">
                <a:solidFill>
                  <a:srgbClr val="06D6A0"/>
                </a:solidFill>
              </a:rPr>
              <a:t>.</a:t>
            </a:r>
            <a:r>
              <a:rPr lang="en-US" sz="1050" b="1" i="0" dirty="0">
                <a:solidFill>
                  <a:srgbClr val="06D6A0"/>
                </a:solidFill>
              </a:rPr>
              <a:t> </a:t>
            </a:r>
            <a:r>
              <a:rPr sz="1050" b="1" i="0" dirty="0">
                <a:solidFill>
                  <a:srgbClr val="06D6A0"/>
                </a:solidFill>
              </a:rPr>
              <a:t>.</a:t>
            </a:r>
            <a:r>
              <a:rPr lang="en-US" sz="1050" b="1" i="0" dirty="0">
                <a:solidFill>
                  <a:srgbClr val="06D6A0"/>
                </a:solidFill>
              </a:rPr>
              <a:t> </a:t>
            </a:r>
            <a:r>
              <a:rPr sz="1050" b="1" i="0" dirty="0">
                <a:solidFill>
                  <a:srgbClr val="06D6A0"/>
                </a:solidFill>
              </a:rPr>
              <a:t>.</a:t>
            </a:r>
            <a:r>
              <a:rPr lang="en-US" sz="1050" b="1" i="0" dirty="0">
                <a:solidFill>
                  <a:srgbClr val="06D6A0"/>
                </a:solidFill>
              </a:rPr>
              <a:t> </a:t>
            </a:r>
            <a:r>
              <a:rPr sz="1050" b="1" i="0" dirty="0">
                <a:solidFill>
                  <a:srgbClr val="06D6A0"/>
                </a:solidFill>
              </a:rPr>
              <a:t>.</a:t>
            </a:r>
            <a:r>
              <a:rPr lang="en-US" sz="1050" b="1" i="0" dirty="0">
                <a:solidFill>
                  <a:srgbClr val="06D6A0"/>
                </a:solidFill>
              </a:rPr>
              <a:t> </a:t>
            </a:r>
            <a:r>
              <a:rPr sz="1050" b="1" i="0" dirty="0">
                <a:solidFill>
                  <a:srgbClr val="06D6A0"/>
                </a:solidFill>
              </a:rPr>
              <a:t>.</a:t>
            </a:r>
            <a:r>
              <a:rPr lang="en-US" sz="1050" b="1" i="0" dirty="0">
                <a:solidFill>
                  <a:srgbClr val="06D6A0"/>
                </a:solidFill>
              </a:rPr>
              <a:t> </a:t>
            </a:r>
            <a:r>
              <a:rPr sz="1050" b="1" i="0" dirty="0">
                <a:solidFill>
                  <a:srgbClr val="06D6A0"/>
                </a:solidFill>
              </a:rPr>
              <a:t>.</a:t>
            </a:r>
            <a:r>
              <a:rPr lang="en-US" sz="1050" b="1" i="0" dirty="0">
                <a:solidFill>
                  <a:srgbClr val="06D6A0"/>
                </a:solidFill>
              </a:rPr>
              <a:t> </a:t>
            </a:r>
            <a:r>
              <a:rPr sz="1050" b="1" i="0" dirty="0">
                <a:solidFill>
                  <a:srgbClr val="06D6A0"/>
                </a:solidFill>
              </a:rPr>
              <a:t>.</a:t>
            </a:r>
            <a:r>
              <a:rPr lang="en-US" sz="1050" b="1" i="0" dirty="0">
                <a:solidFill>
                  <a:srgbClr val="06D6A0"/>
                </a:solidFill>
              </a:rPr>
              <a:t> </a:t>
            </a:r>
            <a:r>
              <a:rPr sz="1050" b="1" i="0" dirty="0">
                <a:solidFill>
                  <a:srgbClr val="06D6A0"/>
                </a:solidFill>
              </a:rPr>
              <a:t>.</a:t>
            </a:r>
            <a:r>
              <a:rPr lang="en-US" sz="1050" b="1" i="0" dirty="0">
                <a:solidFill>
                  <a:srgbClr val="06D6A0"/>
                </a:solidFill>
              </a:rPr>
              <a:t> </a:t>
            </a:r>
            <a:r>
              <a:rPr sz="1050" b="1" i="0" dirty="0">
                <a:solidFill>
                  <a:srgbClr val="06D6A0"/>
                </a:solidFill>
              </a:rPr>
              <a:t>.</a:t>
            </a:r>
            <a:r>
              <a:rPr lang="en-US" sz="1050" b="1" i="0" dirty="0">
                <a:solidFill>
                  <a:srgbClr val="06D6A0"/>
                </a:solidFill>
              </a:rPr>
              <a:t> </a:t>
            </a:r>
            <a:r>
              <a:rPr sz="1050" b="1" i="0" dirty="0">
                <a:solidFill>
                  <a:srgbClr val="06D6A0"/>
                </a:solidFill>
              </a:rPr>
              <a:t>.</a:t>
            </a:r>
            <a:r>
              <a:rPr lang="en-US" sz="1050" b="1" i="0" dirty="0">
                <a:solidFill>
                  <a:srgbClr val="06D6A0"/>
                </a:solidFill>
              </a:rPr>
              <a:t>  </a:t>
            </a:r>
            <a:r>
              <a:rPr sz="1050" b="1" i="0" dirty="0">
                <a:solidFill>
                  <a:srgbClr val="06D6A0"/>
                </a:solidFill>
              </a:rPr>
              <a:t>.</a:t>
            </a:r>
            <a:r>
              <a:rPr lang="en-US" sz="1050" b="1" i="0" dirty="0">
                <a:solidFill>
                  <a:srgbClr val="06D6A0"/>
                </a:solidFill>
              </a:rPr>
              <a:t> </a:t>
            </a:r>
            <a:r>
              <a:rPr sz="1050" b="1" i="0" dirty="0">
                <a:solidFill>
                  <a:srgbClr val="06D6A0"/>
                </a:solidFill>
              </a:rPr>
              <a:t>.</a:t>
            </a:r>
            <a:r>
              <a:rPr lang="en-US" sz="1050" b="1" i="0" dirty="0">
                <a:solidFill>
                  <a:srgbClr val="06D6A0"/>
                </a:solidFill>
              </a:rPr>
              <a:t> </a:t>
            </a:r>
            <a:r>
              <a:rPr sz="1050" b="1" i="0" dirty="0">
                <a:solidFill>
                  <a:srgbClr val="06D6A0"/>
                </a:solidFill>
              </a:rPr>
              <a:t>.</a:t>
            </a:r>
            <a:r>
              <a:rPr lang="en-US" sz="1050" b="1" i="0" dirty="0">
                <a:solidFill>
                  <a:srgbClr val="06D6A0"/>
                </a:solidFill>
              </a:rPr>
              <a:t> </a:t>
            </a:r>
            <a:r>
              <a:rPr sz="1050" b="1" i="0" dirty="0">
                <a:solidFill>
                  <a:srgbClr val="06D6A0"/>
                </a:solidFill>
              </a:rPr>
              <a:t>.</a:t>
            </a:r>
            <a:r>
              <a:rPr lang="en-US" sz="1050" b="1" i="0" dirty="0">
                <a:solidFill>
                  <a:srgbClr val="06D6A0"/>
                </a:solidFill>
              </a:rPr>
              <a:t> </a:t>
            </a:r>
            <a:r>
              <a:rPr sz="1050" b="1" i="0" dirty="0">
                <a:solidFill>
                  <a:srgbClr val="06D6A0"/>
                </a:solidFill>
              </a:rPr>
              <a:t>#</a:t>
            </a:r>
            <a:r>
              <a:rPr lang="en-US" sz="1050" b="1" i="0" dirty="0">
                <a:solidFill>
                  <a:srgbClr val="06D6A0"/>
                </a:solidFill>
              </a:rPr>
              <a:t> </a:t>
            </a:r>
            <a:r>
              <a:rPr sz="1050" b="1" i="0" dirty="0">
                <a:solidFill>
                  <a:srgbClr val="06D6A0"/>
                </a:solidFill>
              </a:rPr>
              <a:t>
  #</a:t>
            </a:r>
            <a:r>
              <a:rPr lang="en-US" sz="1050" b="1" i="0" dirty="0">
                <a:solidFill>
                  <a:srgbClr val="06D6A0"/>
                </a:solidFill>
              </a:rPr>
              <a:t> </a:t>
            </a:r>
            <a:r>
              <a:rPr sz="1050" b="1" i="0" dirty="0">
                <a:solidFill>
                  <a:srgbClr val="06D6A0"/>
                </a:solidFill>
              </a:rPr>
              <a:t>.</a:t>
            </a:r>
            <a:r>
              <a:rPr lang="en-US" sz="1050" b="1" i="0" dirty="0">
                <a:solidFill>
                  <a:srgbClr val="06D6A0"/>
                </a:solidFill>
              </a:rPr>
              <a:t> </a:t>
            </a:r>
            <a:r>
              <a:rPr sz="1050" b="1" i="0" dirty="0">
                <a:solidFill>
                  <a:srgbClr val="06D6A0"/>
                </a:solidFill>
              </a:rPr>
              <a:t>.</a:t>
            </a:r>
            <a:r>
              <a:rPr lang="en-US" sz="1050" b="1" i="0" dirty="0">
                <a:solidFill>
                  <a:srgbClr val="06D6A0"/>
                </a:solidFill>
              </a:rPr>
              <a:t> </a:t>
            </a:r>
            <a:r>
              <a:rPr sz="1050" b="1" i="0" dirty="0">
                <a:solidFill>
                  <a:srgbClr val="06D6A0"/>
                </a:solidFill>
              </a:rPr>
              <a:t>.</a:t>
            </a:r>
            <a:r>
              <a:rPr lang="en-US" sz="1050" b="1" i="0" dirty="0">
                <a:solidFill>
                  <a:srgbClr val="06D6A0"/>
                </a:solidFill>
              </a:rPr>
              <a:t> </a:t>
            </a:r>
            <a:r>
              <a:rPr sz="1050" b="1" i="0" dirty="0">
                <a:solidFill>
                  <a:srgbClr val="06D6A0"/>
                </a:solidFill>
              </a:rPr>
              <a:t>.#</a:t>
            </a:r>
            <a:r>
              <a:rPr lang="en-US" sz="1050" b="1" i="0" dirty="0">
                <a:solidFill>
                  <a:srgbClr val="06D6A0"/>
                </a:solidFill>
              </a:rPr>
              <a:t> </a:t>
            </a:r>
            <a:r>
              <a:rPr sz="1050" b="1" i="0" dirty="0">
                <a:solidFill>
                  <a:srgbClr val="06D6A0"/>
                </a:solidFill>
              </a:rPr>
              <a:t>#</a:t>
            </a:r>
            <a:r>
              <a:rPr lang="en-US" sz="1050" b="1" i="0" dirty="0">
                <a:solidFill>
                  <a:srgbClr val="06D6A0"/>
                </a:solidFill>
              </a:rPr>
              <a:t> </a:t>
            </a:r>
            <a:r>
              <a:rPr sz="1050" b="1" i="0" dirty="0">
                <a:solidFill>
                  <a:srgbClr val="06D6A0"/>
                </a:solidFill>
              </a:rPr>
              <a:t>#</a:t>
            </a:r>
            <a:r>
              <a:rPr lang="en-US" sz="1050" b="1" i="0" dirty="0">
                <a:solidFill>
                  <a:srgbClr val="06D6A0"/>
                </a:solidFill>
              </a:rPr>
              <a:t> </a:t>
            </a:r>
            <a:r>
              <a:rPr sz="1050" b="1" i="0" dirty="0">
                <a:solidFill>
                  <a:srgbClr val="06D6A0"/>
                </a:solidFill>
              </a:rPr>
              <a:t>#</a:t>
            </a:r>
            <a:r>
              <a:rPr lang="en-US" sz="1050" b="1" i="0" dirty="0">
                <a:solidFill>
                  <a:srgbClr val="06D6A0"/>
                </a:solidFill>
              </a:rPr>
              <a:t> </a:t>
            </a:r>
            <a:r>
              <a:rPr sz="1050" b="1" i="0" dirty="0">
                <a:solidFill>
                  <a:srgbClr val="06D6A0"/>
                </a:solidFill>
              </a:rPr>
              <a:t>.</a:t>
            </a:r>
            <a:r>
              <a:rPr lang="en-US" sz="1050" b="1" i="0" dirty="0">
                <a:solidFill>
                  <a:srgbClr val="06D6A0"/>
                </a:solidFill>
              </a:rPr>
              <a:t> </a:t>
            </a:r>
            <a:r>
              <a:rPr sz="1050" b="1" i="0" dirty="0">
                <a:solidFill>
                  <a:srgbClr val="06D6A0"/>
                </a:solidFill>
              </a:rPr>
              <a:t>.</a:t>
            </a:r>
            <a:r>
              <a:rPr lang="en-US" sz="1050" b="1" i="0" dirty="0">
                <a:solidFill>
                  <a:srgbClr val="06D6A0"/>
                </a:solidFill>
              </a:rPr>
              <a:t> </a:t>
            </a:r>
            <a:r>
              <a:rPr sz="1050" b="1" i="0" dirty="0">
                <a:solidFill>
                  <a:srgbClr val="06D6A0"/>
                </a:solidFill>
              </a:rPr>
              <a:t>.</a:t>
            </a:r>
            <a:r>
              <a:rPr lang="en-US" sz="1050" b="1" i="0" dirty="0">
                <a:solidFill>
                  <a:srgbClr val="06D6A0"/>
                </a:solidFill>
              </a:rPr>
              <a:t>  </a:t>
            </a:r>
            <a:r>
              <a:rPr sz="1050" b="1" i="0" dirty="0">
                <a:solidFill>
                  <a:srgbClr val="06D6A0"/>
                </a:solidFill>
              </a:rPr>
              <a:t>..</a:t>
            </a:r>
            <a:r>
              <a:rPr lang="en-US" sz="1050" b="1" i="0" dirty="0">
                <a:solidFill>
                  <a:srgbClr val="06D6A0"/>
                </a:solidFill>
              </a:rPr>
              <a:t> </a:t>
            </a:r>
            <a:r>
              <a:rPr sz="1050" b="1" i="0" dirty="0">
                <a:solidFill>
                  <a:srgbClr val="06D6A0"/>
                </a:solidFill>
              </a:rPr>
              <a:t>.</a:t>
            </a:r>
            <a:r>
              <a:rPr lang="en-US" sz="1050" b="1" i="0" dirty="0">
                <a:solidFill>
                  <a:srgbClr val="06D6A0"/>
                </a:solidFill>
              </a:rPr>
              <a:t> </a:t>
            </a:r>
            <a:r>
              <a:rPr sz="1050" b="1" i="0" dirty="0">
                <a:solidFill>
                  <a:srgbClr val="06D6A0"/>
                </a:solidFill>
              </a:rPr>
              <a:t>.</a:t>
            </a:r>
            <a:r>
              <a:rPr lang="en-US" sz="1050" b="1" i="0" dirty="0">
                <a:solidFill>
                  <a:srgbClr val="06D6A0"/>
                </a:solidFill>
              </a:rPr>
              <a:t> </a:t>
            </a:r>
            <a:r>
              <a:rPr sz="1050" b="1" i="0" dirty="0">
                <a:solidFill>
                  <a:srgbClr val="06D6A0"/>
                </a:solidFill>
              </a:rPr>
              <a:t>.</a:t>
            </a:r>
            <a:r>
              <a:rPr lang="en-US" sz="1050" b="1" i="0" dirty="0">
                <a:solidFill>
                  <a:srgbClr val="06D6A0"/>
                </a:solidFill>
              </a:rPr>
              <a:t> </a:t>
            </a:r>
            <a:r>
              <a:rPr sz="1050" b="1" i="0" dirty="0">
                <a:solidFill>
                  <a:srgbClr val="06D6A0"/>
                </a:solidFill>
              </a:rPr>
              <a:t>.#</a:t>
            </a:r>
            <a:r>
              <a:rPr lang="en-US" sz="1050" b="1" i="0" dirty="0">
                <a:solidFill>
                  <a:srgbClr val="06D6A0"/>
                </a:solidFill>
              </a:rPr>
              <a:t> </a:t>
            </a:r>
            <a:r>
              <a:rPr sz="1050" b="1" i="0" dirty="0">
                <a:solidFill>
                  <a:srgbClr val="06D6A0"/>
                </a:solidFill>
              </a:rPr>
              <a:t>
  #</a:t>
            </a:r>
            <a:r>
              <a:rPr lang="en-US" sz="1050" b="1" i="0" dirty="0">
                <a:solidFill>
                  <a:srgbClr val="06D6A0"/>
                </a:solidFill>
              </a:rPr>
              <a:t> </a:t>
            </a:r>
            <a:r>
              <a:rPr sz="1050" b="1" i="0" dirty="0">
                <a:solidFill>
                  <a:srgbClr val="06D6A0"/>
                </a:solidFill>
              </a:rPr>
              <a:t>.</a:t>
            </a:r>
            <a:r>
              <a:rPr lang="en-US" sz="1050" b="1" i="0" dirty="0">
                <a:solidFill>
                  <a:srgbClr val="06D6A0"/>
                </a:solidFill>
              </a:rPr>
              <a:t> </a:t>
            </a:r>
            <a:r>
              <a:rPr sz="1050" b="1" i="0" dirty="0">
                <a:solidFill>
                  <a:srgbClr val="06D6A0"/>
                </a:solidFill>
              </a:rPr>
              <a:t>.</a:t>
            </a:r>
            <a:r>
              <a:rPr lang="en-US" sz="1050" b="1" i="0" dirty="0">
                <a:solidFill>
                  <a:srgbClr val="06D6A0"/>
                </a:solidFill>
              </a:rPr>
              <a:t> </a:t>
            </a:r>
            <a:r>
              <a:rPr sz="1050" b="1" i="0" dirty="0">
                <a:solidFill>
                  <a:srgbClr val="06D6A0"/>
                </a:solidFill>
              </a:rPr>
              <a:t>.</a:t>
            </a:r>
            <a:r>
              <a:rPr lang="en-US" sz="1050" b="1" i="0" dirty="0">
                <a:solidFill>
                  <a:srgbClr val="06D6A0"/>
                </a:solidFill>
              </a:rPr>
              <a:t> </a:t>
            </a:r>
            <a:r>
              <a:rPr sz="1050" b="1" i="0" dirty="0">
                <a:solidFill>
                  <a:srgbClr val="06D6A0"/>
                </a:solidFill>
              </a:rPr>
              <a:t>.</a:t>
            </a:r>
            <a:r>
              <a:rPr lang="en-US" sz="1050" b="1" i="0" dirty="0">
                <a:solidFill>
                  <a:srgbClr val="06D6A0"/>
                </a:solidFill>
              </a:rPr>
              <a:t> </a:t>
            </a:r>
            <a:r>
              <a:rPr sz="1050" b="1" i="0" dirty="0">
                <a:solidFill>
                  <a:srgbClr val="06D6A0"/>
                </a:solidFill>
              </a:rPr>
              <a:t>.</a:t>
            </a:r>
            <a:r>
              <a:rPr lang="en-US" sz="1050" b="1" i="0" dirty="0">
                <a:solidFill>
                  <a:srgbClr val="06D6A0"/>
                </a:solidFill>
              </a:rPr>
              <a:t> </a:t>
            </a:r>
            <a:r>
              <a:rPr sz="1050" b="1" i="0" dirty="0">
                <a:solidFill>
                  <a:srgbClr val="06D6A0"/>
                </a:solidFill>
              </a:rPr>
              <a:t>.</a:t>
            </a:r>
            <a:r>
              <a:rPr lang="en-US" sz="1050" b="1" i="0" dirty="0">
                <a:solidFill>
                  <a:srgbClr val="06D6A0"/>
                </a:solidFill>
              </a:rPr>
              <a:t> </a:t>
            </a:r>
            <a:r>
              <a:rPr sz="1050" b="1" i="0" dirty="0">
                <a:solidFill>
                  <a:srgbClr val="06D6A0"/>
                </a:solidFill>
              </a:rPr>
              <a:t>.</a:t>
            </a:r>
            <a:r>
              <a:rPr lang="en-US" sz="1050" b="1" i="0" dirty="0">
                <a:solidFill>
                  <a:srgbClr val="06D6A0"/>
                </a:solidFill>
              </a:rPr>
              <a:t>   </a:t>
            </a:r>
            <a:r>
              <a:rPr sz="1050" b="1" i="0" dirty="0">
                <a:solidFill>
                  <a:srgbClr val="06D6A0"/>
                </a:solidFill>
              </a:rPr>
              <a:t>.</a:t>
            </a:r>
            <a:r>
              <a:rPr lang="en-US" sz="1050" b="1" i="0" dirty="0">
                <a:solidFill>
                  <a:srgbClr val="06D6A0"/>
                </a:solidFill>
              </a:rPr>
              <a:t> </a:t>
            </a:r>
            <a:r>
              <a:rPr sz="1050" b="1" i="0" dirty="0">
                <a:solidFill>
                  <a:srgbClr val="06D6A0"/>
                </a:solidFill>
              </a:rPr>
              <a:t>.</a:t>
            </a:r>
            <a:r>
              <a:rPr lang="en-US" sz="1050" b="1" i="0" dirty="0">
                <a:solidFill>
                  <a:srgbClr val="06D6A0"/>
                </a:solidFill>
              </a:rPr>
              <a:t> </a:t>
            </a:r>
            <a:r>
              <a:rPr sz="1050" b="1" i="0" dirty="0">
                <a:solidFill>
                  <a:srgbClr val="06D6A0"/>
                </a:solidFill>
              </a:rPr>
              <a:t>.</a:t>
            </a:r>
            <a:r>
              <a:rPr lang="en-US" sz="1050" b="1" i="0" dirty="0">
                <a:solidFill>
                  <a:srgbClr val="06D6A0"/>
                </a:solidFill>
              </a:rPr>
              <a:t> </a:t>
            </a:r>
            <a:r>
              <a:rPr sz="1050" b="1" i="0" dirty="0">
                <a:solidFill>
                  <a:srgbClr val="06D6A0"/>
                </a:solidFill>
              </a:rPr>
              <a:t>..</a:t>
            </a:r>
            <a:r>
              <a:rPr lang="en-US" sz="1050" b="1" i="0" dirty="0">
                <a:solidFill>
                  <a:srgbClr val="06D6A0"/>
                </a:solidFill>
              </a:rPr>
              <a:t> </a:t>
            </a:r>
            <a:r>
              <a:rPr sz="1050" b="1" i="0" dirty="0">
                <a:solidFill>
                  <a:srgbClr val="06D6A0"/>
                </a:solidFill>
              </a:rPr>
              <a:t>.</a:t>
            </a:r>
            <a:r>
              <a:rPr lang="en-US" sz="1050" b="1" i="0" dirty="0">
                <a:solidFill>
                  <a:srgbClr val="06D6A0"/>
                </a:solidFill>
              </a:rPr>
              <a:t> </a:t>
            </a:r>
            <a:r>
              <a:rPr sz="1050" b="1" i="0" dirty="0">
                <a:solidFill>
                  <a:srgbClr val="06D6A0"/>
                </a:solidFill>
              </a:rPr>
              <a:t>.</a:t>
            </a:r>
            <a:r>
              <a:rPr lang="en-US" sz="1050" b="1" i="0" dirty="0">
                <a:solidFill>
                  <a:srgbClr val="06D6A0"/>
                </a:solidFill>
              </a:rPr>
              <a:t> </a:t>
            </a:r>
            <a:r>
              <a:rPr sz="1050" b="1" i="0" dirty="0">
                <a:solidFill>
                  <a:srgbClr val="06D6A0"/>
                </a:solidFill>
              </a:rPr>
              <a:t>.</a:t>
            </a:r>
            <a:r>
              <a:rPr lang="en-US" sz="1050" b="1" i="0" dirty="0">
                <a:solidFill>
                  <a:srgbClr val="06D6A0"/>
                </a:solidFill>
              </a:rPr>
              <a:t> </a:t>
            </a:r>
            <a:r>
              <a:rPr sz="1050" b="1" i="0" dirty="0">
                <a:solidFill>
                  <a:srgbClr val="06D6A0"/>
                </a:solidFill>
              </a:rPr>
              <a:t>.</a:t>
            </a:r>
            <a:r>
              <a:rPr lang="en-US" sz="1050" b="1" i="0" dirty="0">
                <a:solidFill>
                  <a:srgbClr val="06D6A0"/>
                </a:solidFill>
              </a:rPr>
              <a:t> </a:t>
            </a:r>
            <a:r>
              <a:rPr sz="1050" b="1" i="0" dirty="0">
                <a:solidFill>
                  <a:srgbClr val="06D6A0"/>
                </a:solidFill>
              </a:rPr>
              <a:t>..</a:t>
            </a:r>
            <a:r>
              <a:rPr lang="en-US" sz="1050" b="1" i="0" dirty="0">
                <a:solidFill>
                  <a:srgbClr val="06D6A0"/>
                </a:solidFill>
              </a:rPr>
              <a:t> </a:t>
            </a:r>
            <a:r>
              <a:rPr sz="1050" b="1" i="0" dirty="0">
                <a:solidFill>
                  <a:srgbClr val="06D6A0"/>
                </a:solidFill>
              </a:rPr>
              <a:t>#</a:t>
            </a:r>
            <a:r>
              <a:rPr lang="en-US" sz="1050" b="1" i="0" dirty="0">
                <a:solidFill>
                  <a:srgbClr val="06D6A0"/>
                </a:solidFill>
              </a:rPr>
              <a:t> </a:t>
            </a:r>
            <a:r>
              <a:rPr sz="1050" b="1" i="0" dirty="0">
                <a:solidFill>
                  <a:srgbClr val="06D6A0"/>
                </a:solidFill>
              </a:rPr>
              <a:t>
  #.</a:t>
            </a:r>
            <a:r>
              <a:rPr lang="en-US" sz="1050" b="1" i="0" dirty="0">
                <a:solidFill>
                  <a:srgbClr val="06D6A0"/>
                </a:solidFill>
              </a:rPr>
              <a:t> </a:t>
            </a:r>
            <a:r>
              <a:rPr sz="1050" b="1" i="0" dirty="0">
                <a:solidFill>
                  <a:srgbClr val="06D6A0"/>
                </a:solidFill>
              </a:rPr>
              <a:t>.</a:t>
            </a:r>
            <a:r>
              <a:rPr lang="en-US" sz="1050" b="1" i="0" dirty="0">
                <a:solidFill>
                  <a:srgbClr val="06D6A0"/>
                </a:solidFill>
              </a:rPr>
              <a:t> </a:t>
            </a:r>
            <a:r>
              <a:rPr sz="1050" b="1" i="0" dirty="0">
                <a:solidFill>
                  <a:srgbClr val="06D6A0"/>
                </a:solidFill>
              </a:rPr>
              <a:t>.</a:t>
            </a:r>
            <a:r>
              <a:rPr lang="en-US" sz="1050" b="1" i="0" dirty="0">
                <a:solidFill>
                  <a:srgbClr val="06D6A0"/>
                </a:solidFill>
              </a:rPr>
              <a:t> </a:t>
            </a:r>
            <a:r>
              <a:rPr sz="1050" b="1" i="0" dirty="0">
                <a:solidFill>
                  <a:srgbClr val="06D6A0"/>
                </a:solidFill>
              </a:rPr>
              <a:t>.</a:t>
            </a:r>
            <a:r>
              <a:rPr lang="en-US" sz="1050" b="1" i="0" dirty="0">
                <a:solidFill>
                  <a:srgbClr val="06D6A0"/>
                </a:solidFill>
              </a:rPr>
              <a:t> </a:t>
            </a:r>
            <a:r>
              <a:rPr sz="1050" b="1" i="0" dirty="0">
                <a:solidFill>
                  <a:srgbClr val="06D6A0"/>
                </a:solidFill>
              </a:rPr>
              <a:t>..</a:t>
            </a:r>
            <a:r>
              <a:rPr lang="en-US" sz="1050" b="1" i="0" dirty="0">
                <a:solidFill>
                  <a:srgbClr val="06D6A0"/>
                </a:solidFill>
              </a:rPr>
              <a:t> </a:t>
            </a:r>
            <a:r>
              <a:rPr sz="1050" b="1" i="0" dirty="0">
                <a:solidFill>
                  <a:srgbClr val="06D6A0"/>
                </a:solidFill>
              </a:rPr>
              <a:t>C</a:t>
            </a:r>
            <a:r>
              <a:rPr lang="en-US" sz="1050" b="1" i="0" dirty="0">
                <a:solidFill>
                  <a:srgbClr val="06D6A0"/>
                </a:solidFill>
              </a:rPr>
              <a:t> </a:t>
            </a:r>
            <a:r>
              <a:rPr sz="1050" b="1" i="0" dirty="0">
                <a:solidFill>
                  <a:srgbClr val="06D6A0"/>
                </a:solidFill>
              </a:rPr>
              <a:t>.</a:t>
            </a:r>
            <a:r>
              <a:rPr lang="en-US" sz="1050" b="1" i="0" dirty="0">
                <a:solidFill>
                  <a:srgbClr val="06D6A0"/>
                </a:solidFill>
              </a:rPr>
              <a:t> </a:t>
            </a:r>
            <a:r>
              <a:rPr sz="1050" b="1" i="0" dirty="0">
                <a:solidFill>
                  <a:srgbClr val="06D6A0"/>
                </a:solidFill>
              </a:rPr>
              <a:t>.</a:t>
            </a:r>
            <a:r>
              <a:rPr lang="en-US" sz="1050" b="1" i="0" dirty="0">
                <a:solidFill>
                  <a:srgbClr val="06D6A0"/>
                </a:solidFill>
              </a:rPr>
              <a:t> </a:t>
            </a:r>
            <a:r>
              <a:rPr sz="1050" b="1" i="0" dirty="0">
                <a:solidFill>
                  <a:srgbClr val="06D6A0"/>
                </a:solidFill>
              </a:rPr>
              <a:t>.</a:t>
            </a:r>
            <a:r>
              <a:rPr lang="en-US" sz="1050" b="1" i="0" dirty="0">
                <a:solidFill>
                  <a:srgbClr val="06D6A0"/>
                </a:solidFill>
              </a:rPr>
              <a:t> </a:t>
            </a:r>
            <a:r>
              <a:rPr lang="en-US" sz="1050" b="1" dirty="0">
                <a:solidFill>
                  <a:srgbClr val="06D6A0"/>
                </a:solidFill>
              </a:rPr>
              <a:t> </a:t>
            </a:r>
            <a:r>
              <a:rPr lang="en-US" sz="1050" b="1" i="0" dirty="0">
                <a:solidFill>
                  <a:srgbClr val="06D6A0"/>
                </a:solidFill>
              </a:rPr>
              <a:t> </a:t>
            </a:r>
            <a:r>
              <a:rPr sz="1050" b="1" i="0" dirty="0">
                <a:solidFill>
                  <a:srgbClr val="06D6A0"/>
                </a:solidFill>
              </a:rPr>
              <a:t>.</a:t>
            </a:r>
            <a:r>
              <a:rPr lang="en-US" sz="1050" b="1" i="0" dirty="0">
                <a:solidFill>
                  <a:srgbClr val="06D6A0"/>
                </a:solidFill>
              </a:rPr>
              <a:t> </a:t>
            </a:r>
            <a:r>
              <a:rPr sz="1050" b="1" i="0" dirty="0">
                <a:solidFill>
                  <a:srgbClr val="06D6A0"/>
                </a:solidFill>
              </a:rPr>
              <a:t>.</a:t>
            </a:r>
            <a:r>
              <a:rPr lang="en-US" sz="1050" b="1" i="0" dirty="0">
                <a:solidFill>
                  <a:srgbClr val="06D6A0"/>
                </a:solidFill>
              </a:rPr>
              <a:t> </a:t>
            </a:r>
            <a:r>
              <a:rPr sz="1050" b="1" i="0" dirty="0">
                <a:solidFill>
                  <a:srgbClr val="06D6A0"/>
                </a:solidFill>
              </a:rPr>
              <a:t>.</a:t>
            </a:r>
            <a:r>
              <a:rPr lang="en-US" sz="1050" b="1" i="0" dirty="0">
                <a:solidFill>
                  <a:srgbClr val="06D6A0"/>
                </a:solidFill>
              </a:rPr>
              <a:t>   </a:t>
            </a:r>
            <a:r>
              <a:rPr sz="1050" b="1" i="0" dirty="0">
                <a:solidFill>
                  <a:srgbClr val="06D6A0"/>
                </a:solidFill>
              </a:rPr>
              <a:t>.</a:t>
            </a:r>
            <a:r>
              <a:rPr lang="en-US" sz="1050" b="1" i="0" dirty="0">
                <a:solidFill>
                  <a:srgbClr val="06D6A0"/>
                </a:solidFill>
              </a:rPr>
              <a:t> </a:t>
            </a:r>
            <a:r>
              <a:rPr sz="1050" b="1" i="0" dirty="0">
                <a:solidFill>
                  <a:srgbClr val="06D6A0"/>
                </a:solidFill>
              </a:rPr>
              <a:t>.</a:t>
            </a:r>
            <a:r>
              <a:rPr lang="en-US" sz="1050" b="1" i="0" dirty="0">
                <a:solidFill>
                  <a:srgbClr val="06D6A0"/>
                </a:solidFill>
              </a:rPr>
              <a:t> </a:t>
            </a:r>
            <a:r>
              <a:rPr sz="1050" b="1" i="0" dirty="0">
                <a:solidFill>
                  <a:srgbClr val="06D6A0"/>
                </a:solidFill>
              </a:rPr>
              <a:t>.</a:t>
            </a:r>
            <a:r>
              <a:rPr lang="en-US" sz="1050" b="1" i="0" dirty="0">
                <a:solidFill>
                  <a:srgbClr val="06D6A0"/>
                </a:solidFill>
              </a:rPr>
              <a:t> </a:t>
            </a:r>
            <a:r>
              <a:rPr sz="1050" b="1" i="0" dirty="0">
                <a:solidFill>
                  <a:srgbClr val="06D6A0"/>
                </a:solidFill>
              </a:rPr>
              <a:t>.#</a:t>
            </a:r>
            <a:r>
              <a:rPr lang="en-US" sz="1050" b="1" i="0" dirty="0">
                <a:solidFill>
                  <a:srgbClr val="06D6A0"/>
                </a:solidFill>
              </a:rPr>
              <a:t> </a:t>
            </a:r>
            <a:r>
              <a:rPr sz="1050" b="1" i="0" dirty="0">
                <a:solidFill>
                  <a:srgbClr val="06D6A0"/>
                </a:solidFill>
              </a:rPr>
              <a:t>
  #</a:t>
            </a:r>
            <a:r>
              <a:rPr lang="en-US" sz="1050" b="1" i="0" dirty="0">
                <a:solidFill>
                  <a:srgbClr val="06D6A0"/>
                </a:solidFill>
              </a:rPr>
              <a:t> </a:t>
            </a:r>
            <a:r>
              <a:rPr sz="1050" b="1" i="0" dirty="0">
                <a:solidFill>
                  <a:srgbClr val="06D6A0"/>
                </a:solidFill>
              </a:rPr>
              <a:t>.</a:t>
            </a:r>
            <a:r>
              <a:rPr lang="en-US" sz="1050" b="1" i="0" dirty="0">
                <a:solidFill>
                  <a:srgbClr val="06D6A0"/>
                </a:solidFill>
              </a:rPr>
              <a:t> </a:t>
            </a:r>
            <a:r>
              <a:rPr sz="1050" b="1" i="0" dirty="0">
                <a:solidFill>
                  <a:srgbClr val="06D6A0"/>
                </a:solidFill>
              </a:rPr>
              <a:t>.</a:t>
            </a:r>
            <a:r>
              <a:rPr lang="en-US" sz="1050" b="1" i="0" dirty="0">
                <a:solidFill>
                  <a:srgbClr val="06D6A0"/>
                </a:solidFill>
              </a:rPr>
              <a:t> </a:t>
            </a:r>
            <a:r>
              <a:rPr sz="1050" b="1" i="0" dirty="0">
                <a:solidFill>
                  <a:srgbClr val="06D6A0"/>
                </a:solidFill>
              </a:rPr>
              <a:t>.</a:t>
            </a:r>
            <a:r>
              <a:rPr lang="en-US" sz="1050" b="1" i="0" dirty="0">
                <a:solidFill>
                  <a:srgbClr val="06D6A0"/>
                </a:solidFill>
              </a:rPr>
              <a:t> </a:t>
            </a:r>
            <a:r>
              <a:rPr sz="1050" b="1" i="0" dirty="0">
                <a:solidFill>
                  <a:srgbClr val="06D6A0"/>
                </a:solidFill>
              </a:rPr>
              <a:t>.</a:t>
            </a:r>
            <a:r>
              <a:rPr lang="en-US" sz="1050" b="1" i="0" dirty="0">
                <a:solidFill>
                  <a:srgbClr val="06D6A0"/>
                </a:solidFill>
              </a:rPr>
              <a:t> </a:t>
            </a:r>
            <a:r>
              <a:rPr sz="1050" b="1" i="0" dirty="0">
                <a:solidFill>
                  <a:srgbClr val="06D6A0"/>
                </a:solidFill>
              </a:rPr>
              <a:t>..</a:t>
            </a:r>
            <a:r>
              <a:rPr lang="en-US" sz="1050" b="1" i="0" dirty="0">
                <a:solidFill>
                  <a:srgbClr val="06D6A0"/>
                </a:solidFill>
              </a:rPr>
              <a:t> </a:t>
            </a:r>
            <a:r>
              <a:rPr sz="1050" b="1" i="0" dirty="0">
                <a:solidFill>
                  <a:srgbClr val="06D6A0"/>
                </a:solidFill>
              </a:rPr>
              <a:t>.</a:t>
            </a:r>
            <a:r>
              <a:rPr lang="en-US" sz="1050" b="1" i="0" dirty="0">
                <a:solidFill>
                  <a:srgbClr val="06D6A0"/>
                </a:solidFill>
              </a:rPr>
              <a:t> </a:t>
            </a:r>
            <a:r>
              <a:rPr sz="1050" b="1" i="0" dirty="0">
                <a:solidFill>
                  <a:srgbClr val="06D6A0"/>
                </a:solidFill>
              </a:rPr>
              <a:t>.</a:t>
            </a:r>
            <a:r>
              <a:rPr lang="en-US" sz="1050" b="1" i="0" dirty="0">
                <a:solidFill>
                  <a:srgbClr val="06D6A0"/>
                </a:solidFill>
              </a:rPr>
              <a:t> </a:t>
            </a:r>
            <a:r>
              <a:rPr sz="1050" b="1" i="0" dirty="0">
                <a:solidFill>
                  <a:srgbClr val="06D6A0"/>
                </a:solidFill>
              </a:rPr>
              <a:t>.</a:t>
            </a:r>
            <a:r>
              <a:rPr lang="en-US" sz="1050" b="1" i="0" dirty="0">
                <a:solidFill>
                  <a:srgbClr val="06D6A0"/>
                </a:solidFill>
              </a:rPr>
              <a:t> </a:t>
            </a:r>
            <a:r>
              <a:rPr sz="1050" b="1" i="0" dirty="0">
                <a:solidFill>
                  <a:srgbClr val="06D6A0"/>
                </a:solidFill>
              </a:rPr>
              <a:t>.</a:t>
            </a:r>
            <a:r>
              <a:rPr lang="en-US" sz="1050" b="1" i="0" dirty="0">
                <a:solidFill>
                  <a:srgbClr val="06D6A0"/>
                </a:solidFill>
              </a:rPr>
              <a:t> </a:t>
            </a:r>
            <a:r>
              <a:rPr sz="1050" b="1" i="0" dirty="0">
                <a:solidFill>
                  <a:srgbClr val="06D6A0"/>
                </a:solidFill>
              </a:rPr>
              <a:t>G.</a:t>
            </a:r>
            <a:r>
              <a:rPr lang="en-US" sz="1050" b="1" i="0" dirty="0">
                <a:solidFill>
                  <a:srgbClr val="06D6A0"/>
                </a:solidFill>
              </a:rPr>
              <a:t> </a:t>
            </a:r>
            <a:r>
              <a:rPr sz="1050" b="1" i="0" dirty="0">
                <a:solidFill>
                  <a:srgbClr val="06D6A0"/>
                </a:solidFill>
              </a:rPr>
              <a:t>.</a:t>
            </a:r>
            <a:r>
              <a:rPr lang="en-US" sz="1050" b="1" i="0" dirty="0">
                <a:solidFill>
                  <a:srgbClr val="06D6A0"/>
                </a:solidFill>
              </a:rPr>
              <a:t> </a:t>
            </a:r>
            <a:r>
              <a:rPr sz="1050" b="1" i="0" dirty="0">
                <a:solidFill>
                  <a:srgbClr val="06D6A0"/>
                </a:solidFill>
              </a:rPr>
              <a:t>..</a:t>
            </a:r>
            <a:r>
              <a:rPr lang="en-US" sz="1050" b="1" i="0" dirty="0">
                <a:solidFill>
                  <a:srgbClr val="06D6A0"/>
                </a:solidFill>
              </a:rPr>
              <a:t> </a:t>
            </a:r>
            <a:r>
              <a:rPr sz="1050" b="1" i="0" dirty="0">
                <a:solidFill>
                  <a:srgbClr val="06D6A0"/>
                </a:solidFill>
              </a:rPr>
              <a:t>.</a:t>
            </a:r>
            <a:r>
              <a:rPr lang="en-US" sz="1050" b="1" i="0" dirty="0">
                <a:solidFill>
                  <a:srgbClr val="06D6A0"/>
                </a:solidFill>
              </a:rPr>
              <a:t> </a:t>
            </a:r>
            <a:r>
              <a:rPr sz="1050" b="1" i="0" dirty="0">
                <a:solidFill>
                  <a:srgbClr val="06D6A0"/>
                </a:solidFill>
              </a:rPr>
              <a:t>.</a:t>
            </a:r>
            <a:r>
              <a:rPr lang="en-US" sz="1050" b="1" i="0" dirty="0">
                <a:solidFill>
                  <a:srgbClr val="06D6A0"/>
                </a:solidFill>
              </a:rPr>
              <a:t> </a:t>
            </a:r>
            <a:r>
              <a:rPr sz="1050" b="1" i="0" dirty="0">
                <a:solidFill>
                  <a:srgbClr val="06D6A0"/>
                </a:solidFill>
              </a:rPr>
              <a:t>.</a:t>
            </a:r>
            <a:r>
              <a:rPr lang="en-US" sz="1050" b="1" i="0" dirty="0">
                <a:solidFill>
                  <a:srgbClr val="06D6A0"/>
                </a:solidFill>
              </a:rPr>
              <a:t>  </a:t>
            </a:r>
            <a:r>
              <a:rPr sz="1050" b="1" i="0" dirty="0">
                <a:solidFill>
                  <a:srgbClr val="06D6A0"/>
                </a:solidFill>
              </a:rPr>
              <a:t>#</a:t>
            </a:r>
            <a:r>
              <a:rPr lang="en-US" sz="1050" b="1" i="0" dirty="0">
                <a:solidFill>
                  <a:srgbClr val="06D6A0"/>
                </a:solidFill>
              </a:rPr>
              <a:t>    </a:t>
            </a:r>
            <a:r>
              <a:rPr sz="1050" b="1" i="0" dirty="0">
                <a:solidFill>
                  <a:srgbClr val="06D6A0"/>
                </a:solidFill>
              </a:rPr>
              <a:t>
  #.</a:t>
            </a:r>
            <a:r>
              <a:rPr lang="en-US" sz="1050" b="1" i="0" dirty="0">
                <a:solidFill>
                  <a:srgbClr val="06D6A0"/>
                </a:solidFill>
              </a:rPr>
              <a:t> </a:t>
            </a:r>
            <a:r>
              <a:rPr sz="1050" b="1" i="0" dirty="0">
                <a:solidFill>
                  <a:srgbClr val="06D6A0"/>
                </a:solidFill>
              </a:rPr>
              <a:t>.</a:t>
            </a:r>
            <a:r>
              <a:rPr lang="en-US" sz="1050" b="1" i="0" dirty="0">
                <a:solidFill>
                  <a:srgbClr val="06D6A0"/>
                </a:solidFill>
              </a:rPr>
              <a:t> </a:t>
            </a:r>
            <a:r>
              <a:rPr sz="1050" b="1" i="0" dirty="0">
                <a:solidFill>
                  <a:srgbClr val="06D6A0"/>
                </a:solidFill>
              </a:rPr>
              <a:t>X</a:t>
            </a:r>
            <a:r>
              <a:rPr lang="en-US" sz="1050" b="1" i="0" dirty="0">
                <a:solidFill>
                  <a:srgbClr val="06D6A0"/>
                </a:solidFill>
              </a:rPr>
              <a:t> </a:t>
            </a:r>
            <a:r>
              <a:rPr sz="1050" b="1" i="0" dirty="0" err="1">
                <a:solidFill>
                  <a:srgbClr val="06D6A0"/>
                </a:solidFill>
              </a:rPr>
              <a:t>X</a:t>
            </a:r>
            <a:r>
              <a:rPr lang="en-US" sz="1050" b="1" i="0" dirty="0">
                <a:solidFill>
                  <a:srgbClr val="06D6A0"/>
                </a:solidFill>
              </a:rPr>
              <a:t> </a:t>
            </a:r>
            <a:r>
              <a:rPr sz="1050" b="1" i="0" dirty="0" err="1">
                <a:solidFill>
                  <a:srgbClr val="06D6A0"/>
                </a:solidFill>
              </a:rPr>
              <a:t>X</a:t>
            </a:r>
            <a:r>
              <a:rPr sz="1050" b="1" i="0" dirty="0">
                <a:solidFill>
                  <a:srgbClr val="06D6A0"/>
                </a:solidFill>
              </a:rPr>
              <a:t>.</a:t>
            </a:r>
            <a:r>
              <a:rPr lang="en-US" sz="1050" b="1" i="0" dirty="0">
                <a:solidFill>
                  <a:srgbClr val="06D6A0"/>
                </a:solidFill>
              </a:rPr>
              <a:t> </a:t>
            </a:r>
            <a:r>
              <a:rPr sz="1050" b="1" i="0" dirty="0">
                <a:solidFill>
                  <a:srgbClr val="06D6A0"/>
                </a:solidFill>
              </a:rPr>
              <a:t>.</a:t>
            </a:r>
            <a:r>
              <a:rPr lang="en-US" sz="1050" b="1" i="0" dirty="0">
                <a:solidFill>
                  <a:srgbClr val="06D6A0"/>
                </a:solidFill>
              </a:rPr>
              <a:t> </a:t>
            </a:r>
            <a:r>
              <a:rPr sz="1050" b="1" i="0" dirty="0">
                <a:solidFill>
                  <a:srgbClr val="06D6A0"/>
                </a:solidFill>
              </a:rPr>
              <a:t>.</a:t>
            </a:r>
            <a:r>
              <a:rPr lang="en-US" sz="1050" b="1" i="0" dirty="0">
                <a:solidFill>
                  <a:srgbClr val="06D6A0"/>
                </a:solidFill>
              </a:rPr>
              <a:t> </a:t>
            </a:r>
            <a:r>
              <a:rPr sz="1050" b="1" i="0" dirty="0">
                <a:solidFill>
                  <a:srgbClr val="06D6A0"/>
                </a:solidFill>
              </a:rPr>
              <a:t>.</a:t>
            </a:r>
            <a:r>
              <a:rPr lang="en-US" sz="1050" b="1" i="0" dirty="0">
                <a:solidFill>
                  <a:srgbClr val="06D6A0"/>
                </a:solidFill>
              </a:rPr>
              <a:t> </a:t>
            </a:r>
            <a:r>
              <a:rPr sz="1050" b="1" i="0" dirty="0">
                <a:solidFill>
                  <a:srgbClr val="06D6A0"/>
                </a:solidFill>
              </a:rPr>
              <a:t>.</a:t>
            </a:r>
            <a:r>
              <a:rPr lang="en-US" sz="1050" b="1" i="0" dirty="0">
                <a:solidFill>
                  <a:srgbClr val="06D6A0"/>
                </a:solidFill>
              </a:rPr>
              <a:t> </a:t>
            </a:r>
            <a:r>
              <a:rPr sz="1050" b="1" i="0" dirty="0">
                <a:solidFill>
                  <a:srgbClr val="06D6A0"/>
                </a:solidFill>
              </a:rPr>
              <a:t>.</a:t>
            </a:r>
            <a:r>
              <a:rPr lang="en-US" sz="1050" b="1" i="0" dirty="0">
                <a:solidFill>
                  <a:srgbClr val="06D6A0"/>
                </a:solidFill>
              </a:rPr>
              <a:t> </a:t>
            </a:r>
            <a:r>
              <a:rPr sz="1050" b="1" i="0" dirty="0">
                <a:solidFill>
                  <a:srgbClr val="06D6A0"/>
                </a:solidFill>
              </a:rPr>
              <a:t>..</a:t>
            </a:r>
            <a:r>
              <a:rPr lang="en-US" sz="1050" b="1" i="0" dirty="0">
                <a:solidFill>
                  <a:srgbClr val="06D6A0"/>
                </a:solidFill>
              </a:rPr>
              <a:t>  </a:t>
            </a:r>
            <a:r>
              <a:rPr sz="1050" b="1" i="0" dirty="0">
                <a:solidFill>
                  <a:srgbClr val="06D6A0"/>
                </a:solidFill>
              </a:rPr>
              <a:t>.</a:t>
            </a:r>
            <a:r>
              <a:rPr lang="en-US" sz="1050" b="1" i="0" dirty="0">
                <a:solidFill>
                  <a:srgbClr val="06D6A0"/>
                </a:solidFill>
              </a:rPr>
              <a:t> </a:t>
            </a:r>
            <a:r>
              <a:rPr sz="1050" b="1" i="0" dirty="0">
                <a:solidFill>
                  <a:srgbClr val="06D6A0"/>
                </a:solidFill>
              </a:rPr>
              <a:t>.</a:t>
            </a:r>
            <a:r>
              <a:rPr lang="en-US" sz="1050" b="1" i="0" dirty="0">
                <a:solidFill>
                  <a:srgbClr val="06D6A0"/>
                </a:solidFill>
              </a:rPr>
              <a:t> </a:t>
            </a:r>
            <a:r>
              <a:rPr sz="1050" b="1" i="0" dirty="0">
                <a:solidFill>
                  <a:srgbClr val="06D6A0"/>
                </a:solidFill>
              </a:rPr>
              <a:t>.</a:t>
            </a:r>
            <a:r>
              <a:rPr lang="en-US" sz="1050" b="1" i="0" dirty="0">
                <a:solidFill>
                  <a:srgbClr val="06D6A0"/>
                </a:solidFill>
              </a:rPr>
              <a:t> </a:t>
            </a:r>
            <a:r>
              <a:rPr sz="1050" b="1" i="0" dirty="0">
                <a:solidFill>
                  <a:srgbClr val="06D6A0"/>
                </a:solidFill>
              </a:rPr>
              <a:t>.</a:t>
            </a:r>
            <a:r>
              <a:rPr lang="en-US" sz="1050" b="1" i="0" dirty="0">
                <a:solidFill>
                  <a:srgbClr val="06D6A0"/>
                </a:solidFill>
              </a:rPr>
              <a:t> </a:t>
            </a:r>
            <a:r>
              <a:rPr sz="1050" b="1" i="0" dirty="0">
                <a:solidFill>
                  <a:srgbClr val="06D6A0"/>
                </a:solidFill>
              </a:rPr>
              <a:t>#
</a:t>
            </a:r>
            <a:r>
              <a:rPr lang="en-US" sz="1050" b="1" i="0" dirty="0">
                <a:solidFill>
                  <a:srgbClr val="06D6A0"/>
                </a:solidFill>
              </a:rPr>
              <a:t> </a:t>
            </a:r>
            <a:r>
              <a:rPr sz="1050" b="1" i="0" dirty="0">
                <a:solidFill>
                  <a:srgbClr val="06D6A0"/>
                </a:solidFill>
              </a:rPr>
              <a:t> #</a:t>
            </a:r>
            <a:r>
              <a:rPr lang="en-US" sz="1050" b="1" i="0" dirty="0">
                <a:solidFill>
                  <a:srgbClr val="06D6A0"/>
                </a:solidFill>
              </a:rPr>
              <a:t> </a:t>
            </a:r>
            <a:r>
              <a:rPr sz="1050" b="1" i="0" dirty="0">
                <a:solidFill>
                  <a:srgbClr val="06D6A0"/>
                </a:solidFill>
              </a:rPr>
              <a:t>.</a:t>
            </a:r>
            <a:r>
              <a:rPr lang="en-US" sz="1050" b="1" i="0" dirty="0">
                <a:solidFill>
                  <a:srgbClr val="06D6A0"/>
                </a:solidFill>
              </a:rPr>
              <a:t> </a:t>
            </a:r>
            <a:r>
              <a:rPr sz="1050" b="1" i="0" dirty="0">
                <a:solidFill>
                  <a:srgbClr val="06D6A0"/>
                </a:solidFill>
              </a:rPr>
              <a:t>.</a:t>
            </a:r>
            <a:r>
              <a:rPr lang="en-US" sz="1050" b="1" i="0" dirty="0">
                <a:solidFill>
                  <a:srgbClr val="06D6A0"/>
                </a:solidFill>
              </a:rPr>
              <a:t> </a:t>
            </a:r>
            <a:r>
              <a:rPr sz="1050" b="1" i="0" dirty="0">
                <a:solidFill>
                  <a:srgbClr val="06D6A0"/>
                </a:solidFill>
              </a:rPr>
              <a:t>.</a:t>
            </a:r>
            <a:r>
              <a:rPr lang="en-US" sz="1050" b="1" i="0" dirty="0">
                <a:solidFill>
                  <a:srgbClr val="06D6A0"/>
                </a:solidFill>
              </a:rPr>
              <a:t> </a:t>
            </a:r>
            <a:r>
              <a:rPr sz="1050" b="1" i="0" dirty="0">
                <a:solidFill>
                  <a:srgbClr val="06D6A0"/>
                </a:solidFill>
              </a:rPr>
              <a:t>.</a:t>
            </a:r>
            <a:r>
              <a:rPr lang="en-US" sz="1050" b="1" i="0" dirty="0">
                <a:solidFill>
                  <a:srgbClr val="06D6A0"/>
                </a:solidFill>
              </a:rPr>
              <a:t> </a:t>
            </a:r>
            <a:r>
              <a:rPr sz="1050" b="1" i="0" dirty="0">
                <a:solidFill>
                  <a:srgbClr val="06D6A0"/>
                </a:solidFill>
              </a:rPr>
              <a:t>X</a:t>
            </a:r>
            <a:r>
              <a:rPr lang="en-US" sz="1050" b="1" i="0" dirty="0">
                <a:solidFill>
                  <a:srgbClr val="06D6A0"/>
                </a:solidFill>
              </a:rPr>
              <a:t> </a:t>
            </a:r>
            <a:r>
              <a:rPr sz="1050" b="1" i="0" dirty="0" err="1">
                <a:solidFill>
                  <a:srgbClr val="06D6A0"/>
                </a:solidFill>
              </a:rPr>
              <a:t>X</a:t>
            </a:r>
            <a:r>
              <a:rPr lang="en-US" sz="1050" b="1" i="0" dirty="0">
                <a:solidFill>
                  <a:srgbClr val="06D6A0"/>
                </a:solidFill>
              </a:rPr>
              <a:t> </a:t>
            </a:r>
            <a:r>
              <a:rPr sz="1050" b="1" i="0" dirty="0" err="1">
                <a:solidFill>
                  <a:srgbClr val="06D6A0"/>
                </a:solidFill>
              </a:rPr>
              <a:t>X</a:t>
            </a:r>
            <a:r>
              <a:rPr lang="en-US" sz="1050" b="1" i="0" dirty="0">
                <a:solidFill>
                  <a:srgbClr val="06D6A0"/>
                </a:solidFill>
              </a:rPr>
              <a:t> </a:t>
            </a:r>
            <a:r>
              <a:rPr sz="1050" b="1" i="0" dirty="0" err="1">
                <a:solidFill>
                  <a:srgbClr val="06D6A0"/>
                </a:solidFill>
              </a:rPr>
              <a:t>X</a:t>
            </a:r>
            <a:r>
              <a:rPr lang="en-US" sz="1050" b="1" i="0" dirty="0">
                <a:solidFill>
                  <a:srgbClr val="06D6A0"/>
                </a:solidFill>
              </a:rPr>
              <a:t> </a:t>
            </a:r>
            <a:r>
              <a:rPr sz="1050" b="1" i="0" dirty="0" err="1">
                <a:solidFill>
                  <a:srgbClr val="06D6A0"/>
                </a:solidFill>
              </a:rPr>
              <a:t>X</a:t>
            </a:r>
            <a:r>
              <a:rPr sz="1050" b="1" i="0" dirty="0">
                <a:solidFill>
                  <a:srgbClr val="06D6A0"/>
                </a:solidFill>
              </a:rPr>
              <a:t>.</a:t>
            </a:r>
            <a:r>
              <a:rPr lang="en-US" sz="1050" b="1" i="0" dirty="0">
                <a:solidFill>
                  <a:srgbClr val="06D6A0"/>
                </a:solidFill>
              </a:rPr>
              <a:t> </a:t>
            </a:r>
            <a:r>
              <a:rPr sz="1050" b="1" i="0" dirty="0">
                <a:solidFill>
                  <a:srgbClr val="06D6A0"/>
                </a:solidFill>
              </a:rPr>
              <a:t>.</a:t>
            </a:r>
            <a:r>
              <a:rPr lang="en-US" sz="1050" b="1" i="0" dirty="0">
                <a:solidFill>
                  <a:srgbClr val="06D6A0"/>
                </a:solidFill>
              </a:rPr>
              <a:t> </a:t>
            </a:r>
            <a:r>
              <a:rPr sz="1050" b="1" i="0" dirty="0">
                <a:solidFill>
                  <a:srgbClr val="06D6A0"/>
                </a:solidFill>
              </a:rPr>
              <a:t>..</a:t>
            </a:r>
            <a:r>
              <a:rPr lang="en-US" sz="1050" b="1" i="0" dirty="0">
                <a:solidFill>
                  <a:srgbClr val="06D6A0"/>
                </a:solidFill>
              </a:rPr>
              <a:t> </a:t>
            </a:r>
            <a:r>
              <a:rPr sz="1050" b="1" i="0" dirty="0">
                <a:solidFill>
                  <a:srgbClr val="06D6A0"/>
                </a:solidFill>
              </a:rPr>
              <a:t>.</a:t>
            </a:r>
            <a:r>
              <a:rPr lang="en-US" sz="1050" b="1" i="0" dirty="0">
                <a:solidFill>
                  <a:srgbClr val="06D6A0"/>
                </a:solidFill>
              </a:rPr>
              <a:t> </a:t>
            </a:r>
            <a:r>
              <a:rPr sz="1050" b="1" i="0" dirty="0">
                <a:solidFill>
                  <a:srgbClr val="06D6A0"/>
                </a:solidFill>
              </a:rPr>
              <a:t>.</a:t>
            </a:r>
            <a:r>
              <a:rPr lang="en-US" sz="1050" b="1" i="0" dirty="0">
                <a:solidFill>
                  <a:srgbClr val="06D6A0"/>
                </a:solidFill>
              </a:rPr>
              <a:t> </a:t>
            </a:r>
            <a:r>
              <a:rPr sz="1050" b="1" i="0" dirty="0">
                <a:solidFill>
                  <a:srgbClr val="06D6A0"/>
                </a:solidFill>
              </a:rPr>
              <a:t>.</a:t>
            </a:r>
            <a:r>
              <a:rPr lang="en-US" sz="1050" b="1" i="0" dirty="0">
                <a:solidFill>
                  <a:srgbClr val="06D6A0"/>
                </a:solidFill>
              </a:rPr>
              <a:t> </a:t>
            </a:r>
            <a:r>
              <a:rPr sz="1050" b="1" i="0" dirty="0">
                <a:solidFill>
                  <a:srgbClr val="06D6A0"/>
                </a:solidFill>
              </a:rPr>
              <a:t>#
  #.</a:t>
            </a:r>
            <a:r>
              <a:rPr lang="en-US" sz="1050" b="1" i="0" dirty="0">
                <a:solidFill>
                  <a:srgbClr val="06D6A0"/>
                </a:solidFill>
              </a:rPr>
              <a:t> </a:t>
            </a:r>
            <a:r>
              <a:rPr sz="1050" b="1" i="0" dirty="0">
                <a:solidFill>
                  <a:srgbClr val="06D6A0"/>
                </a:solidFill>
              </a:rPr>
              <a:t>.</a:t>
            </a:r>
            <a:r>
              <a:rPr lang="en-US" sz="1050" b="1" i="0" dirty="0">
                <a:solidFill>
                  <a:srgbClr val="06D6A0"/>
                </a:solidFill>
              </a:rPr>
              <a:t> </a:t>
            </a:r>
            <a:r>
              <a:rPr sz="1050" b="1" i="0" dirty="0">
                <a:solidFill>
                  <a:srgbClr val="06D6A0"/>
                </a:solidFill>
              </a:rPr>
              <a:t>.</a:t>
            </a:r>
            <a:r>
              <a:rPr lang="en-US" sz="1050" b="1" i="0" dirty="0">
                <a:solidFill>
                  <a:srgbClr val="06D6A0"/>
                </a:solidFill>
              </a:rPr>
              <a:t> </a:t>
            </a:r>
            <a:r>
              <a:rPr sz="1050" b="1" i="0" dirty="0">
                <a:solidFill>
                  <a:srgbClr val="06D6A0"/>
                </a:solidFill>
              </a:rPr>
              <a:t>.</a:t>
            </a:r>
            <a:r>
              <a:rPr lang="en-US" sz="1050" b="1" i="0" dirty="0">
                <a:solidFill>
                  <a:srgbClr val="06D6A0"/>
                </a:solidFill>
              </a:rPr>
              <a:t> </a:t>
            </a:r>
            <a:r>
              <a:rPr sz="1050" b="1" i="0" dirty="0">
                <a:solidFill>
                  <a:srgbClr val="06D6A0"/>
                </a:solidFill>
              </a:rPr>
              <a:t>..</a:t>
            </a:r>
            <a:r>
              <a:rPr lang="en-US" sz="1050" b="1" i="0" dirty="0">
                <a:solidFill>
                  <a:srgbClr val="06D6A0"/>
                </a:solidFill>
              </a:rPr>
              <a:t> </a:t>
            </a:r>
            <a:r>
              <a:rPr sz="1050" b="1" i="0" dirty="0">
                <a:solidFill>
                  <a:srgbClr val="06D6A0"/>
                </a:solidFill>
              </a:rPr>
              <a:t>.</a:t>
            </a:r>
            <a:r>
              <a:rPr lang="en-US" sz="1050" b="1" i="0" dirty="0">
                <a:solidFill>
                  <a:srgbClr val="06D6A0"/>
                </a:solidFill>
              </a:rPr>
              <a:t>  </a:t>
            </a:r>
            <a:r>
              <a:rPr sz="1050" b="1" i="0" dirty="0">
                <a:solidFill>
                  <a:srgbClr val="06D6A0"/>
                </a:solidFill>
              </a:rPr>
              <a:t>.</a:t>
            </a:r>
            <a:r>
              <a:rPr lang="en-US" sz="1050" b="1" i="0" dirty="0">
                <a:solidFill>
                  <a:srgbClr val="06D6A0"/>
                </a:solidFill>
              </a:rPr>
              <a:t> </a:t>
            </a:r>
            <a:r>
              <a:rPr sz="1050" b="1" i="0" dirty="0">
                <a:solidFill>
                  <a:srgbClr val="06D6A0"/>
                </a:solidFill>
              </a:rPr>
              <a:t>X</a:t>
            </a:r>
            <a:r>
              <a:rPr lang="en-US" sz="1050" b="1" i="0" dirty="0">
                <a:solidFill>
                  <a:srgbClr val="06D6A0"/>
                </a:solidFill>
              </a:rPr>
              <a:t> </a:t>
            </a:r>
            <a:r>
              <a:rPr sz="1050" b="1" i="0" dirty="0">
                <a:solidFill>
                  <a:srgbClr val="06D6A0"/>
                </a:solidFill>
              </a:rPr>
              <a:t>XX</a:t>
            </a:r>
            <a:r>
              <a:rPr lang="en-US" sz="1050" b="1" i="0" dirty="0">
                <a:solidFill>
                  <a:srgbClr val="06D6A0"/>
                </a:solidFill>
              </a:rPr>
              <a:t> </a:t>
            </a:r>
            <a:r>
              <a:rPr sz="1050" b="1" i="0" dirty="0">
                <a:solidFill>
                  <a:srgbClr val="06D6A0"/>
                </a:solidFill>
              </a:rPr>
              <a:t>X</a:t>
            </a:r>
            <a:r>
              <a:rPr lang="en-US" sz="1050" b="1" i="0" dirty="0">
                <a:solidFill>
                  <a:srgbClr val="06D6A0"/>
                </a:solidFill>
              </a:rPr>
              <a:t> </a:t>
            </a:r>
            <a:r>
              <a:rPr sz="1050" b="1" i="0" dirty="0" err="1">
                <a:solidFill>
                  <a:srgbClr val="06D6A0"/>
                </a:solidFill>
              </a:rPr>
              <a:t>X</a:t>
            </a:r>
            <a:r>
              <a:rPr lang="en-US" sz="1050" b="1" i="0" dirty="0">
                <a:solidFill>
                  <a:srgbClr val="06D6A0"/>
                </a:solidFill>
              </a:rPr>
              <a:t> </a:t>
            </a:r>
            <a:r>
              <a:rPr sz="1050" b="1" i="0" dirty="0" err="1">
                <a:solidFill>
                  <a:srgbClr val="06D6A0"/>
                </a:solidFill>
              </a:rPr>
              <a:t>X</a:t>
            </a:r>
            <a:r>
              <a:rPr lang="en-US" sz="1050" b="1" i="0" dirty="0">
                <a:solidFill>
                  <a:srgbClr val="06D6A0"/>
                </a:solidFill>
              </a:rPr>
              <a:t> </a:t>
            </a:r>
            <a:r>
              <a:rPr sz="1050" b="1" i="0" dirty="0">
                <a:solidFill>
                  <a:srgbClr val="06D6A0"/>
                </a:solidFill>
              </a:rPr>
              <a:t>..</a:t>
            </a:r>
            <a:r>
              <a:rPr lang="en-US" sz="1050" b="1" i="0" dirty="0">
                <a:solidFill>
                  <a:srgbClr val="06D6A0"/>
                </a:solidFill>
              </a:rPr>
              <a:t> </a:t>
            </a:r>
            <a:r>
              <a:rPr sz="1050" b="1" i="0" dirty="0">
                <a:solidFill>
                  <a:srgbClr val="06D6A0"/>
                </a:solidFill>
              </a:rPr>
              <a:t>#</a:t>
            </a:r>
            <a:r>
              <a:rPr lang="en-US" sz="1050" b="1" i="0" dirty="0">
                <a:solidFill>
                  <a:srgbClr val="06D6A0"/>
                </a:solidFill>
              </a:rPr>
              <a:t> </a:t>
            </a:r>
            <a:r>
              <a:rPr sz="1050" b="1" i="0" dirty="0">
                <a:solidFill>
                  <a:srgbClr val="06D6A0"/>
                </a:solidFill>
              </a:rPr>
              <a:t>
</a:t>
            </a:r>
            <a:r>
              <a:rPr lang="en-US" sz="1050" b="1" i="0" dirty="0">
                <a:solidFill>
                  <a:srgbClr val="06D6A0"/>
                </a:solidFill>
              </a:rPr>
              <a:t> </a:t>
            </a:r>
            <a:r>
              <a:rPr sz="1050" b="1" i="0" dirty="0">
                <a:solidFill>
                  <a:srgbClr val="06D6A0"/>
                </a:solidFill>
              </a:rPr>
              <a:t> #</a:t>
            </a:r>
            <a:r>
              <a:rPr lang="en-US" sz="1050" b="1" i="0" dirty="0">
                <a:solidFill>
                  <a:srgbClr val="06D6A0"/>
                </a:solidFill>
              </a:rPr>
              <a:t> </a:t>
            </a:r>
            <a:r>
              <a:rPr sz="1050" b="1" i="0" dirty="0">
                <a:solidFill>
                  <a:srgbClr val="06D6A0"/>
                </a:solidFill>
              </a:rPr>
              <a:t>.</a:t>
            </a:r>
            <a:r>
              <a:rPr lang="en-US" sz="1050" b="1" i="0" dirty="0">
                <a:solidFill>
                  <a:srgbClr val="06D6A0"/>
                </a:solidFill>
              </a:rPr>
              <a:t> </a:t>
            </a:r>
            <a:r>
              <a:rPr sz="1050" b="1" i="0" dirty="0">
                <a:solidFill>
                  <a:srgbClr val="06D6A0"/>
                </a:solidFill>
              </a:rPr>
              <a:t>.</a:t>
            </a:r>
            <a:r>
              <a:rPr lang="en-US" sz="1050" b="1" i="0" dirty="0">
                <a:solidFill>
                  <a:srgbClr val="06D6A0"/>
                </a:solidFill>
              </a:rPr>
              <a:t> </a:t>
            </a:r>
            <a:r>
              <a:rPr sz="1050" b="1" i="0" dirty="0">
                <a:solidFill>
                  <a:srgbClr val="06D6A0"/>
                </a:solidFill>
              </a:rPr>
              <a:t>.</a:t>
            </a:r>
            <a:r>
              <a:rPr lang="en-US" sz="1050" b="1" i="0" dirty="0">
                <a:solidFill>
                  <a:srgbClr val="06D6A0"/>
                </a:solidFill>
              </a:rPr>
              <a:t> </a:t>
            </a:r>
            <a:r>
              <a:rPr sz="1050" b="1" i="0" dirty="0">
                <a:solidFill>
                  <a:srgbClr val="06D6A0"/>
                </a:solidFill>
              </a:rPr>
              <a:t>.</a:t>
            </a:r>
            <a:r>
              <a:rPr lang="en-US" sz="1050" b="1" i="0" dirty="0">
                <a:solidFill>
                  <a:srgbClr val="06D6A0"/>
                </a:solidFill>
              </a:rPr>
              <a:t>    </a:t>
            </a:r>
            <a:r>
              <a:rPr sz="1050" b="1" i="0" dirty="0">
                <a:solidFill>
                  <a:srgbClr val="06D6A0"/>
                </a:solidFill>
              </a:rPr>
              <a:t>.</a:t>
            </a:r>
            <a:r>
              <a:rPr lang="en-US" sz="1050" b="1" i="0" dirty="0">
                <a:solidFill>
                  <a:srgbClr val="06D6A0"/>
                </a:solidFill>
              </a:rPr>
              <a:t> </a:t>
            </a:r>
            <a:r>
              <a:rPr sz="1050" b="1" i="0" dirty="0">
                <a:solidFill>
                  <a:srgbClr val="06D6A0"/>
                </a:solidFill>
              </a:rPr>
              <a:t>.</a:t>
            </a:r>
            <a:r>
              <a:rPr lang="en-US" sz="1050" b="1" i="0" dirty="0">
                <a:solidFill>
                  <a:srgbClr val="06D6A0"/>
                </a:solidFill>
              </a:rPr>
              <a:t> </a:t>
            </a:r>
            <a:r>
              <a:rPr sz="1050" b="1" i="0" dirty="0">
                <a:solidFill>
                  <a:srgbClr val="06D6A0"/>
                </a:solidFill>
              </a:rPr>
              <a:t>.</a:t>
            </a:r>
            <a:r>
              <a:rPr lang="en-US" sz="1050" b="1" i="0" dirty="0">
                <a:solidFill>
                  <a:srgbClr val="06D6A0"/>
                </a:solidFill>
              </a:rPr>
              <a:t>  </a:t>
            </a:r>
            <a:r>
              <a:rPr sz="1050" b="1" i="0" dirty="0">
                <a:solidFill>
                  <a:srgbClr val="06D6A0"/>
                </a:solidFill>
              </a:rPr>
              <a:t>.</a:t>
            </a:r>
            <a:r>
              <a:rPr lang="en-US" sz="1050" b="1" i="0" dirty="0">
                <a:solidFill>
                  <a:srgbClr val="06D6A0"/>
                </a:solidFill>
              </a:rPr>
              <a:t>  </a:t>
            </a:r>
            <a:r>
              <a:rPr sz="1050" b="1" i="0" dirty="0">
                <a:solidFill>
                  <a:srgbClr val="06D6A0"/>
                </a:solidFill>
              </a:rPr>
              <a:t>.</a:t>
            </a:r>
            <a:r>
              <a:rPr lang="en-US" sz="1050" b="1" i="0" dirty="0">
                <a:solidFill>
                  <a:srgbClr val="06D6A0"/>
                </a:solidFill>
              </a:rPr>
              <a:t> </a:t>
            </a:r>
            <a:r>
              <a:rPr sz="1050" b="1" i="0" dirty="0">
                <a:solidFill>
                  <a:srgbClr val="06D6A0"/>
                </a:solidFill>
              </a:rPr>
              <a:t>.</a:t>
            </a:r>
            <a:r>
              <a:rPr lang="en-US" sz="1050" b="1" i="0" dirty="0">
                <a:solidFill>
                  <a:srgbClr val="06D6A0"/>
                </a:solidFill>
              </a:rPr>
              <a:t> </a:t>
            </a:r>
            <a:r>
              <a:rPr sz="1050" b="1" i="0" dirty="0">
                <a:solidFill>
                  <a:srgbClr val="06D6A0"/>
                </a:solidFill>
              </a:rPr>
              <a:t>.</a:t>
            </a:r>
            <a:r>
              <a:rPr lang="en-US" sz="1050" b="1" i="0" dirty="0">
                <a:solidFill>
                  <a:srgbClr val="06D6A0"/>
                </a:solidFill>
              </a:rPr>
              <a:t> </a:t>
            </a:r>
            <a:r>
              <a:rPr sz="1050" b="1" i="0" dirty="0">
                <a:solidFill>
                  <a:srgbClr val="06D6A0"/>
                </a:solidFill>
              </a:rPr>
              <a:t>.</a:t>
            </a:r>
            <a:r>
              <a:rPr lang="en-US" sz="1050" b="1" i="0" dirty="0">
                <a:solidFill>
                  <a:srgbClr val="06D6A0"/>
                </a:solidFill>
              </a:rPr>
              <a:t> </a:t>
            </a:r>
            <a:r>
              <a:rPr sz="1050" b="1" i="0" dirty="0">
                <a:solidFill>
                  <a:srgbClr val="06D6A0"/>
                </a:solidFill>
              </a:rPr>
              <a:t>.</a:t>
            </a:r>
            <a:r>
              <a:rPr lang="en-US" sz="1050" b="1" i="0" dirty="0">
                <a:solidFill>
                  <a:srgbClr val="06D6A0"/>
                </a:solidFill>
              </a:rPr>
              <a:t> </a:t>
            </a:r>
            <a:r>
              <a:rPr sz="1050" b="1" i="0" dirty="0">
                <a:solidFill>
                  <a:srgbClr val="06D6A0"/>
                </a:solidFill>
              </a:rPr>
              <a:t>.</a:t>
            </a:r>
            <a:r>
              <a:rPr lang="en-US" sz="1050" b="1" i="0" dirty="0">
                <a:solidFill>
                  <a:srgbClr val="06D6A0"/>
                </a:solidFill>
              </a:rPr>
              <a:t> </a:t>
            </a:r>
            <a:r>
              <a:rPr sz="1050" b="1" i="0" dirty="0">
                <a:solidFill>
                  <a:srgbClr val="06D6A0"/>
                </a:solidFill>
              </a:rPr>
              <a:t>..</a:t>
            </a:r>
            <a:r>
              <a:rPr lang="en-US" sz="1050" b="1" i="0" dirty="0">
                <a:solidFill>
                  <a:srgbClr val="06D6A0"/>
                </a:solidFill>
              </a:rPr>
              <a:t> </a:t>
            </a:r>
            <a:r>
              <a:rPr sz="1050" b="1" i="0" dirty="0">
                <a:solidFill>
                  <a:srgbClr val="06D6A0"/>
                </a:solidFill>
              </a:rPr>
              <a:t>#</a:t>
            </a:r>
            <a:r>
              <a:rPr lang="en-US" sz="1050" b="1" i="0" dirty="0">
                <a:solidFill>
                  <a:srgbClr val="06D6A0"/>
                </a:solidFill>
              </a:rPr>
              <a:t> </a:t>
            </a:r>
            <a:r>
              <a:rPr sz="1050" b="1" i="0" dirty="0">
                <a:solidFill>
                  <a:srgbClr val="06D6A0"/>
                </a:solidFill>
              </a:rPr>
              <a:t>
  #.</a:t>
            </a:r>
            <a:r>
              <a:rPr lang="en-US" sz="1050" b="1" i="0" dirty="0">
                <a:solidFill>
                  <a:srgbClr val="06D6A0"/>
                </a:solidFill>
              </a:rPr>
              <a:t> </a:t>
            </a:r>
            <a:r>
              <a:rPr sz="1050" b="1" i="0" dirty="0">
                <a:solidFill>
                  <a:srgbClr val="06D6A0"/>
                </a:solidFill>
              </a:rPr>
              <a:t>.</a:t>
            </a:r>
            <a:r>
              <a:rPr lang="en-US" sz="1050" b="1" i="0" dirty="0">
                <a:solidFill>
                  <a:srgbClr val="06D6A0"/>
                </a:solidFill>
              </a:rPr>
              <a:t> </a:t>
            </a:r>
            <a:r>
              <a:rPr sz="1050" b="1" i="0" dirty="0">
                <a:solidFill>
                  <a:srgbClr val="06D6A0"/>
                </a:solidFill>
              </a:rPr>
              <a:t>.</a:t>
            </a:r>
            <a:r>
              <a:rPr lang="en-US" sz="1050" b="1" i="0" dirty="0">
                <a:solidFill>
                  <a:srgbClr val="06D6A0"/>
                </a:solidFill>
              </a:rPr>
              <a:t> </a:t>
            </a:r>
            <a:r>
              <a:rPr sz="1050" b="1" i="0" dirty="0">
                <a:solidFill>
                  <a:srgbClr val="06D6A0"/>
                </a:solidFill>
              </a:rPr>
              <a:t>.</a:t>
            </a:r>
            <a:r>
              <a:rPr lang="en-US" sz="1050" b="1" i="0" dirty="0">
                <a:solidFill>
                  <a:srgbClr val="06D6A0"/>
                </a:solidFill>
              </a:rPr>
              <a:t> </a:t>
            </a:r>
            <a:r>
              <a:rPr sz="1050" b="1" i="0" dirty="0">
                <a:solidFill>
                  <a:srgbClr val="06D6A0"/>
                </a:solidFill>
              </a:rPr>
              <a:t>.</a:t>
            </a:r>
            <a:r>
              <a:rPr lang="en-US" sz="1050" b="1" i="0" dirty="0">
                <a:solidFill>
                  <a:srgbClr val="06D6A0"/>
                </a:solidFill>
              </a:rPr>
              <a:t> </a:t>
            </a:r>
            <a:r>
              <a:rPr sz="1050" b="1" i="0" dirty="0">
                <a:solidFill>
                  <a:srgbClr val="06D6A0"/>
                </a:solidFill>
              </a:rPr>
              <a:t>.</a:t>
            </a:r>
            <a:r>
              <a:rPr lang="en-US" sz="1050" b="1" i="0" dirty="0">
                <a:solidFill>
                  <a:srgbClr val="06D6A0"/>
                </a:solidFill>
              </a:rPr>
              <a:t> </a:t>
            </a:r>
            <a:r>
              <a:rPr sz="1050" b="1" i="0" dirty="0">
                <a:solidFill>
                  <a:srgbClr val="06D6A0"/>
                </a:solidFill>
              </a:rPr>
              <a:t>.</a:t>
            </a:r>
            <a:r>
              <a:rPr lang="en-US" sz="1050" b="1" i="0" dirty="0">
                <a:solidFill>
                  <a:srgbClr val="06D6A0"/>
                </a:solidFill>
              </a:rPr>
              <a:t> </a:t>
            </a:r>
            <a:r>
              <a:rPr sz="1050" b="1" i="0" dirty="0">
                <a:solidFill>
                  <a:srgbClr val="06D6A0"/>
                </a:solidFill>
              </a:rPr>
              <a:t>.</a:t>
            </a:r>
            <a:r>
              <a:rPr lang="en-US" sz="1050" b="1" i="0" dirty="0">
                <a:solidFill>
                  <a:srgbClr val="06D6A0"/>
                </a:solidFill>
              </a:rPr>
              <a:t> </a:t>
            </a:r>
            <a:r>
              <a:rPr sz="1050" b="1" i="0" dirty="0">
                <a:solidFill>
                  <a:srgbClr val="06D6A0"/>
                </a:solidFill>
              </a:rPr>
              <a:t>.</a:t>
            </a:r>
            <a:r>
              <a:rPr lang="en-US" sz="1050" b="1" i="0" dirty="0">
                <a:solidFill>
                  <a:srgbClr val="06D6A0"/>
                </a:solidFill>
              </a:rPr>
              <a:t>  </a:t>
            </a:r>
            <a:r>
              <a:rPr sz="1050" b="1" i="0" dirty="0">
                <a:solidFill>
                  <a:srgbClr val="06D6A0"/>
                </a:solidFill>
              </a:rPr>
              <a:t>.</a:t>
            </a:r>
            <a:r>
              <a:rPr lang="en-US" sz="1050" b="1" i="0" dirty="0">
                <a:solidFill>
                  <a:srgbClr val="06D6A0"/>
                </a:solidFill>
              </a:rPr>
              <a:t> </a:t>
            </a:r>
            <a:r>
              <a:rPr sz="1050" b="1" i="0" dirty="0">
                <a:solidFill>
                  <a:srgbClr val="06D6A0"/>
                </a:solidFill>
              </a:rPr>
              <a:t>.</a:t>
            </a:r>
            <a:r>
              <a:rPr lang="en-US" sz="1050" b="1" i="0" dirty="0">
                <a:solidFill>
                  <a:srgbClr val="06D6A0"/>
                </a:solidFill>
              </a:rPr>
              <a:t> </a:t>
            </a:r>
            <a:r>
              <a:rPr sz="1050" b="1" i="0" dirty="0">
                <a:solidFill>
                  <a:srgbClr val="06D6A0"/>
                </a:solidFill>
              </a:rPr>
              <a:t>.</a:t>
            </a:r>
            <a:r>
              <a:rPr lang="en-US" sz="1050" b="1" i="0" dirty="0">
                <a:solidFill>
                  <a:srgbClr val="06D6A0"/>
                </a:solidFill>
              </a:rPr>
              <a:t> </a:t>
            </a:r>
            <a:r>
              <a:rPr sz="1050" b="1" i="0" dirty="0">
                <a:solidFill>
                  <a:srgbClr val="06D6A0"/>
                </a:solidFill>
              </a:rPr>
              <a:t>.</a:t>
            </a:r>
            <a:r>
              <a:rPr lang="en-US" sz="1050" b="1" i="0" dirty="0">
                <a:solidFill>
                  <a:srgbClr val="06D6A0"/>
                </a:solidFill>
              </a:rPr>
              <a:t> </a:t>
            </a:r>
            <a:r>
              <a:rPr sz="1050" b="1" i="0" dirty="0">
                <a:solidFill>
                  <a:srgbClr val="06D6A0"/>
                </a:solidFill>
              </a:rPr>
              <a:t>.</a:t>
            </a:r>
            <a:r>
              <a:rPr lang="en-US" sz="1050" b="1" i="0" dirty="0">
                <a:solidFill>
                  <a:srgbClr val="06D6A0"/>
                </a:solidFill>
              </a:rPr>
              <a:t> </a:t>
            </a:r>
            <a:r>
              <a:rPr sz="1050" b="1" i="0" dirty="0">
                <a:solidFill>
                  <a:srgbClr val="06D6A0"/>
                </a:solidFill>
              </a:rPr>
              <a:t>.</a:t>
            </a:r>
            <a:r>
              <a:rPr lang="en-US" sz="1050" b="1" i="0" dirty="0">
                <a:solidFill>
                  <a:srgbClr val="06D6A0"/>
                </a:solidFill>
              </a:rPr>
              <a:t> </a:t>
            </a:r>
            <a:r>
              <a:rPr sz="1050" b="1" i="0" dirty="0">
                <a:solidFill>
                  <a:srgbClr val="06D6A0"/>
                </a:solidFill>
              </a:rPr>
              <a:t>.</a:t>
            </a:r>
            <a:r>
              <a:rPr lang="en-US" sz="1050" b="1" i="0" dirty="0">
                <a:solidFill>
                  <a:srgbClr val="06D6A0"/>
                </a:solidFill>
              </a:rPr>
              <a:t> </a:t>
            </a:r>
            <a:r>
              <a:rPr sz="1050" b="1" i="0" dirty="0">
                <a:solidFill>
                  <a:srgbClr val="06D6A0"/>
                </a:solidFill>
              </a:rPr>
              <a:t>.</a:t>
            </a:r>
            <a:r>
              <a:rPr lang="en-US" sz="1050" b="1" i="0" dirty="0">
                <a:solidFill>
                  <a:srgbClr val="06D6A0"/>
                </a:solidFill>
              </a:rPr>
              <a:t> </a:t>
            </a:r>
            <a:r>
              <a:rPr sz="1050" b="1" i="0" dirty="0">
                <a:solidFill>
                  <a:srgbClr val="06D6A0"/>
                </a:solidFill>
              </a:rPr>
              <a:t>V#
  ####################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40680" y="13716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B700"/>
                </a:solidFill>
              </a:rPr>
              <a:t>MAP LEGEND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40680" y="1719072"/>
            <a:ext cx="6400800" cy="22860"/>
          </a:xfrm>
          <a:prstGeom prst="rect">
            <a:avLst/>
          </a:prstGeom>
          <a:solidFill>
            <a:srgbClr val="FF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440680" y="1810512"/>
            <a:ext cx="777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D6A0"/>
                </a:solidFill>
              </a:rPr>
              <a:t>S  =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72200" y="1810512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8D8E8"/>
                </a:solidFill>
              </a:rPr>
              <a:t>Start — Solver spawns here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40680" y="2240280"/>
            <a:ext cx="777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476F"/>
                </a:solidFill>
              </a:rPr>
              <a:t>V  =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72200" y="2240280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8D8E8"/>
                </a:solidFill>
              </a:rPr>
              <a:t>Vault — Solver's objective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40680" y="2670048"/>
            <a:ext cx="777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B4D8"/>
                </a:solidFill>
              </a:rPr>
              <a:t>C  =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72200" y="2670048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8D8E8"/>
                </a:solidFill>
              </a:rPr>
              <a:t>Camera — rotating vision cone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80" y="3099815"/>
            <a:ext cx="777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B700"/>
                </a:solidFill>
              </a:rPr>
              <a:t>G  =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72200" y="3099815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8D8E8"/>
                </a:solidFill>
              </a:rPr>
              <a:t>Guard — mobile patrol unit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40680" y="3529584"/>
            <a:ext cx="777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556677"/>
                </a:solidFill>
              </a:rPr>
              <a:t>#  =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2200" y="3529584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8D8E8"/>
                </a:solidFill>
              </a:rPr>
              <a:t>Wall — blocks movement &amp; sight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40680" y="3959352"/>
            <a:ext cx="777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476F"/>
                </a:solidFill>
              </a:rPr>
              <a:t>X  =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72200" y="3959352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8D8E8"/>
                </a:solidFill>
              </a:rPr>
              <a:t>Danger Zone — currently surveilled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4389120"/>
            <a:ext cx="777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8D8E8"/>
                </a:solidFill>
              </a:rPr>
              <a:t>.   =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72200" y="4389120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8D8E8"/>
                </a:solidFill>
              </a:rPr>
              <a:t>Empty — walkable safe tile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40680" y="4919472"/>
            <a:ext cx="6473952" cy="1463040"/>
          </a:xfrm>
          <a:prstGeom prst="rect">
            <a:avLst/>
          </a:prstGeom>
          <a:solidFill>
            <a:srgbClr val="141E2E"/>
          </a:solidFill>
          <a:ln w="1270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577840" y="5010912"/>
            <a:ext cx="6217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B4D8"/>
                </a:solidFill>
              </a:rPr>
              <a:t>Key Rules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577840" y="5349240"/>
            <a:ext cx="61722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C8D8E8"/>
                </a:solidFill>
              </a:rPr>
              <a:t>• Border tiles are always walls  •  BFS validates path existence
• Visibility map is recomputed every tick via raycasting
• Camera FOV, rotation speed &amp; guard patrol paths are Architect-defined</a:t>
            </a:r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B5DC0F26-1BC6-9C19-DF40-E4D718D681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9922" y="3511817"/>
            <a:ext cx="2430398" cy="2507221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CB4412F3-5D28-A745-3675-42A72453C6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6080760"/>
            <a:ext cx="4880451" cy="37033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182880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0B4D8"/>
                </a:solidFill>
              </a:rPr>
              <a:t>Security Components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777240"/>
            <a:ext cx="11338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C8D8E8"/>
                </a:solidFill>
              </a:rPr>
              <a:t>Budget-constrained adversarial assets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115568"/>
            <a:ext cx="11365992" cy="2286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274320" y="1261872"/>
            <a:ext cx="3840480" cy="5257800"/>
          </a:xfrm>
          <a:prstGeom prst="rect">
            <a:avLst/>
          </a:prstGeom>
          <a:solidFill>
            <a:srgbClr val="141E2E"/>
          </a:solidFill>
          <a:ln w="12700">
            <a:solidFill>
              <a:srgbClr val="5566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274320" y="1261872"/>
            <a:ext cx="3840480" cy="91440"/>
          </a:xfrm>
          <a:prstGeom prst="rect">
            <a:avLst/>
          </a:prstGeom>
          <a:solidFill>
            <a:srgbClr val="5566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38912" y="1389888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556677"/>
                </a:solidFill>
              </a:rPr>
              <a:t>🧱  WALL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1847088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B700"/>
                </a:solidFill>
              </a:rPr>
              <a:t>Cost: 1 pt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2212848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8D8E8"/>
                </a:solidFill>
              </a:rPr>
              <a:t>▸  Static obstacle — no movement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2916936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8D8E8"/>
                </a:solidFill>
              </a:rPr>
              <a:t>▸  Blocks Solver's path AND line-of-sight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" y="3621024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8D8E8"/>
                </a:solidFill>
              </a:rPr>
              <a:t>▸  Architect uses walls to create chokepoints and corridors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" y="4325112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8D8E8"/>
                </a:solidFill>
              </a:rPr>
              <a:t>▸  Funnels Solver into surveilled kill-zones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15968" y="1261872"/>
            <a:ext cx="3840480" cy="5257800"/>
          </a:xfrm>
          <a:prstGeom prst="rect">
            <a:avLst/>
          </a:prstGeom>
          <a:solidFill>
            <a:srgbClr val="141E2E"/>
          </a:solidFill>
          <a:ln w="1270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4315968" y="1261872"/>
            <a:ext cx="3840480" cy="9144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480559" y="1389888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B4D8"/>
                </a:solidFill>
              </a:rPr>
              <a:t>📷  CAMERA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59" y="1847088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B700"/>
                </a:solidFill>
              </a:rPr>
              <a:t>Cost: 3 pts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59" y="2212848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8D8E8"/>
                </a:solidFill>
              </a:rPr>
              <a:t>▸  Fixed position, rotating heading over time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59" y="2916936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8D8E8"/>
                </a:solidFill>
              </a:rPr>
              <a:t>▸  Triangular vision cone — raycasted, wall-occluded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80559" y="3621024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8D8E8"/>
                </a:solidFill>
              </a:rPr>
              <a:t>▸  Solver must time movements to exploit rotation gaps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80559" y="4325112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8D8E8"/>
                </a:solidFill>
              </a:rPr>
              <a:t>▸  Architect places at intersections for maximum sweep area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357616" y="1261872"/>
            <a:ext cx="3840480" cy="5257800"/>
          </a:xfrm>
          <a:prstGeom prst="rect">
            <a:avLst/>
          </a:prstGeom>
          <a:solidFill>
            <a:srgbClr val="141E2E"/>
          </a:solidFill>
          <a:ln w="12700">
            <a:solidFill>
              <a:srgbClr val="FFB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8357616" y="1261872"/>
            <a:ext cx="3840480" cy="91440"/>
          </a:xfrm>
          <a:prstGeom prst="rect">
            <a:avLst/>
          </a:prstGeom>
          <a:solidFill>
            <a:srgbClr val="FF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522208" y="1389888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B700"/>
                </a:solidFill>
              </a:rPr>
              <a:t>💂  GUARD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22208" y="1847088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B700"/>
                </a:solidFill>
              </a:rPr>
              <a:t>Cost: 5 pts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22208" y="2212848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8D8E8"/>
                </a:solidFill>
              </a:rPr>
              <a:t>▸  Mobile patrol along Architect-defined waypoint routes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22208" y="2916936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8D8E8"/>
                </a:solidFill>
              </a:rPr>
              <a:t>▸  Vision cone follows direction of movement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22208" y="3621024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8D8E8"/>
                </a:solidFill>
              </a:rPr>
              <a:t>▸  Most expensive — hardest for Solver to predict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22208" y="4325112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8D8E8"/>
                </a:solidFill>
              </a:rPr>
              <a:t>▸  Architect learns to sync guard patrols with camera blind spots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182880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6D6A0"/>
                </a:solidFill>
              </a:rPr>
              <a:t>Reward System — Zero-Sum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777240"/>
            <a:ext cx="11338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C8D8E8"/>
                </a:solidFill>
              </a:rPr>
              <a:t>Precisely engineered incentives that drive adversarial learning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115568"/>
            <a:ext cx="11365992" cy="2286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274320" y="1261872"/>
            <a:ext cx="5577840" cy="5257800"/>
          </a:xfrm>
          <a:prstGeom prst="rect">
            <a:avLst/>
          </a:prstGeom>
          <a:solidFill>
            <a:srgbClr val="141E2E"/>
          </a:solidFill>
          <a:ln w="12700">
            <a:solidFill>
              <a:srgbClr val="06D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1389888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6D6A0"/>
                </a:solidFill>
              </a:rPr>
              <a:t>🕵️  Solver Rewards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783080"/>
            <a:ext cx="5120640" cy="2286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57200" y="1920240"/>
            <a:ext cx="1005840" cy="384048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7200" y="1920240"/>
            <a:ext cx="1005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D1117"/>
                </a:solidFill>
              </a:rPr>
              <a:t>+0.1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1947672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8D8E8"/>
                </a:solidFill>
              </a:rPr>
              <a:t>Move closer to Vault (distance shaping)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587752"/>
            <a:ext cx="1005840" cy="384048"/>
          </a:xfrm>
          <a:prstGeom prst="rect">
            <a:avLst/>
          </a:prstGeom>
          <a:solidFill>
            <a:srgbClr val="FF4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57200" y="2587752"/>
            <a:ext cx="1005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D1117"/>
                </a:solidFill>
              </a:rPr>
              <a:t>-0.1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2615184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8D8E8"/>
                </a:solidFill>
              </a:rPr>
              <a:t>Move further from Vault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255264"/>
            <a:ext cx="1005840" cy="384048"/>
          </a:xfrm>
          <a:prstGeom prst="rect">
            <a:avLst/>
          </a:prstGeom>
          <a:solidFill>
            <a:srgbClr val="FF4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57200" y="3255264"/>
            <a:ext cx="1005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D1117"/>
                </a:solidFill>
              </a:rPr>
              <a:t>-0.01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3282696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8D8E8"/>
                </a:solidFill>
              </a:rPr>
              <a:t>Per time-step penalty (efficiency)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922776"/>
            <a:ext cx="1005840" cy="384048"/>
          </a:xfrm>
          <a:prstGeom prst="rect">
            <a:avLst/>
          </a:prstGeom>
          <a:solidFill>
            <a:srgbClr val="FF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57200" y="3922776"/>
            <a:ext cx="1005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D1117"/>
                </a:solidFill>
              </a:rPr>
              <a:t>+0.05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3950208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8D8E8"/>
                </a:solidFill>
              </a:rPr>
              <a:t>Proximity bonus within 3 tiles of Vault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4590288"/>
            <a:ext cx="1005840" cy="384048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57200" y="4590288"/>
            <a:ext cx="1005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D1117"/>
                </a:solidFill>
              </a:rPr>
              <a:t>+10.0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54480" y="4617720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8D8E8"/>
                </a:solidFill>
              </a:rPr>
              <a:t>REACH THE VAULT  ✅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5257800"/>
            <a:ext cx="1005840" cy="384048"/>
          </a:xfrm>
          <a:prstGeom prst="rect">
            <a:avLst/>
          </a:prstGeom>
          <a:solidFill>
            <a:srgbClr val="FF4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57200" y="5257800"/>
            <a:ext cx="1005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D1117"/>
                </a:solidFill>
              </a:rPr>
              <a:t>-1.0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54480" y="5285232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8D8E8"/>
                </a:solidFill>
              </a:rPr>
              <a:t>DETECTED by camera or guard  🚨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5925312"/>
            <a:ext cx="1005840" cy="384048"/>
          </a:xfrm>
          <a:prstGeom prst="rect">
            <a:avLst/>
          </a:prstGeom>
          <a:solidFill>
            <a:srgbClr val="FF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57200" y="5925312"/>
            <a:ext cx="1005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D1117"/>
                </a:solidFill>
              </a:rPr>
              <a:t>+2.0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54480" y="5952744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8D8E8"/>
                </a:solidFill>
              </a:rPr>
              <a:t>Partial credit at timeout (distance-based)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355080" y="1261872"/>
            <a:ext cx="5577840" cy="5257800"/>
          </a:xfrm>
          <a:prstGeom prst="rect">
            <a:avLst/>
          </a:prstGeom>
          <a:solidFill>
            <a:srgbClr val="141E2E"/>
          </a:solidFill>
          <a:ln w="1270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537960" y="1389888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B4D8"/>
                </a:solidFill>
              </a:rPr>
              <a:t>🔒  Architect Rewards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537960" y="1783080"/>
            <a:ext cx="5120640" cy="2286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6537960" y="1920240"/>
            <a:ext cx="1005840" cy="38404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537960" y="1920240"/>
            <a:ext cx="1005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D1117"/>
                </a:solidFill>
              </a:rPr>
              <a:t>+1.0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35240" y="1947672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8D8E8"/>
                </a:solidFill>
              </a:rPr>
              <a:t>Detection rate × 1.0 (more detections = better security)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537960" y="2724912"/>
            <a:ext cx="1005840" cy="384048"/>
          </a:xfrm>
          <a:prstGeom prst="rect">
            <a:avLst/>
          </a:prstGeom>
          <a:solidFill>
            <a:srgbClr val="FF4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537960" y="2724912"/>
            <a:ext cx="1005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D1117"/>
                </a:solidFill>
              </a:rPr>
              <a:t>-0.5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35240" y="2752344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8D8E8"/>
                </a:solidFill>
              </a:rPr>
              <a:t>Solver succeeds &gt;80% of attempts (too easy)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537960" y="3529584"/>
            <a:ext cx="1005840" cy="384048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6537960" y="3529584"/>
            <a:ext cx="1005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D1117"/>
                </a:solidFill>
              </a:rPr>
              <a:t>+0.2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635240" y="3557016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8D8E8"/>
                </a:solidFill>
              </a:rPr>
              <a:t>Solver succeeds 20–60%  (challenging but fair zone)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537960" y="4334256"/>
            <a:ext cx="1005840" cy="384048"/>
          </a:xfrm>
          <a:prstGeom prst="rect">
            <a:avLst/>
          </a:prstGeom>
          <a:solidFill>
            <a:srgbClr val="FF4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6537960" y="4334256"/>
            <a:ext cx="1005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D1117"/>
                </a:solidFill>
              </a:rPr>
              <a:t>-1.0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635240" y="4361688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8D8E8"/>
                </a:solidFill>
              </a:rPr>
              <a:t>Invalid layout — no valid path to Vault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355080" y="5212080"/>
            <a:ext cx="5577840" cy="1188720"/>
          </a:xfrm>
          <a:prstGeom prst="rect">
            <a:avLst/>
          </a:prstGeom>
          <a:solidFill>
            <a:srgbClr val="102818"/>
          </a:solidFill>
          <a:ln w="12700">
            <a:solidFill>
              <a:srgbClr val="06D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6473952" y="5321808"/>
            <a:ext cx="534924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6D6A0"/>
                </a:solidFill>
              </a:rPr>
              <a:t>🎯  Architect's Sweet Spot: ~30% Solve Rate
Security challenging enough to catch most attempts, but not impossibly hard.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FF4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182880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476F"/>
                </a:solidFill>
              </a:rPr>
              <a:t>Curriculum Learning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777240"/>
            <a:ext cx="11338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C8D8E8"/>
                </a:solidFill>
              </a:rPr>
              <a:t>Gradual difficulty ramp — stability before adversarial competition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115568"/>
            <a:ext cx="11365992" cy="2286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FF4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201168" y="1261872"/>
            <a:ext cx="2231136" cy="5257800"/>
          </a:xfrm>
          <a:prstGeom prst="rect">
            <a:avLst/>
          </a:prstGeom>
          <a:solidFill>
            <a:srgbClr val="141E2E"/>
          </a:solidFill>
          <a:ln w="19050">
            <a:solidFill>
              <a:srgbClr val="5566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201168" y="1261872"/>
            <a:ext cx="2231136" cy="109728"/>
          </a:xfrm>
          <a:prstGeom prst="rect">
            <a:avLst/>
          </a:prstGeom>
          <a:solidFill>
            <a:srgbClr val="5566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01168" y="1389888"/>
            <a:ext cx="223113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556677"/>
                </a:solidFill>
              </a:rPr>
              <a:t>WARMUP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" y="1783080"/>
            <a:ext cx="223113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56677"/>
                </a:solidFill>
              </a:rPr>
              <a:t>Pre-Training
Ep 1–30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2608" y="2240280"/>
            <a:ext cx="2029968" cy="22860"/>
          </a:xfrm>
          <a:prstGeom prst="rect">
            <a:avLst/>
          </a:prstGeom>
          <a:solidFill>
            <a:srgbClr val="5566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01168" y="2331720"/>
            <a:ext cx="223113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B700"/>
                </a:solidFill>
              </a:rPr>
              <a:t>Budget: 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2608" y="2724912"/>
            <a:ext cx="2029968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C8D8E8"/>
                </a:solidFill>
              </a:rPr>
              <a:t>Empty grid; Solver learns basic
navigation toward the Vault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1168" y="4160520"/>
            <a:ext cx="22311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56677"/>
                </a:solidFill>
              </a:rPr>
              <a:t>Solve Rate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1168" y="4407408"/>
            <a:ext cx="22311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6D6A0"/>
                </a:solidFill>
              </a:rPr>
              <a:t>100% solve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1168" y="4828032"/>
            <a:ext cx="22311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56677"/>
                </a:solidFill>
              </a:rPr>
              <a:t>Detection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1168" y="5074920"/>
            <a:ext cx="223113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476F"/>
                </a:solidFill>
              </a:rPr>
              <a:t>—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551176" y="1261872"/>
            <a:ext cx="2231136" cy="5257800"/>
          </a:xfrm>
          <a:prstGeom prst="rect">
            <a:avLst/>
          </a:prstGeom>
          <a:solidFill>
            <a:srgbClr val="141E2E"/>
          </a:solidFill>
          <a:ln w="1905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2551176" y="1261872"/>
            <a:ext cx="2231136" cy="10972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2551176" y="1389888"/>
            <a:ext cx="223113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0B4D8"/>
                </a:solidFill>
              </a:rPr>
              <a:t>PHASE 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51176" y="1783080"/>
            <a:ext cx="223113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56677"/>
                </a:solidFill>
              </a:rPr>
              <a:t>Walls Only
Ep 31–80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642616" y="2240280"/>
            <a:ext cx="2029968" cy="2286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2551176" y="2331720"/>
            <a:ext cx="223113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B700"/>
                </a:solidFill>
              </a:rPr>
              <a:t>Budget: 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42616" y="2724912"/>
            <a:ext cx="2029968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C8D8E8"/>
                </a:solidFill>
              </a:rPr>
              <a:t>Walls introduced; Solver learns
path-finding around obstacles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551176" y="4160520"/>
            <a:ext cx="22311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56677"/>
                </a:solidFill>
              </a:rPr>
              <a:t>Solve Rate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551176" y="4407408"/>
            <a:ext cx="22311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6D6A0"/>
                </a:solidFill>
              </a:rPr>
              <a:t>~100%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551176" y="4828032"/>
            <a:ext cx="22311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56677"/>
                </a:solidFill>
              </a:rPr>
              <a:t>Detection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551176" y="5074920"/>
            <a:ext cx="223113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476F"/>
                </a:solidFill>
              </a:rPr>
              <a:t>0%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901183" y="1261872"/>
            <a:ext cx="2231136" cy="5257800"/>
          </a:xfrm>
          <a:prstGeom prst="rect">
            <a:avLst/>
          </a:prstGeom>
          <a:solidFill>
            <a:srgbClr val="141E2E"/>
          </a:solidFill>
          <a:ln w="19050">
            <a:solidFill>
              <a:srgbClr val="FFB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4901183" y="1261872"/>
            <a:ext cx="2231136" cy="109728"/>
          </a:xfrm>
          <a:prstGeom prst="rect">
            <a:avLst/>
          </a:prstGeom>
          <a:solidFill>
            <a:srgbClr val="FF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901183" y="1389888"/>
            <a:ext cx="223113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B700"/>
                </a:solidFill>
              </a:rPr>
              <a:t>PHASE II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901183" y="1783080"/>
            <a:ext cx="223113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56677"/>
                </a:solidFill>
              </a:rPr>
              <a:t>+ Cameras
Ep 81–200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992623" y="2240280"/>
            <a:ext cx="2029968" cy="22860"/>
          </a:xfrm>
          <a:prstGeom prst="rect">
            <a:avLst/>
          </a:prstGeom>
          <a:solidFill>
            <a:srgbClr val="FF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4901183" y="2331720"/>
            <a:ext cx="223113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B700"/>
                </a:solidFill>
              </a:rPr>
              <a:t>Budget: 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992623" y="2724912"/>
            <a:ext cx="2029968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C8D8E8"/>
                </a:solidFill>
              </a:rPr>
              <a:t>Rotating cameras added; LSTM memory
exploits rotation timing windows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901183" y="4160520"/>
            <a:ext cx="22311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56677"/>
                </a:solidFill>
              </a:rPr>
              <a:t>Solve Rate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901183" y="4407408"/>
            <a:ext cx="22311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6D6A0"/>
                </a:solidFill>
              </a:rPr>
              <a:t>45–100%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901183" y="4828032"/>
            <a:ext cx="22311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56677"/>
                </a:solidFill>
              </a:rPr>
              <a:t>Detection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901183" y="5074920"/>
            <a:ext cx="223113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476F"/>
                </a:solidFill>
              </a:rPr>
              <a:t>20–40%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251192" y="1261872"/>
            <a:ext cx="2231136" cy="5257800"/>
          </a:xfrm>
          <a:prstGeom prst="rect">
            <a:avLst/>
          </a:prstGeom>
          <a:solidFill>
            <a:srgbClr val="141E2E"/>
          </a:solidFill>
          <a:ln w="19050">
            <a:solidFill>
              <a:srgbClr val="FF47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7251192" y="1261872"/>
            <a:ext cx="2231136" cy="109728"/>
          </a:xfrm>
          <a:prstGeom prst="rect">
            <a:avLst/>
          </a:prstGeom>
          <a:solidFill>
            <a:srgbClr val="FF4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7251192" y="1389888"/>
            <a:ext cx="223113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476F"/>
                </a:solidFill>
              </a:rPr>
              <a:t>PHASE III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251192" y="1783080"/>
            <a:ext cx="223113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56677"/>
                </a:solidFill>
              </a:rPr>
              <a:t>Full Security
Ep 201–400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342631" y="2240280"/>
            <a:ext cx="2029968" cy="22860"/>
          </a:xfrm>
          <a:prstGeom prst="rect">
            <a:avLst/>
          </a:prstGeom>
          <a:solidFill>
            <a:srgbClr val="FF4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7251192" y="2331720"/>
            <a:ext cx="223113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B700"/>
                </a:solidFill>
              </a:rPr>
              <a:t>Budget: 15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342631" y="2724912"/>
            <a:ext cx="2029968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C8D8E8"/>
                </a:solidFill>
              </a:rPr>
              <a:t>Guards introduced; true adversarial
competition begins — collapse then recovery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251192" y="4160520"/>
            <a:ext cx="22311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56677"/>
                </a:solidFill>
              </a:rPr>
              <a:t>Solve Rate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251192" y="4407408"/>
            <a:ext cx="22311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6D6A0"/>
                </a:solidFill>
              </a:rPr>
              <a:t>0→50%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251192" y="4828032"/>
            <a:ext cx="22311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56677"/>
                </a:solidFill>
              </a:rPr>
              <a:t>Detection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251192" y="5074920"/>
            <a:ext cx="223113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476F"/>
                </a:solidFill>
              </a:rPr>
              <a:t>50–80%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601200" y="1261872"/>
            <a:ext cx="2231136" cy="5257800"/>
          </a:xfrm>
          <a:prstGeom prst="rect">
            <a:avLst/>
          </a:prstGeom>
          <a:solidFill>
            <a:srgbClr val="141E2E"/>
          </a:solidFill>
          <a:ln w="19050">
            <a:solidFill>
              <a:srgbClr val="06D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Rectangle 52"/>
          <p:cNvSpPr/>
          <p:nvPr/>
        </p:nvSpPr>
        <p:spPr>
          <a:xfrm>
            <a:off x="9601200" y="1261872"/>
            <a:ext cx="2231136" cy="109728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9601200" y="1389888"/>
            <a:ext cx="223113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6D6A0"/>
                </a:solidFill>
              </a:rPr>
              <a:t>PHASE IV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601200" y="1783080"/>
            <a:ext cx="223113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56677"/>
                </a:solidFill>
              </a:rPr>
              <a:t>Expert Mode
Ep 401–500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692640" y="2240280"/>
            <a:ext cx="2029968" cy="2286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9601200" y="2331720"/>
            <a:ext cx="223113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B700"/>
                </a:solidFill>
              </a:rPr>
              <a:t>Budget: 22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692640" y="2724912"/>
            <a:ext cx="2029968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C8D8E8"/>
                </a:solidFill>
              </a:rPr>
              <a:t>Maximum budget; Architect fortifies
vault rooms; Solver adapts dynamically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601200" y="4160520"/>
            <a:ext cx="22311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56677"/>
                </a:solidFill>
              </a:rPr>
              <a:t>Solve Rate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601200" y="4407408"/>
            <a:ext cx="22311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6D6A0"/>
                </a:solidFill>
              </a:rPr>
              <a:t>~60%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601200" y="4828032"/>
            <a:ext cx="22311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56677"/>
                </a:solidFill>
              </a:rPr>
              <a:t>Detection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601200" y="5074920"/>
            <a:ext cx="223113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476F"/>
                </a:solidFill>
              </a:rPr>
              <a:t>~40%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182880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0B4D8"/>
                </a:solidFill>
              </a:rPr>
              <a:t>Neural Network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777240"/>
            <a:ext cx="11338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C8D8E8"/>
                </a:solidFill>
              </a:rPr>
              <a:t>Solver: CNN + LSTM  |  Architect: Encoder-Decoder CNN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115568"/>
            <a:ext cx="11365992" cy="2286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274320" y="1261872"/>
            <a:ext cx="5577840" cy="5257800"/>
          </a:xfrm>
          <a:prstGeom prst="rect">
            <a:avLst/>
          </a:prstGeom>
          <a:solidFill>
            <a:srgbClr val="141E2E"/>
          </a:solidFill>
          <a:ln w="12700">
            <a:solidFill>
              <a:srgbClr val="FFB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1389888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B700"/>
                </a:solidFill>
              </a:rPr>
              <a:t>🕵️  Solver Network — 550K Parameters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783080"/>
            <a:ext cx="5120640" cy="22860"/>
          </a:xfrm>
          <a:prstGeom prst="rect">
            <a:avLst/>
          </a:prstGeom>
          <a:solidFill>
            <a:srgbClr val="FF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57200" y="1920240"/>
            <a:ext cx="1371600" cy="411480"/>
          </a:xfrm>
          <a:prstGeom prst="rect">
            <a:avLst/>
          </a:prstGeom>
          <a:solidFill>
            <a:srgbClr val="FF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7200" y="1920240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0D1117"/>
                </a:solidFill>
              </a:rPr>
              <a:t>INPUT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65960" y="1956816"/>
            <a:ext cx="3840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8D8E8"/>
                </a:solidFill>
              </a:rPr>
              <a:t>3-Channel Grid (20×20)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" y="233172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556677"/>
                </a:solidFill>
              </a:rPr>
              <a:t>↓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761488"/>
            <a:ext cx="1371600" cy="41148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7200" y="2761488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0D1117"/>
                </a:solidFill>
              </a:rPr>
              <a:t>CONV ×3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65960" y="2798064"/>
            <a:ext cx="3840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8D8E8"/>
                </a:solidFill>
              </a:rPr>
              <a:t>3→32→64→64 kernels, ReLU activation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8992" y="3172968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556677"/>
                </a:solidFill>
              </a:rPr>
              <a:t>↓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3602736"/>
            <a:ext cx="1371600" cy="41148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57200" y="3602736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0D1117"/>
                </a:solidFill>
              </a:rPr>
              <a:t>LSTM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65960" y="3639312"/>
            <a:ext cx="3840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8D8E8"/>
                </a:solidFill>
              </a:rPr>
              <a:t>256 units, 128 hidden — temporal memory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78992" y="4014216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556677"/>
                </a:solidFill>
              </a:rPr>
              <a:t>↓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4443984"/>
            <a:ext cx="1371600" cy="411480"/>
          </a:xfrm>
          <a:prstGeom prst="rect">
            <a:avLst/>
          </a:prstGeom>
          <a:solidFill>
            <a:srgbClr val="FF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57200" y="4443984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0D1117"/>
                </a:solidFill>
              </a:rPr>
              <a:t>POLICY HEAD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965960" y="4480560"/>
            <a:ext cx="3840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8D8E8"/>
                </a:solidFill>
              </a:rPr>
              <a:t>5-action probability distribution (U/D/L/R/WAIT)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8992" y="4855464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556677"/>
                </a:solidFill>
              </a:rPr>
              <a:t>↓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5285232"/>
            <a:ext cx="1371600" cy="411480"/>
          </a:xfrm>
          <a:prstGeom prst="rect">
            <a:avLst/>
          </a:prstGeom>
          <a:solidFill>
            <a:srgbClr val="5566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57200" y="5285232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0D1117"/>
                </a:solidFill>
              </a:rPr>
              <a:t>VALUE HEAD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965960" y="5321808"/>
            <a:ext cx="3840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8D8E8"/>
                </a:solidFill>
              </a:rPr>
              <a:t>State value estimate for PPO critic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6126480"/>
            <a:ext cx="5120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56677"/>
                </a:solidFill>
              </a:rPr>
              <a:t>Why LSTM? Cameras rotate — the Solver needs memory to predict
when a camera will rotate away, creating a safe movement window.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55080" y="1261872"/>
            <a:ext cx="5577840" cy="5257800"/>
          </a:xfrm>
          <a:prstGeom prst="rect">
            <a:avLst/>
          </a:prstGeom>
          <a:solidFill>
            <a:srgbClr val="141E2E"/>
          </a:solidFill>
          <a:ln w="1270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537960" y="1389888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B4D8"/>
                </a:solidFill>
              </a:rPr>
              <a:t>🔒  Architect Network — 407K Parameters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37960" y="1783080"/>
            <a:ext cx="5120640" cy="2286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6537960" y="1920240"/>
            <a:ext cx="1371600" cy="41148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537960" y="1920240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0D1117"/>
                </a:solidFill>
              </a:rPr>
              <a:t>INPUT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01000" y="1956816"/>
            <a:ext cx="3840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8D8E8"/>
                </a:solidFill>
              </a:rPr>
              <a:t>1-Channel grid (start/vault/border)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178040" y="233172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556677"/>
                </a:solidFill>
              </a:rPr>
              <a:t>↓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537960" y="2761488"/>
            <a:ext cx="1371600" cy="41148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537960" y="2761488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0D1117"/>
                </a:solidFill>
              </a:rPr>
              <a:t>ENCODER ×3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01000" y="2798064"/>
            <a:ext cx="3840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8D8E8"/>
                </a:solidFill>
              </a:rPr>
              <a:t>1→32→64→128, ReLU — spatial compression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178040" y="3172968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556677"/>
                </a:solidFill>
              </a:rPr>
              <a:t>↓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37960" y="3602736"/>
            <a:ext cx="1371600" cy="411480"/>
          </a:xfrm>
          <a:prstGeom prst="rect">
            <a:avLst/>
          </a:prstGeom>
          <a:solidFill>
            <a:srgbClr val="FF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6537960" y="3602736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0D1117"/>
                </a:solidFill>
              </a:rPr>
              <a:t>DECODER ×3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001000" y="3639312"/>
            <a:ext cx="3840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8D8E8"/>
                </a:solidFill>
              </a:rPr>
              <a:t>128→64→32→3, ConvTranspose, Sigmoid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178040" y="4014216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556677"/>
                </a:solidFill>
              </a:rPr>
              <a:t>↓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537960" y="4443984"/>
            <a:ext cx="1371600" cy="41148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6537960" y="4443984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0D1117"/>
                </a:solidFill>
              </a:rPr>
              <a:t>PLACEMENT MAP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001000" y="4480560"/>
            <a:ext cx="3840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8D8E8"/>
                </a:solidFill>
              </a:rPr>
              <a:t>Per-tile probabilities: [wall, camera, guard]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178040" y="4855464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556677"/>
                </a:solidFill>
              </a:rPr>
              <a:t>↓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537960" y="5285232"/>
            <a:ext cx="1371600" cy="411480"/>
          </a:xfrm>
          <a:prstGeom prst="rect">
            <a:avLst/>
          </a:prstGeom>
          <a:solidFill>
            <a:srgbClr val="5566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6537960" y="5285232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0D1117"/>
                </a:solidFill>
              </a:rPr>
              <a:t>PARAM HEADS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001000" y="5321808"/>
            <a:ext cx="3840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8D8E8"/>
                </a:solidFill>
              </a:rPr>
              <a:t>Camera FOV, rotation speed, guard patrol paths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537960" y="6126480"/>
            <a:ext cx="5120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56677"/>
                </a:solidFill>
              </a:rPr>
              <a:t>Samples from probability distributions with temperature — higher temperature
creates chaotic, unpredictable layouts; lower temperature maximises confidence.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182880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6D6A0"/>
                </a:solidFill>
              </a:rPr>
              <a:t>PHASE I — Results: Local Training Run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777240"/>
            <a:ext cx="11338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C8D8E8"/>
                </a:solidFill>
              </a:rPr>
              <a:t>500 Episodes · 20×20 Grid · 126.5 min runtime · ResNet-Enhanced Architecture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115568"/>
            <a:ext cx="11365992" cy="2286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274320" y="1261872"/>
            <a:ext cx="2834640" cy="1051560"/>
          </a:xfrm>
          <a:prstGeom prst="rect">
            <a:avLst/>
          </a:prstGeom>
          <a:solidFill>
            <a:srgbClr val="141E2E"/>
          </a:solidFill>
          <a:ln w="1270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74320" y="1335024"/>
            <a:ext cx="28346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06D6A0"/>
                </a:solidFill>
              </a:rPr>
              <a:t>59.5%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1828800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56677"/>
                </a:solidFill>
              </a:rPr>
              <a:t>Final Solve Rate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46120" y="1261872"/>
            <a:ext cx="2834640" cy="1051560"/>
          </a:xfrm>
          <a:prstGeom prst="rect">
            <a:avLst/>
          </a:prstGeom>
          <a:solidFill>
            <a:srgbClr val="141E2E"/>
          </a:solidFill>
          <a:ln w="1270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246120" y="1335024"/>
            <a:ext cx="28346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476F"/>
                </a:solidFill>
              </a:rPr>
              <a:t>40.5%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46120" y="1828800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56677"/>
                </a:solidFill>
              </a:rPr>
              <a:t>Final Detection Rate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0" y="1261872"/>
            <a:ext cx="2834640" cy="1051560"/>
          </a:xfrm>
          <a:prstGeom prst="rect">
            <a:avLst/>
          </a:prstGeom>
          <a:solidFill>
            <a:srgbClr val="141E2E"/>
          </a:solidFill>
          <a:ln w="1270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217920" y="1335024"/>
            <a:ext cx="28346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00B4D8"/>
                </a:solidFill>
              </a:rPr>
              <a:t>0.335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1828800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56677"/>
                </a:solidFill>
              </a:rPr>
              <a:t>Avg Architect Reward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89720" y="1261872"/>
            <a:ext cx="2834640" cy="1051560"/>
          </a:xfrm>
          <a:prstGeom prst="rect">
            <a:avLst/>
          </a:prstGeom>
          <a:solidFill>
            <a:srgbClr val="141E2E"/>
          </a:solidFill>
          <a:ln w="1270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189720" y="1335024"/>
            <a:ext cx="28346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B700"/>
                </a:solidFill>
              </a:rPr>
              <a:t>7.813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89720" y="1828800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56677"/>
                </a:solidFill>
              </a:rPr>
              <a:t>Avg Solver Reward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2487168"/>
            <a:ext cx="11640312" cy="1024128"/>
          </a:xfrm>
          <a:prstGeom prst="rect">
            <a:avLst/>
          </a:prstGeom>
          <a:solidFill>
            <a:srgbClr val="141E2E"/>
          </a:solidFill>
          <a:ln w="1905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274320" y="2487168"/>
            <a:ext cx="73152" cy="102412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02920" y="2560320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B4D8"/>
                </a:solidFill>
              </a:rPr>
              <a:t>Phase I: Warmup &amp; Walls (Ep 1–80)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294436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8D8E8"/>
                </a:solidFill>
              </a:rPr>
              <a:t>Solver mastered open grid navigation by Episode 30 — reaching vault in 42 steps. With static walls, solve rate stayed at 100% (walls only deflect, not detect).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" y="3584448"/>
            <a:ext cx="11640312" cy="1024128"/>
          </a:xfrm>
          <a:prstGeom prst="rect">
            <a:avLst/>
          </a:prstGeom>
          <a:solidFill>
            <a:srgbClr val="141E2E"/>
          </a:solidFill>
          <a:ln w="19050">
            <a:solidFill>
              <a:srgbClr val="FFB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274320" y="3584448"/>
            <a:ext cx="73152" cy="1024128"/>
          </a:xfrm>
          <a:prstGeom prst="rect">
            <a:avLst/>
          </a:prstGeom>
          <a:solidFill>
            <a:srgbClr val="FF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02920" y="3657600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B700"/>
                </a:solidFill>
              </a:rPr>
              <a:t>Phase II: Cameras Added (Ep 81–200)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404164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8D8E8"/>
                </a:solidFill>
              </a:rPr>
              <a:t>Solve rate instantly plummeted to 45% at Ep 80. Within 10 episodes (Ep 90), LSTM memory learned to wait for camera rotation windows — solve rate restored to 100%.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4320" y="4681728"/>
            <a:ext cx="11640312" cy="1024128"/>
          </a:xfrm>
          <a:prstGeom prst="rect">
            <a:avLst/>
          </a:prstGeom>
          <a:solidFill>
            <a:srgbClr val="141E2E"/>
          </a:solidFill>
          <a:ln w="19050">
            <a:solidFill>
              <a:srgbClr val="FF47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274320" y="4681728"/>
            <a:ext cx="73152" cy="1024128"/>
          </a:xfrm>
          <a:prstGeom prst="rect">
            <a:avLst/>
          </a:prstGeom>
          <a:solidFill>
            <a:srgbClr val="FF4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02920" y="4754880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476F"/>
                </a:solidFill>
              </a:rPr>
              <a:t>Phase III: Guards Introduced (Ep 200–400)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513892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8D8E8"/>
                </a:solidFill>
              </a:rPr>
              <a:t>Catastrophic collapse: Solve Rate dropped to 0.00, Detection to 1.00. Chokepoints + guards = lethal traps. After 100 episodes of adaptation, Solver clawed back to 50/50 — Nash balance.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" y="5779008"/>
            <a:ext cx="11640312" cy="1024128"/>
          </a:xfrm>
          <a:prstGeom prst="rect">
            <a:avLst/>
          </a:prstGeom>
          <a:solidFill>
            <a:srgbClr val="141E2E"/>
          </a:solidFill>
          <a:ln w="19050">
            <a:solidFill>
              <a:srgbClr val="06D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274320" y="5779008"/>
            <a:ext cx="73152" cy="1024128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502920" y="5852160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D6A0"/>
                </a:solidFill>
              </a:rPr>
              <a:t>Phase IV: Expert Mode (Ep 400–500)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623620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8D8E8"/>
                </a:solidFill>
              </a:rPr>
              <a:t>Architect given maximum budget (22 pts). Win rate fluctuated wildly (5% at Ep 470, 100% at Ep 490). Final ~60% average against expert security — proves neural architecture is fully operational.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FF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182880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B700"/>
                </a:solidFill>
              </a:rPr>
              <a:t>PHASE II — Kaggle Cloud Scale-Up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777240"/>
            <a:ext cx="11338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C8D8E8"/>
                </a:solidFill>
              </a:rPr>
              <a:t>Dual NVIDIA Tesla T4 · 17,000 Episodes · Hugging Face Integration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115568"/>
            <a:ext cx="11365992" cy="2286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FF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274320" y="1261872"/>
            <a:ext cx="11640312" cy="1280160"/>
          </a:xfrm>
          <a:prstGeom prst="rect">
            <a:avLst/>
          </a:prstGeom>
          <a:solidFill>
            <a:srgbClr val="141E2E"/>
          </a:solidFill>
          <a:ln w="12700">
            <a:solidFill>
              <a:srgbClr val="FFB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1371600"/>
            <a:ext cx="11247120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 dirty="0">
                <a:solidFill>
                  <a:srgbClr val="C8D8E8"/>
                </a:solidFill>
              </a:rPr>
              <a:t>Phase I proved the framework works — agents learn, compete, and reach equilibrium in 500 episodes. </a:t>
            </a:r>
            <a:endParaRPr lang="en-US" sz="1250" b="0" i="0" dirty="0">
              <a:solidFill>
                <a:srgbClr val="C8D8E8"/>
              </a:solidFill>
            </a:endParaRPr>
          </a:p>
          <a:p>
            <a:pPr algn="l"/>
            <a:endParaRPr lang="en-US" sz="1250" dirty="0">
              <a:solidFill>
                <a:srgbClr val="C8D8E8"/>
              </a:solidFill>
            </a:endParaRPr>
          </a:p>
          <a:p>
            <a:pPr algn="l"/>
            <a:r>
              <a:rPr sz="1250" b="0" i="0" dirty="0">
                <a:solidFill>
                  <a:srgbClr val="C8D8E8"/>
                </a:solidFill>
              </a:rPr>
              <a:t>Phase II answers: what happens when we train 34× longer with cloud GPU acceleration? </a:t>
            </a:r>
            <a:endParaRPr lang="en-US" sz="1250" b="0" i="0" dirty="0">
              <a:solidFill>
                <a:srgbClr val="C8D8E8"/>
              </a:solidFill>
            </a:endParaRPr>
          </a:p>
          <a:p>
            <a:pPr algn="l"/>
            <a:r>
              <a:rPr lang="en-US" sz="1250" dirty="0">
                <a:solidFill>
                  <a:srgbClr val="C8D8E8"/>
                </a:solidFill>
              </a:rPr>
              <a:t>               </a:t>
            </a:r>
            <a:r>
              <a:rPr sz="1250" b="0" i="0" dirty="0">
                <a:solidFill>
                  <a:srgbClr val="C8D8E8"/>
                </a:solidFill>
              </a:rPr>
              <a:t>The answer revealed deep adversarial cycling — collapse, recovery, and strategic arms race dynamics impossible to observe in short local runs.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2743200"/>
            <a:ext cx="2231136" cy="1188466"/>
          </a:xfrm>
          <a:prstGeom prst="rect">
            <a:avLst/>
          </a:prstGeom>
          <a:solidFill>
            <a:srgbClr val="141E2E"/>
          </a:solidFill>
          <a:ln w="1270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274320" y="2743200"/>
            <a:ext cx="2231136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74320" y="2834640"/>
            <a:ext cx="223113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0B4D8"/>
                </a:solidFill>
              </a:rPr>
              <a:t>Scale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3291840"/>
            <a:ext cx="2048256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C8D8E8"/>
                </a:solidFill>
              </a:rPr>
              <a:t>17,000 episodes vs 500
(34× more training)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624327" y="3428746"/>
            <a:ext cx="2231136" cy="1225296"/>
          </a:xfrm>
          <a:prstGeom prst="rect">
            <a:avLst/>
          </a:prstGeom>
          <a:solidFill>
            <a:srgbClr val="141E2E"/>
          </a:solidFill>
          <a:ln w="12700">
            <a:solidFill>
              <a:srgbClr val="FFB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2624327" y="3428746"/>
            <a:ext cx="2231136" cy="73152"/>
          </a:xfrm>
          <a:prstGeom prst="rect">
            <a:avLst/>
          </a:prstGeom>
          <a:solidFill>
            <a:srgbClr val="FF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2624327" y="3520186"/>
            <a:ext cx="223113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B700"/>
                </a:solidFill>
              </a:rPr>
              <a:t>Hardware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15768" y="3977386"/>
            <a:ext cx="2048256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C8D8E8"/>
                </a:solidFill>
              </a:rPr>
              <a:t>Dual NVIDIA Tesla T4 GPUs
vs local CPU/single GPU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974336" y="2743200"/>
            <a:ext cx="2231136" cy="1656636"/>
          </a:xfrm>
          <a:prstGeom prst="rect">
            <a:avLst/>
          </a:prstGeom>
          <a:solidFill>
            <a:srgbClr val="141E2E"/>
          </a:solidFill>
          <a:ln w="12700">
            <a:solidFill>
              <a:srgbClr val="06D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4974336" y="2743200"/>
            <a:ext cx="2231136" cy="73152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974336" y="2834640"/>
            <a:ext cx="223113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6D6A0"/>
                </a:solidFill>
              </a:rPr>
              <a:t>Curriculum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65775" y="3291840"/>
            <a:ext cx="2048256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 dirty="0">
                <a:solidFill>
                  <a:srgbClr val="C8D8E8"/>
                </a:solidFill>
              </a:rPr>
              <a:t>4-stage:</a:t>
            </a:r>
            <a:endParaRPr lang="en-US" sz="1100" b="0" i="0" dirty="0">
              <a:solidFill>
                <a:srgbClr val="C8D8E8"/>
              </a:solidFill>
            </a:endParaRPr>
          </a:p>
          <a:p>
            <a:pPr algn="ctr"/>
            <a:r>
              <a:rPr sz="1100" b="0" i="0" dirty="0">
                <a:solidFill>
                  <a:srgbClr val="C8D8E8"/>
                </a:solidFill>
              </a:rPr>
              <a:t> </a:t>
            </a:r>
            <a:br>
              <a:rPr lang="en-US" sz="1100" b="0" i="0" dirty="0">
                <a:solidFill>
                  <a:srgbClr val="C8D8E8"/>
                </a:solidFill>
              </a:rPr>
            </a:br>
            <a:r>
              <a:rPr lang="en-IN" sz="1100" dirty="0">
                <a:solidFill>
                  <a:srgbClr val="C8D8E8"/>
                </a:solidFill>
              </a:rPr>
              <a:t>→ </a:t>
            </a:r>
            <a:r>
              <a:rPr sz="1100" b="0" i="0" dirty="0">
                <a:solidFill>
                  <a:srgbClr val="C8D8E8"/>
                </a:solidFill>
              </a:rPr>
              <a:t>Rookie </a:t>
            </a:r>
            <a:br>
              <a:rPr lang="en-US" sz="1100" b="0" i="0" dirty="0">
                <a:solidFill>
                  <a:srgbClr val="C8D8E8"/>
                </a:solidFill>
              </a:rPr>
            </a:br>
            <a:r>
              <a:rPr sz="1100" b="0" i="0" dirty="0">
                <a:solidFill>
                  <a:srgbClr val="C8D8E8"/>
                </a:solidFill>
              </a:rPr>
              <a:t>→ Intermediate
→ Expert </a:t>
            </a:r>
            <a:br>
              <a:rPr lang="en-US" sz="1100" b="0" i="0" dirty="0">
                <a:solidFill>
                  <a:srgbClr val="C8D8E8"/>
                </a:solidFill>
              </a:rPr>
            </a:br>
            <a:r>
              <a:rPr sz="1100" b="0" i="0" dirty="0">
                <a:solidFill>
                  <a:srgbClr val="C8D8E8"/>
                </a:solidFill>
              </a:rPr>
              <a:t>→ Master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24344" y="3465322"/>
            <a:ext cx="2231136" cy="1298448"/>
          </a:xfrm>
          <a:prstGeom prst="rect">
            <a:avLst/>
          </a:prstGeom>
          <a:solidFill>
            <a:srgbClr val="141E2E"/>
          </a:solidFill>
          <a:ln w="12700">
            <a:solidFill>
              <a:srgbClr val="FF47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7324344" y="3465322"/>
            <a:ext cx="2231136" cy="73152"/>
          </a:xfrm>
          <a:prstGeom prst="rect">
            <a:avLst/>
          </a:prstGeom>
          <a:solidFill>
            <a:srgbClr val="FF4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324344" y="3556762"/>
            <a:ext cx="223113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476F"/>
                </a:solidFill>
              </a:rPr>
              <a:t>ELO System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15783" y="4013962"/>
            <a:ext cx="2048256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C8D8E8"/>
                </a:solidFill>
              </a:rPr>
              <a:t>Real-time relative skill
tracking per episode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674352" y="2743200"/>
            <a:ext cx="2231136" cy="1042162"/>
          </a:xfrm>
          <a:prstGeom prst="rect">
            <a:avLst/>
          </a:prstGeom>
          <a:solidFill>
            <a:srgbClr val="141E2E"/>
          </a:solidFill>
          <a:ln w="1270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9674352" y="2743200"/>
            <a:ext cx="2231136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9674352" y="2834640"/>
            <a:ext cx="223113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0B4D8"/>
                </a:solidFill>
              </a:rPr>
              <a:t>Cloud Storage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65792" y="3291840"/>
            <a:ext cx="2048256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C8D8E8"/>
                </a:solidFill>
              </a:rPr>
              <a:t>Checkpoints auto-synced
to Hugging Face every 500 ep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4956048"/>
            <a:ext cx="11640312" cy="1572768"/>
          </a:xfrm>
          <a:prstGeom prst="rect">
            <a:avLst/>
          </a:prstGeom>
          <a:solidFill>
            <a:srgbClr val="102230"/>
          </a:solidFill>
          <a:ln w="1270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57200" y="5074920"/>
            <a:ext cx="11247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B4D8"/>
                </a:solidFill>
              </a:rPr>
              <a:t>⚡  Key Insight from Phase II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544068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8D8E8"/>
                </a:solidFill>
              </a:rPr>
              <a:t>The training history is not a smooth curve — it is evidence of adversarial cycling. The Solver dominated early, collapsed twice under Architect pressure, and recovered twice. This collapse-recovery pattern is the theoretical signature of adversarial co-adaptation, not a training failure. Final best checkpoint (ep17000): Robber win-rate 1.00, ELO +1093.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182880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6D6A0"/>
                </a:solidFill>
              </a:rPr>
              <a:t>Phase II — Advanced Methodologies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777240"/>
            <a:ext cx="11338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C8D8E8"/>
                </a:solidFill>
              </a:rPr>
              <a:t>Architectural Anatomy and PPO Engine Mechanics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115568"/>
            <a:ext cx="11365992" cy="2286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274320" y="1261872"/>
            <a:ext cx="7894320" cy="1554480"/>
          </a:xfrm>
          <a:prstGeom prst="rect">
            <a:avLst/>
          </a:prstGeom>
          <a:solidFill>
            <a:srgbClr val="141E2E"/>
          </a:solidFill>
          <a:ln w="1270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13716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B4D8"/>
                </a:solidFill>
              </a:rPr>
              <a:t>🔒 The Architect's Anatomy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173736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8D8E8"/>
                </a:solidFill>
              </a:rPr>
              <a:t>• Explicitly engineered with an 8.5M parameter ResNet + Group Normalization backbone.
• Leverages a 512-dimensional LSTM hidden state to map decision branching over a dense 400-cell grid matrix.
• Avoids standard DataParallel computations via True Split Asynchronous Deployment on dedicated cuda:0.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270000" y="2944368"/>
            <a:ext cx="8829040" cy="1554480"/>
          </a:xfrm>
          <a:prstGeom prst="rect">
            <a:avLst/>
          </a:prstGeom>
          <a:solidFill>
            <a:srgbClr val="141E2E"/>
          </a:solidFill>
          <a:ln w="12700">
            <a:solidFill>
              <a:srgbClr val="FFB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452880" y="3035808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 dirty="0">
                <a:solidFill>
                  <a:srgbClr val="FFB700"/>
                </a:solidFill>
              </a:rPr>
              <a:t>🕵️ The Robber's Anatomy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52880" y="3401568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8D8E8"/>
                </a:solidFill>
              </a:rPr>
              <a:t>• Processes 12-channel spatial tensor inputs (tracking normalized geodesic distances and danger zones).
• Replaces simple CNNs passing with a 512-parameter LSTM (7M parameters total) to track temporal guard sequences.
• Detaches hidden states across continuous timesteps to construct a reliable memory of rotating camera phases.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397760" y="4681728"/>
            <a:ext cx="9516872" cy="1554480"/>
          </a:xfrm>
          <a:prstGeom prst="rect">
            <a:avLst/>
          </a:prstGeom>
          <a:solidFill>
            <a:srgbClr val="1A1A24"/>
          </a:solidFill>
          <a:ln w="12700">
            <a:solidFill>
              <a:srgbClr val="FF47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2580640" y="4800600"/>
            <a:ext cx="919540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476F"/>
                </a:solidFill>
              </a:rPr>
              <a:t>⚙️ Core Engine Mechanics (PPO)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80640" y="5166360"/>
            <a:ext cx="919540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8D8E8"/>
                </a:solidFill>
              </a:rPr>
              <a:t>• Utilizes Proximal Policy Optimization (PPO) with Generalized Advantage Estimation (λ = 0.95, γ = 0.99).
• Enforces a clipped surrogate objective (ϵ = 0.2) to prevent catastrophic network self-destruction during updates.
• Applies entropy regularization (coef = 0.02) to actively circumvent Strategy Collapse and avoid boring Nash Equilibria.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FF4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182880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476F"/>
                </a:solidFill>
              </a:rPr>
              <a:t>Training Dynamics — Collapse &amp; Recovery Cycles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777240"/>
            <a:ext cx="11338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C8D8E8"/>
                </a:solidFill>
              </a:rPr>
              <a:t>17,000 episodes of adversarial co-adaptation across 5 distinct phases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115568"/>
            <a:ext cx="11365992" cy="2286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FF4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274320" y="1261872"/>
            <a:ext cx="1280160" cy="384048"/>
          </a:xfrm>
          <a:prstGeom prst="rect">
            <a:avLst/>
          </a:prstGeom>
          <a:solidFill>
            <a:srgbClr val="FF4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74320" y="1261872"/>
            <a:ext cx="1280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D1117"/>
                </a:solidFill>
              </a:rPr>
              <a:t>Episode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45920" y="1261872"/>
            <a:ext cx="1097280" cy="384048"/>
          </a:xfrm>
          <a:prstGeom prst="rect">
            <a:avLst/>
          </a:prstGeom>
          <a:solidFill>
            <a:srgbClr val="FF4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645920" y="1261872"/>
            <a:ext cx="1097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D1117"/>
                </a:solidFill>
              </a:rPr>
              <a:t>Stage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88920" y="1261872"/>
            <a:ext cx="1005840" cy="384048"/>
          </a:xfrm>
          <a:prstGeom prst="rect">
            <a:avLst/>
          </a:prstGeom>
          <a:solidFill>
            <a:srgbClr val="FF4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788920" y="1261872"/>
            <a:ext cx="1005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D1117"/>
                </a:solidFill>
              </a:rPr>
              <a:t>Win Rate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840480" y="1261872"/>
            <a:ext cx="1188720" cy="384048"/>
          </a:xfrm>
          <a:prstGeom prst="rect">
            <a:avLst/>
          </a:prstGeom>
          <a:solidFill>
            <a:srgbClr val="FF4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840480" y="1261872"/>
            <a:ext cx="1188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D1117"/>
                </a:solidFill>
              </a:rPr>
              <a:t>ELO Diff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20640" y="1261872"/>
            <a:ext cx="6583680" cy="384048"/>
          </a:xfrm>
          <a:prstGeom prst="rect">
            <a:avLst/>
          </a:prstGeom>
          <a:solidFill>
            <a:srgbClr val="FF4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120640" y="1261872"/>
            <a:ext cx="6583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D1117"/>
                </a:solidFill>
              </a:rPr>
              <a:t>Interpretation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1691640"/>
            <a:ext cx="1280160" cy="420624"/>
          </a:xfrm>
          <a:prstGeom prst="rect">
            <a:avLst/>
          </a:prstGeom>
          <a:solidFill>
            <a:srgbClr val="141E2E"/>
          </a:solidFill>
          <a:ln w="3810">
            <a:solidFill>
              <a:srgbClr val="5566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20040" y="1719072"/>
            <a:ext cx="118871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C8D8E8"/>
                </a:solidFill>
              </a:rPr>
              <a:t>Ep 50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645920" y="1691640"/>
            <a:ext cx="1097280" cy="420624"/>
          </a:xfrm>
          <a:prstGeom prst="rect">
            <a:avLst/>
          </a:prstGeom>
          <a:solidFill>
            <a:srgbClr val="141E2E"/>
          </a:solidFill>
          <a:ln w="3810">
            <a:solidFill>
              <a:srgbClr val="5566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691640" y="1719072"/>
            <a:ext cx="10058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C8D8E8"/>
                </a:solidFill>
              </a:rPr>
              <a:t>Rookie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88920" y="1691640"/>
            <a:ext cx="1005840" cy="420624"/>
          </a:xfrm>
          <a:prstGeom prst="rect">
            <a:avLst/>
          </a:prstGeom>
          <a:solidFill>
            <a:srgbClr val="141E2E"/>
          </a:solidFill>
          <a:ln w="3810">
            <a:solidFill>
              <a:srgbClr val="5566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2834639" y="1719072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06D6A0"/>
                </a:solidFill>
              </a:rPr>
              <a:t>0.96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840480" y="1691640"/>
            <a:ext cx="1188720" cy="420624"/>
          </a:xfrm>
          <a:prstGeom prst="rect">
            <a:avLst/>
          </a:prstGeom>
          <a:solidFill>
            <a:srgbClr val="141E2E"/>
          </a:solidFill>
          <a:ln w="3810">
            <a:solidFill>
              <a:srgbClr val="5566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3886200" y="1719072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06D6A0"/>
                </a:solidFill>
              </a:rPr>
              <a:t>+477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120640" y="1691640"/>
            <a:ext cx="6583680" cy="420624"/>
          </a:xfrm>
          <a:prstGeom prst="rect">
            <a:avLst/>
          </a:prstGeom>
          <a:solidFill>
            <a:srgbClr val="141E2E"/>
          </a:solidFill>
          <a:ln w="3810">
            <a:solidFill>
              <a:srgbClr val="5566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166359" y="1719072"/>
            <a:ext cx="6492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C8D8E8"/>
                </a:solidFill>
              </a:rPr>
              <a:t>Solver starts strong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4320" y="2139696"/>
            <a:ext cx="1280160" cy="420624"/>
          </a:xfrm>
          <a:prstGeom prst="rect">
            <a:avLst/>
          </a:prstGeom>
          <a:solidFill>
            <a:srgbClr val="101828"/>
          </a:solidFill>
          <a:ln w="3810">
            <a:solidFill>
              <a:srgbClr val="5566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320040" y="2167127"/>
            <a:ext cx="118871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C8D8E8"/>
                </a:solidFill>
              </a:rPr>
              <a:t>Ep 200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645920" y="2139696"/>
            <a:ext cx="1097280" cy="420624"/>
          </a:xfrm>
          <a:prstGeom prst="rect">
            <a:avLst/>
          </a:prstGeom>
          <a:solidFill>
            <a:srgbClr val="101828"/>
          </a:solidFill>
          <a:ln w="3810">
            <a:solidFill>
              <a:srgbClr val="5566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1691640" y="2167127"/>
            <a:ext cx="10058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C8D8E8"/>
                </a:solidFill>
              </a:rPr>
              <a:t>Expert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88920" y="2139696"/>
            <a:ext cx="1005840" cy="420624"/>
          </a:xfrm>
          <a:prstGeom prst="rect">
            <a:avLst/>
          </a:prstGeom>
          <a:solidFill>
            <a:srgbClr val="101828"/>
          </a:solidFill>
          <a:ln w="3810">
            <a:solidFill>
              <a:srgbClr val="5566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2834639" y="2167127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06D6A0"/>
                </a:solidFill>
              </a:rPr>
              <a:t>1.00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840480" y="2139696"/>
            <a:ext cx="1188720" cy="420624"/>
          </a:xfrm>
          <a:prstGeom prst="rect">
            <a:avLst/>
          </a:prstGeom>
          <a:solidFill>
            <a:srgbClr val="101828"/>
          </a:solidFill>
          <a:ln w="3810">
            <a:solidFill>
              <a:srgbClr val="5566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3886200" y="2167127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06D6A0"/>
                </a:solidFill>
              </a:rPr>
              <a:t>+737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120640" y="2139696"/>
            <a:ext cx="6583680" cy="420624"/>
          </a:xfrm>
          <a:prstGeom prst="rect">
            <a:avLst/>
          </a:prstGeom>
          <a:solidFill>
            <a:srgbClr val="101828"/>
          </a:solidFill>
          <a:ln w="3810">
            <a:solidFill>
              <a:srgbClr val="5566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5166359" y="2167127"/>
            <a:ext cx="6492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C8D8E8"/>
                </a:solidFill>
              </a:rPr>
              <a:t>Solver generalises quickly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74320" y="2587752"/>
            <a:ext cx="1280160" cy="420624"/>
          </a:xfrm>
          <a:prstGeom prst="rect">
            <a:avLst/>
          </a:prstGeom>
          <a:solidFill>
            <a:srgbClr val="141E2E"/>
          </a:solidFill>
          <a:ln w="3810">
            <a:solidFill>
              <a:srgbClr val="5566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320040" y="2615184"/>
            <a:ext cx="118871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C8D8E8"/>
                </a:solidFill>
              </a:rPr>
              <a:t>Ep 300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645920" y="2587752"/>
            <a:ext cx="1097280" cy="420624"/>
          </a:xfrm>
          <a:prstGeom prst="rect">
            <a:avLst/>
          </a:prstGeom>
          <a:solidFill>
            <a:srgbClr val="141E2E"/>
          </a:solidFill>
          <a:ln w="3810">
            <a:solidFill>
              <a:srgbClr val="5566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1691640" y="2615184"/>
            <a:ext cx="10058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C8D8E8"/>
                </a:solidFill>
              </a:rPr>
              <a:t>Master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788920" y="2587752"/>
            <a:ext cx="1005840" cy="420624"/>
          </a:xfrm>
          <a:prstGeom prst="rect">
            <a:avLst/>
          </a:prstGeom>
          <a:solidFill>
            <a:srgbClr val="141E2E"/>
          </a:solidFill>
          <a:ln w="3810">
            <a:solidFill>
              <a:srgbClr val="5566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2834639" y="2615184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06D6A0"/>
                </a:solidFill>
              </a:rPr>
              <a:t>1.00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840480" y="2587752"/>
            <a:ext cx="1188720" cy="420624"/>
          </a:xfrm>
          <a:prstGeom prst="rect">
            <a:avLst/>
          </a:prstGeom>
          <a:solidFill>
            <a:srgbClr val="141E2E"/>
          </a:solidFill>
          <a:ln w="3810">
            <a:solidFill>
              <a:srgbClr val="5566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3886200" y="2615184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06D6A0"/>
                </a:solidFill>
              </a:rPr>
              <a:t>+810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120640" y="2587752"/>
            <a:ext cx="6583680" cy="420624"/>
          </a:xfrm>
          <a:prstGeom prst="rect">
            <a:avLst/>
          </a:prstGeom>
          <a:solidFill>
            <a:srgbClr val="141E2E"/>
          </a:solidFill>
          <a:ln w="3810">
            <a:solidFill>
              <a:srgbClr val="5566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5166359" y="2615184"/>
            <a:ext cx="6492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C8D8E8"/>
                </a:solidFill>
              </a:rPr>
              <a:t>Peaks at hardest curriculum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74320" y="3035808"/>
            <a:ext cx="1280160" cy="420624"/>
          </a:xfrm>
          <a:prstGeom prst="rect">
            <a:avLst/>
          </a:prstGeom>
          <a:solidFill>
            <a:srgbClr val="101828"/>
          </a:solidFill>
          <a:ln w="3810">
            <a:solidFill>
              <a:srgbClr val="5566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320040" y="3063240"/>
            <a:ext cx="118871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C8D8E8"/>
                </a:solidFill>
              </a:rPr>
              <a:t>Ep 1750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645920" y="3035808"/>
            <a:ext cx="1097280" cy="420624"/>
          </a:xfrm>
          <a:prstGeom prst="rect">
            <a:avLst/>
          </a:prstGeom>
          <a:solidFill>
            <a:srgbClr val="101828"/>
          </a:solidFill>
          <a:ln w="3810">
            <a:solidFill>
              <a:srgbClr val="5566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1691640" y="3063240"/>
            <a:ext cx="10058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C8D8E8"/>
                </a:solidFill>
              </a:rPr>
              <a:t>Master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788920" y="3035808"/>
            <a:ext cx="1005840" cy="420624"/>
          </a:xfrm>
          <a:prstGeom prst="rect">
            <a:avLst/>
          </a:prstGeom>
          <a:solidFill>
            <a:srgbClr val="101828"/>
          </a:solidFill>
          <a:ln w="3810">
            <a:solidFill>
              <a:srgbClr val="5566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2834639" y="3063240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B700"/>
                </a:solidFill>
              </a:rPr>
              <a:t>0.59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840480" y="3035808"/>
            <a:ext cx="1188720" cy="420624"/>
          </a:xfrm>
          <a:prstGeom prst="rect">
            <a:avLst/>
          </a:prstGeom>
          <a:solidFill>
            <a:srgbClr val="101828"/>
          </a:solidFill>
          <a:ln w="3810">
            <a:solidFill>
              <a:srgbClr val="5566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3886200" y="3063240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B700"/>
                </a:solidFill>
              </a:rPr>
              <a:t>-381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120640" y="3035808"/>
            <a:ext cx="6583680" cy="420624"/>
          </a:xfrm>
          <a:prstGeom prst="rect">
            <a:avLst/>
          </a:prstGeom>
          <a:solidFill>
            <a:srgbClr val="101828"/>
          </a:solidFill>
          <a:ln w="3810">
            <a:solidFill>
              <a:srgbClr val="5566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5166359" y="3063240"/>
            <a:ext cx="6492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C8D8E8"/>
                </a:solidFill>
              </a:rPr>
              <a:t>First collapse begins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74320" y="3483864"/>
            <a:ext cx="1280160" cy="420624"/>
          </a:xfrm>
          <a:prstGeom prst="rect">
            <a:avLst/>
          </a:prstGeom>
          <a:solidFill>
            <a:srgbClr val="141E2E"/>
          </a:solidFill>
          <a:ln w="3810">
            <a:solidFill>
              <a:srgbClr val="5566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320040" y="3511296"/>
            <a:ext cx="118871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C8D8E8"/>
                </a:solidFill>
              </a:rPr>
              <a:t>Ep 2950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645920" y="3483864"/>
            <a:ext cx="1097280" cy="420624"/>
          </a:xfrm>
          <a:prstGeom prst="rect">
            <a:avLst/>
          </a:prstGeom>
          <a:solidFill>
            <a:srgbClr val="141E2E"/>
          </a:solidFill>
          <a:ln w="3810">
            <a:solidFill>
              <a:srgbClr val="5566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1691640" y="3511296"/>
            <a:ext cx="10058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C8D8E8"/>
                </a:solidFill>
              </a:rPr>
              <a:t>Master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788920" y="3483864"/>
            <a:ext cx="1005840" cy="420624"/>
          </a:xfrm>
          <a:prstGeom prst="rect">
            <a:avLst/>
          </a:prstGeom>
          <a:solidFill>
            <a:srgbClr val="141E2E"/>
          </a:solidFill>
          <a:ln w="3810">
            <a:solidFill>
              <a:srgbClr val="5566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2834639" y="3511296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476F"/>
                </a:solidFill>
              </a:rPr>
              <a:t>0.00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840480" y="3483864"/>
            <a:ext cx="1188720" cy="420624"/>
          </a:xfrm>
          <a:prstGeom prst="rect">
            <a:avLst/>
          </a:prstGeom>
          <a:solidFill>
            <a:srgbClr val="141E2E"/>
          </a:solidFill>
          <a:ln w="3810">
            <a:solidFill>
              <a:srgbClr val="5566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3886200" y="3511296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476F"/>
                </a:solidFill>
              </a:rPr>
              <a:t>-1060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120640" y="3483864"/>
            <a:ext cx="6583680" cy="420624"/>
          </a:xfrm>
          <a:prstGeom prst="rect">
            <a:avLst/>
          </a:prstGeom>
          <a:solidFill>
            <a:srgbClr val="141E2E"/>
          </a:solidFill>
          <a:ln w="3810">
            <a:solidFill>
              <a:srgbClr val="5566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5166359" y="3511296"/>
            <a:ext cx="6492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C8D8E8"/>
                </a:solidFill>
              </a:rPr>
              <a:t>First collapse low point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74320" y="3931920"/>
            <a:ext cx="1280160" cy="420624"/>
          </a:xfrm>
          <a:prstGeom prst="rect">
            <a:avLst/>
          </a:prstGeom>
          <a:solidFill>
            <a:srgbClr val="101828"/>
          </a:solidFill>
          <a:ln w="3810">
            <a:solidFill>
              <a:srgbClr val="5566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320040" y="3959352"/>
            <a:ext cx="118871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C8D8E8"/>
                </a:solidFill>
              </a:rPr>
              <a:t>Ep 3000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1645920" y="3931920"/>
            <a:ext cx="1097280" cy="420624"/>
          </a:xfrm>
          <a:prstGeom prst="rect">
            <a:avLst/>
          </a:prstGeom>
          <a:solidFill>
            <a:srgbClr val="101828"/>
          </a:solidFill>
          <a:ln w="3810">
            <a:solidFill>
              <a:srgbClr val="5566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1691640" y="3959352"/>
            <a:ext cx="10058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C8D8E8"/>
                </a:solidFill>
              </a:rPr>
              <a:t>Master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788920" y="3931920"/>
            <a:ext cx="1005840" cy="420624"/>
          </a:xfrm>
          <a:prstGeom prst="rect">
            <a:avLst/>
          </a:prstGeom>
          <a:solidFill>
            <a:srgbClr val="101828"/>
          </a:solidFill>
          <a:ln w="3810">
            <a:solidFill>
              <a:srgbClr val="5566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/>
          <p:cNvSpPr txBox="1"/>
          <p:nvPr/>
        </p:nvSpPr>
        <p:spPr>
          <a:xfrm>
            <a:off x="2834639" y="3959352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B700"/>
                </a:solidFill>
              </a:rPr>
              <a:t>0.28</a:t>
            </a:r>
          </a:p>
        </p:txBody>
      </p:sp>
      <p:sp>
        <p:nvSpPr>
          <p:cNvPr id="74" name="Rectangle 73"/>
          <p:cNvSpPr/>
          <p:nvPr/>
        </p:nvSpPr>
        <p:spPr>
          <a:xfrm>
            <a:off x="3840480" y="3931920"/>
            <a:ext cx="1188720" cy="420624"/>
          </a:xfrm>
          <a:prstGeom prst="rect">
            <a:avLst/>
          </a:prstGeom>
          <a:solidFill>
            <a:srgbClr val="101828"/>
          </a:solidFill>
          <a:ln w="3810">
            <a:solidFill>
              <a:srgbClr val="5566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TextBox 74"/>
          <p:cNvSpPr txBox="1"/>
          <p:nvPr/>
        </p:nvSpPr>
        <p:spPr>
          <a:xfrm>
            <a:off x="3886200" y="3959352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B700"/>
                </a:solidFill>
              </a:rPr>
              <a:t>+206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120640" y="3931920"/>
            <a:ext cx="6583680" cy="420624"/>
          </a:xfrm>
          <a:prstGeom prst="rect">
            <a:avLst/>
          </a:prstGeom>
          <a:solidFill>
            <a:srgbClr val="101828"/>
          </a:solidFill>
          <a:ln w="3810">
            <a:solidFill>
              <a:srgbClr val="5566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76"/>
          <p:cNvSpPr txBox="1"/>
          <p:nvPr/>
        </p:nvSpPr>
        <p:spPr>
          <a:xfrm>
            <a:off x="5166359" y="3959352"/>
            <a:ext cx="6492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C8D8E8"/>
                </a:solidFill>
              </a:rPr>
              <a:t>Recovery begins</a:t>
            </a:r>
          </a:p>
        </p:txBody>
      </p:sp>
      <p:sp>
        <p:nvSpPr>
          <p:cNvPr id="78" name="Rectangle 77"/>
          <p:cNvSpPr/>
          <p:nvPr/>
        </p:nvSpPr>
        <p:spPr>
          <a:xfrm>
            <a:off x="274320" y="4379976"/>
            <a:ext cx="1280160" cy="420624"/>
          </a:xfrm>
          <a:prstGeom prst="rect">
            <a:avLst/>
          </a:prstGeom>
          <a:solidFill>
            <a:srgbClr val="141E2E"/>
          </a:solidFill>
          <a:ln w="3810">
            <a:solidFill>
              <a:srgbClr val="5566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TextBox 78"/>
          <p:cNvSpPr txBox="1"/>
          <p:nvPr/>
        </p:nvSpPr>
        <p:spPr>
          <a:xfrm>
            <a:off x="320040" y="4407408"/>
            <a:ext cx="118871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C8D8E8"/>
                </a:solidFill>
              </a:rPr>
              <a:t>Ep 5350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645920" y="4379976"/>
            <a:ext cx="1097280" cy="420624"/>
          </a:xfrm>
          <a:prstGeom prst="rect">
            <a:avLst/>
          </a:prstGeom>
          <a:solidFill>
            <a:srgbClr val="141E2E"/>
          </a:solidFill>
          <a:ln w="3810">
            <a:solidFill>
              <a:srgbClr val="5566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TextBox 80"/>
          <p:cNvSpPr txBox="1"/>
          <p:nvPr/>
        </p:nvSpPr>
        <p:spPr>
          <a:xfrm>
            <a:off x="1691640" y="4407408"/>
            <a:ext cx="10058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C8D8E8"/>
                </a:solidFill>
              </a:rPr>
              <a:t>Master</a:t>
            </a:r>
          </a:p>
        </p:txBody>
      </p:sp>
      <p:sp>
        <p:nvSpPr>
          <p:cNvPr id="82" name="Rectangle 81"/>
          <p:cNvSpPr/>
          <p:nvPr/>
        </p:nvSpPr>
        <p:spPr>
          <a:xfrm>
            <a:off x="2788920" y="4379976"/>
            <a:ext cx="1005840" cy="420624"/>
          </a:xfrm>
          <a:prstGeom prst="rect">
            <a:avLst/>
          </a:prstGeom>
          <a:solidFill>
            <a:srgbClr val="141E2E"/>
          </a:solidFill>
          <a:ln w="3810">
            <a:solidFill>
              <a:srgbClr val="5566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TextBox 82"/>
          <p:cNvSpPr txBox="1"/>
          <p:nvPr/>
        </p:nvSpPr>
        <p:spPr>
          <a:xfrm>
            <a:off x="2834639" y="4407408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06D6A0"/>
                </a:solidFill>
              </a:rPr>
              <a:t>1.00</a:t>
            </a:r>
          </a:p>
        </p:txBody>
      </p:sp>
      <p:sp>
        <p:nvSpPr>
          <p:cNvPr id="84" name="Rectangle 83"/>
          <p:cNvSpPr/>
          <p:nvPr/>
        </p:nvSpPr>
        <p:spPr>
          <a:xfrm>
            <a:off x="3840480" y="4379976"/>
            <a:ext cx="1188720" cy="420624"/>
          </a:xfrm>
          <a:prstGeom prst="rect">
            <a:avLst/>
          </a:prstGeom>
          <a:solidFill>
            <a:srgbClr val="141E2E"/>
          </a:solidFill>
          <a:ln w="3810">
            <a:solidFill>
              <a:srgbClr val="5566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TextBox 84"/>
          <p:cNvSpPr txBox="1"/>
          <p:nvPr/>
        </p:nvSpPr>
        <p:spPr>
          <a:xfrm>
            <a:off x="3886200" y="4407408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06D6A0"/>
                </a:solidFill>
              </a:rPr>
              <a:t>+994</a:t>
            </a:r>
          </a:p>
        </p:txBody>
      </p:sp>
      <p:sp>
        <p:nvSpPr>
          <p:cNvPr id="86" name="Rectangle 85"/>
          <p:cNvSpPr/>
          <p:nvPr/>
        </p:nvSpPr>
        <p:spPr>
          <a:xfrm>
            <a:off x="5120640" y="4379976"/>
            <a:ext cx="6583680" cy="420624"/>
          </a:xfrm>
          <a:prstGeom prst="rect">
            <a:avLst/>
          </a:prstGeom>
          <a:solidFill>
            <a:srgbClr val="141E2E"/>
          </a:solidFill>
          <a:ln w="3810">
            <a:solidFill>
              <a:srgbClr val="5566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TextBox 86"/>
          <p:cNvSpPr txBox="1"/>
          <p:nvPr/>
        </p:nvSpPr>
        <p:spPr>
          <a:xfrm>
            <a:off x="5166359" y="4407408"/>
            <a:ext cx="6492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C8D8E8"/>
                </a:solidFill>
              </a:rPr>
              <a:t>High-performance peak</a:t>
            </a:r>
          </a:p>
        </p:txBody>
      </p:sp>
      <p:sp>
        <p:nvSpPr>
          <p:cNvPr id="88" name="Rectangle 87"/>
          <p:cNvSpPr/>
          <p:nvPr/>
        </p:nvSpPr>
        <p:spPr>
          <a:xfrm>
            <a:off x="274320" y="4828031"/>
            <a:ext cx="1280160" cy="420624"/>
          </a:xfrm>
          <a:prstGeom prst="rect">
            <a:avLst/>
          </a:prstGeom>
          <a:solidFill>
            <a:srgbClr val="101828"/>
          </a:solidFill>
          <a:ln w="3810">
            <a:solidFill>
              <a:srgbClr val="5566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TextBox 88"/>
          <p:cNvSpPr txBox="1"/>
          <p:nvPr/>
        </p:nvSpPr>
        <p:spPr>
          <a:xfrm>
            <a:off x="320040" y="4855464"/>
            <a:ext cx="118871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C8D8E8"/>
                </a:solidFill>
              </a:rPr>
              <a:t>Ep 10200</a:t>
            </a:r>
          </a:p>
        </p:txBody>
      </p:sp>
      <p:sp>
        <p:nvSpPr>
          <p:cNvPr id="90" name="Rectangle 89"/>
          <p:cNvSpPr/>
          <p:nvPr/>
        </p:nvSpPr>
        <p:spPr>
          <a:xfrm>
            <a:off x="1645920" y="4828031"/>
            <a:ext cx="1097280" cy="420624"/>
          </a:xfrm>
          <a:prstGeom prst="rect">
            <a:avLst/>
          </a:prstGeom>
          <a:solidFill>
            <a:srgbClr val="101828"/>
          </a:solidFill>
          <a:ln w="3810">
            <a:solidFill>
              <a:srgbClr val="5566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TextBox 90"/>
          <p:cNvSpPr txBox="1"/>
          <p:nvPr/>
        </p:nvSpPr>
        <p:spPr>
          <a:xfrm>
            <a:off x="1691640" y="4855464"/>
            <a:ext cx="10058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C8D8E8"/>
                </a:solidFill>
              </a:rPr>
              <a:t>Master</a:t>
            </a:r>
          </a:p>
        </p:txBody>
      </p:sp>
      <p:sp>
        <p:nvSpPr>
          <p:cNvPr id="92" name="Rectangle 91"/>
          <p:cNvSpPr/>
          <p:nvPr/>
        </p:nvSpPr>
        <p:spPr>
          <a:xfrm>
            <a:off x="2788920" y="4828031"/>
            <a:ext cx="1005840" cy="420624"/>
          </a:xfrm>
          <a:prstGeom prst="rect">
            <a:avLst/>
          </a:prstGeom>
          <a:solidFill>
            <a:srgbClr val="101828"/>
          </a:solidFill>
          <a:ln w="3810">
            <a:solidFill>
              <a:srgbClr val="5566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TextBox 92"/>
          <p:cNvSpPr txBox="1"/>
          <p:nvPr/>
        </p:nvSpPr>
        <p:spPr>
          <a:xfrm>
            <a:off x="2834639" y="4855464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B700"/>
                </a:solidFill>
              </a:rPr>
              <a:t>0.55</a:t>
            </a:r>
          </a:p>
        </p:txBody>
      </p:sp>
      <p:sp>
        <p:nvSpPr>
          <p:cNvPr id="94" name="Rectangle 93"/>
          <p:cNvSpPr/>
          <p:nvPr/>
        </p:nvSpPr>
        <p:spPr>
          <a:xfrm>
            <a:off x="3840480" y="4828031"/>
            <a:ext cx="1188720" cy="420624"/>
          </a:xfrm>
          <a:prstGeom prst="rect">
            <a:avLst/>
          </a:prstGeom>
          <a:solidFill>
            <a:srgbClr val="101828"/>
          </a:solidFill>
          <a:ln w="3810">
            <a:solidFill>
              <a:srgbClr val="5566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TextBox 94"/>
          <p:cNvSpPr txBox="1"/>
          <p:nvPr/>
        </p:nvSpPr>
        <p:spPr>
          <a:xfrm>
            <a:off x="3886200" y="4855464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B700"/>
                </a:solidFill>
              </a:rPr>
              <a:t>-382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120640" y="4828031"/>
            <a:ext cx="6583680" cy="420624"/>
          </a:xfrm>
          <a:prstGeom prst="rect">
            <a:avLst/>
          </a:prstGeom>
          <a:solidFill>
            <a:srgbClr val="101828"/>
          </a:solidFill>
          <a:ln w="3810">
            <a:solidFill>
              <a:srgbClr val="5566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TextBox 96"/>
          <p:cNvSpPr txBox="1"/>
          <p:nvPr/>
        </p:nvSpPr>
        <p:spPr>
          <a:xfrm>
            <a:off x="5166359" y="4855464"/>
            <a:ext cx="6492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C8D8E8"/>
                </a:solidFill>
              </a:rPr>
              <a:t>Second collapse begins</a:t>
            </a:r>
          </a:p>
        </p:txBody>
      </p:sp>
      <p:sp>
        <p:nvSpPr>
          <p:cNvPr id="98" name="Rectangle 97"/>
          <p:cNvSpPr/>
          <p:nvPr/>
        </p:nvSpPr>
        <p:spPr>
          <a:xfrm>
            <a:off x="274320" y="5276088"/>
            <a:ext cx="1280160" cy="420624"/>
          </a:xfrm>
          <a:prstGeom prst="rect">
            <a:avLst/>
          </a:prstGeom>
          <a:solidFill>
            <a:srgbClr val="141E2E"/>
          </a:solidFill>
          <a:ln w="3810">
            <a:solidFill>
              <a:srgbClr val="5566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TextBox 98"/>
          <p:cNvSpPr txBox="1"/>
          <p:nvPr/>
        </p:nvSpPr>
        <p:spPr>
          <a:xfrm>
            <a:off x="320040" y="5303520"/>
            <a:ext cx="118871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C8D8E8"/>
                </a:solidFill>
              </a:rPr>
              <a:t>Ep 15500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1645920" y="5276088"/>
            <a:ext cx="1097280" cy="420624"/>
          </a:xfrm>
          <a:prstGeom prst="rect">
            <a:avLst/>
          </a:prstGeom>
          <a:solidFill>
            <a:srgbClr val="141E2E"/>
          </a:solidFill>
          <a:ln w="3810">
            <a:solidFill>
              <a:srgbClr val="5566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TextBox 100"/>
          <p:cNvSpPr txBox="1"/>
          <p:nvPr/>
        </p:nvSpPr>
        <p:spPr>
          <a:xfrm>
            <a:off x="1691640" y="5303520"/>
            <a:ext cx="10058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C8D8E8"/>
                </a:solidFill>
              </a:rPr>
              <a:t>Master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2788920" y="5276088"/>
            <a:ext cx="1005840" cy="420624"/>
          </a:xfrm>
          <a:prstGeom prst="rect">
            <a:avLst/>
          </a:prstGeom>
          <a:solidFill>
            <a:srgbClr val="141E2E"/>
          </a:solidFill>
          <a:ln w="3810">
            <a:solidFill>
              <a:srgbClr val="5566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" name="TextBox 102"/>
          <p:cNvSpPr txBox="1"/>
          <p:nvPr/>
        </p:nvSpPr>
        <p:spPr>
          <a:xfrm>
            <a:off x="2834639" y="5303520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476F"/>
                </a:solidFill>
              </a:rPr>
              <a:t>0.00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3840480" y="5276088"/>
            <a:ext cx="1188720" cy="420624"/>
          </a:xfrm>
          <a:prstGeom prst="rect">
            <a:avLst/>
          </a:prstGeom>
          <a:solidFill>
            <a:srgbClr val="141E2E"/>
          </a:solidFill>
          <a:ln w="3810">
            <a:solidFill>
              <a:srgbClr val="5566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5" name="TextBox 104"/>
          <p:cNvSpPr txBox="1"/>
          <p:nvPr/>
        </p:nvSpPr>
        <p:spPr>
          <a:xfrm>
            <a:off x="3886200" y="5303520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476F"/>
                </a:solidFill>
              </a:rPr>
              <a:t>-1317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5120640" y="5276088"/>
            <a:ext cx="6583680" cy="420624"/>
          </a:xfrm>
          <a:prstGeom prst="rect">
            <a:avLst/>
          </a:prstGeom>
          <a:solidFill>
            <a:srgbClr val="141E2E"/>
          </a:solidFill>
          <a:ln w="3810">
            <a:solidFill>
              <a:srgbClr val="5566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7" name="TextBox 106"/>
          <p:cNvSpPr txBox="1"/>
          <p:nvPr/>
        </p:nvSpPr>
        <p:spPr>
          <a:xfrm>
            <a:off x="5166359" y="5303520"/>
            <a:ext cx="6492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C8D8E8"/>
                </a:solidFill>
              </a:rPr>
              <a:t>Deepest valley observed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274320" y="5724144"/>
            <a:ext cx="1280160" cy="420624"/>
          </a:xfrm>
          <a:prstGeom prst="rect">
            <a:avLst/>
          </a:prstGeom>
          <a:solidFill>
            <a:srgbClr val="101828"/>
          </a:solidFill>
          <a:ln w="3810">
            <a:solidFill>
              <a:srgbClr val="5566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9" name="TextBox 108"/>
          <p:cNvSpPr txBox="1"/>
          <p:nvPr/>
        </p:nvSpPr>
        <p:spPr>
          <a:xfrm>
            <a:off x="320040" y="5751576"/>
            <a:ext cx="118871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C8D8E8"/>
                </a:solidFill>
              </a:rPr>
              <a:t>Ep 16000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1645920" y="5724144"/>
            <a:ext cx="1097280" cy="420624"/>
          </a:xfrm>
          <a:prstGeom prst="rect">
            <a:avLst/>
          </a:prstGeom>
          <a:solidFill>
            <a:srgbClr val="101828"/>
          </a:solidFill>
          <a:ln w="3810">
            <a:solidFill>
              <a:srgbClr val="5566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1" name="TextBox 110"/>
          <p:cNvSpPr txBox="1"/>
          <p:nvPr/>
        </p:nvSpPr>
        <p:spPr>
          <a:xfrm>
            <a:off x="1691640" y="5751576"/>
            <a:ext cx="10058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C8D8E8"/>
                </a:solidFill>
              </a:rPr>
              <a:t>Master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2788920" y="5724144"/>
            <a:ext cx="1005840" cy="420624"/>
          </a:xfrm>
          <a:prstGeom prst="rect">
            <a:avLst/>
          </a:prstGeom>
          <a:solidFill>
            <a:srgbClr val="101828"/>
          </a:solidFill>
          <a:ln w="3810">
            <a:solidFill>
              <a:srgbClr val="5566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3" name="TextBox 112"/>
          <p:cNvSpPr txBox="1"/>
          <p:nvPr/>
        </p:nvSpPr>
        <p:spPr>
          <a:xfrm>
            <a:off x="2834639" y="5751576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06D6A0"/>
                </a:solidFill>
              </a:rPr>
              <a:t>1.00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3840480" y="5724144"/>
            <a:ext cx="1188720" cy="420624"/>
          </a:xfrm>
          <a:prstGeom prst="rect">
            <a:avLst/>
          </a:prstGeom>
          <a:solidFill>
            <a:srgbClr val="101828"/>
          </a:solidFill>
          <a:ln w="3810">
            <a:solidFill>
              <a:srgbClr val="5566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5" name="TextBox 114"/>
          <p:cNvSpPr txBox="1"/>
          <p:nvPr/>
        </p:nvSpPr>
        <p:spPr>
          <a:xfrm>
            <a:off x="3886200" y="5751576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06D6A0"/>
                </a:solidFill>
              </a:rPr>
              <a:t>+895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5120640" y="5724144"/>
            <a:ext cx="6583680" cy="420624"/>
          </a:xfrm>
          <a:prstGeom prst="rect">
            <a:avLst/>
          </a:prstGeom>
          <a:solidFill>
            <a:srgbClr val="101828"/>
          </a:solidFill>
          <a:ln w="3810">
            <a:solidFill>
              <a:srgbClr val="5566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7" name="TextBox 116"/>
          <p:cNvSpPr txBox="1"/>
          <p:nvPr/>
        </p:nvSpPr>
        <p:spPr>
          <a:xfrm>
            <a:off x="5166359" y="5751576"/>
            <a:ext cx="6492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C8D8E8"/>
                </a:solidFill>
              </a:rPr>
              <a:t>Recovery after restart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274320" y="6172200"/>
            <a:ext cx="1280160" cy="420624"/>
          </a:xfrm>
          <a:prstGeom prst="rect">
            <a:avLst/>
          </a:prstGeom>
          <a:solidFill>
            <a:srgbClr val="141E2E"/>
          </a:solidFill>
          <a:ln w="3810">
            <a:solidFill>
              <a:srgbClr val="5566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9" name="TextBox 118"/>
          <p:cNvSpPr txBox="1"/>
          <p:nvPr/>
        </p:nvSpPr>
        <p:spPr>
          <a:xfrm>
            <a:off x="320040" y="6199632"/>
            <a:ext cx="118871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C8D8E8"/>
                </a:solidFill>
              </a:rPr>
              <a:t>Ep 17000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1645920" y="6172200"/>
            <a:ext cx="1097280" cy="420624"/>
          </a:xfrm>
          <a:prstGeom prst="rect">
            <a:avLst/>
          </a:prstGeom>
          <a:solidFill>
            <a:srgbClr val="141E2E"/>
          </a:solidFill>
          <a:ln w="3810">
            <a:solidFill>
              <a:srgbClr val="5566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1" name="TextBox 120"/>
          <p:cNvSpPr txBox="1"/>
          <p:nvPr/>
        </p:nvSpPr>
        <p:spPr>
          <a:xfrm>
            <a:off x="1691640" y="6199632"/>
            <a:ext cx="10058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C8D8E8"/>
                </a:solidFill>
              </a:rPr>
              <a:t>Master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2788920" y="6172200"/>
            <a:ext cx="1005840" cy="420624"/>
          </a:xfrm>
          <a:prstGeom prst="rect">
            <a:avLst/>
          </a:prstGeom>
          <a:solidFill>
            <a:srgbClr val="141E2E"/>
          </a:solidFill>
          <a:ln w="3810">
            <a:solidFill>
              <a:srgbClr val="5566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3" name="TextBox 122"/>
          <p:cNvSpPr txBox="1"/>
          <p:nvPr/>
        </p:nvSpPr>
        <p:spPr>
          <a:xfrm>
            <a:off x="2834639" y="6199632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06D6A0"/>
                </a:solidFill>
              </a:rPr>
              <a:t>1.00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3840480" y="6172200"/>
            <a:ext cx="1188720" cy="420624"/>
          </a:xfrm>
          <a:prstGeom prst="rect">
            <a:avLst/>
          </a:prstGeom>
          <a:solidFill>
            <a:srgbClr val="141E2E"/>
          </a:solidFill>
          <a:ln w="3810">
            <a:solidFill>
              <a:srgbClr val="5566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5" name="TextBox 124"/>
          <p:cNvSpPr txBox="1"/>
          <p:nvPr/>
        </p:nvSpPr>
        <p:spPr>
          <a:xfrm>
            <a:off x="3886200" y="6199632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06D6A0"/>
                </a:solidFill>
              </a:rPr>
              <a:t>+1093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5120640" y="6172200"/>
            <a:ext cx="6583680" cy="420624"/>
          </a:xfrm>
          <a:prstGeom prst="rect">
            <a:avLst/>
          </a:prstGeom>
          <a:solidFill>
            <a:srgbClr val="141E2E"/>
          </a:solidFill>
          <a:ln w="3810">
            <a:solidFill>
              <a:srgbClr val="5566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7" name="TextBox 126"/>
          <p:cNvSpPr txBox="1"/>
          <p:nvPr/>
        </p:nvSpPr>
        <p:spPr>
          <a:xfrm>
            <a:off x="5166359" y="6199632"/>
            <a:ext cx="6492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C8D8E8"/>
                </a:solidFill>
              </a:rPr>
              <a:t>Best visible checkpoint ⭐</a:t>
            </a:r>
          </a:p>
        </p:txBody>
      </p:sp>
      <p:pic>
        <p:nvPicPr>
          <p:cNvPr id="128" name="Picture 127">
            <a:extLst>
              <a:ext uri="{FF2B5EF4-FFF2-40B4-BE49-F238E27FC236}">
                <a16:creationId xmlns:a16="http://schemas.microsoft.com/office/drawing/2014/main" id="{29698C91-BD1B-036D-FA99-D922F9183D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0438" y="1248259"/>
            <a:ext cx="11748521" cy="5384739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ED3076-D78F-7E9C-8863-F318CD0588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5A8AE80-0667-135D-0F2B-8EBDB0B35541}"/>
              </a:ext>
            </a:extLst>
          </p:cNvPr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BDC38CF-BA43-FE0D-60B9-2740C0CE1D84}"/>
              </a:ext>
            </a:extLst>
          </p:cNvPr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FF4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0C2266D-D2EA-3F75-A178-5F969AEE0F60}"/>
              </a:ext>
            </a:extLst>
          </p:cNvPr>
          <p:cNvSpPr txBox="1"/>
          <p:nvPr/>
        </p:nvSpPr>
        <p:spPr>
          <a:xfrm>
            <a:off x="411480" y="182880"/>
            <a:ext cx="1133856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 dirty="0">
                <a:solidFill>
                  <a:srgbClr val="FF476F"/>
                </a:solidFill>
              </a:rPr>
              <a:t>Training Dynamics — </a:t>
            </a:r>
            <a:r>
              <a:rPr lang="en-US" sz="3000" b="1" dirty="0">
                <a:solidFill>
                  <a:srgbClr val="FF476F"/>
                </a:solidFill>
              </a:rPr>
              <a:t>ELO Diff vs Episode (Milestones)</a:t>
            </a:r>
            <a:endParaRPr sz="3000" b="1" i="0" dirty="0">
              <a:solidFill>
                <a:srgbClr val="FF476F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7A7422D-D7EB-1362-5000-3D6A55FCBD08}"/>
              </a:ext>
            </a:extLst>
          </p:cNvPr>
          <p:cNvSpPr txBox="1"/>
          <p:nvPr/>
        </p:nvSpPr>
        <p:spPr>
          <a:xfrm>
            <a:off x="411480" y="777240"/>
            <a:ext cx="11338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C8D8E8"/>
                </a:solidFill>
              </a:rPr>
              <a:t>17,000 episodes of adversarial co-adaptation across 5 distinct phases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17C0789-8DA6-27F0-778B-1C38810AF15A}"/>
              </a:ext>
            </a:extLst>
          </p:cNvPr>
          <p:cNvSpPr/>
          <p:nvPr/>
        </p:nvSpPr>
        <p:spPr>
          <a:xfrm>
            <a:off x="411480" y="1115568"/>
            <a:ext cx="11365992" cy="2286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8921B8C-0AB4-226D-2D97-2AE97068D737}"/>
              </a:ext>
            </a:extLst>
          </p:cNvPr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FF4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DFF1A9C-03C1-BB9D-6EC2-BFC21A1FB923}"/>
              </a:ext>
            </a:extLst>
          </p:cNvPr>
          <p:cNvSpPr/>
          <p:nvPr/>
        </p:nvSpPr>
        <p:spPr>
          <a:xfrm>
            <a:off x="274320" y="1261872"/>
            <a:ext cx="1280160" cy="384048"/>
          </a:xfrm>
          <a:prstGeom prst="rect">
            <a:avLst/>
          </a:prstGeom>
          <a:solidFill>
            <a:srgbClr val="FF4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CCD4732-A187-974B-5048-3F96D4F1C4E5}"/>
              </a:ext>
            </a:extLst>
          </p:cNvPr>
          <p:cNvSpPr txBox="1"/>
          <p:nvPr/>
        </p:nvSpPr>
        <p:spPr>
          <a:xfrm>
            <a:off x="274320" y="1261872"/>
            <a:ext cx="1280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D1117"/>
                </a:solidFill>
              </a:rPr>
              <a:t>Episode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A633931-F57E-74CF-FAE3-B432F5CFB37D}"/>
              </a:ext>
            </a:extLst>
          </p:cNvPr>
          <p:cNvSpPr/>
          <p:nvPr/>
        </p:nvSpPr>
        <p:spPr>
          <a:xfrm>
            <a:off x="1645920" y="1261872"/>
            <a:ext cx="1097280" cy="384048"/>
          </a:xfrm>
          <a:prstGeom prst="rect">
            <a:avLst/>
          </a:prstGeom>
          <a:solidFill>
            <a:srgbClr val="FF4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35D8C8E-1F20-CAFB-FCD4-2C3DF5D0F492}"/>
              </a:ext>
            </a:extLst>
          </p:cNvPr>
          <p:cNvSpPr txBox="1"/>
          <p:nvPr/>
        </p:nvSpPr>
        <p:spPr>
          <a:xfrm>
            <a:off x="1645920" y="1261872"/>
            <a:ext cx="1097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D1117"/>
                </a:solidFill>
              </a:rPr>
              <a:t>Stage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0ED7E03-5131-32CD-9EA7-C163AA55BA90}"/>
              </a:ext>
            </a:extLst>
          </p:cNvPr>
          <p:cNvSpPr/>
          <p:nvPr/>
        </p:nvSpPr>
        <p:spPr>
          <a:xfrm>
            <a:off x="2788920" y="1261872"/>
            <a:ext cx="1005840" cy="384048"/>
          </a:xfrm>
          <a:prstGeom prst="rect">
            <a:avLst/>
          </a:prstGeom>
          <a:solidFill>
            <a:srgbClr val="FF4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BA7DFF0-EB8B-2E79-E90A-FD200975B345}"/>
              </a:ext>
            </a:extLst>
          </p:cNvPr>
          <p:cNvSpPr txBox="1"/>
          <p:nvPr/>
        </p:nvSpPr>
        <p:spPr>
          <a:xfrm>
            <a:off x="2788920" y="1261872"/>
            <a:ext cx="1005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D1117"/>
                </a:solidFill>
              </a:rPr>
              <a:t>Win Rate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5CA6A1F-B58F-C6C9-C7A5-AEFDC15143E9}"/>
              </a:ext>
            </a:extLst>
          </p:cNvPr>
          <p:cNvSpPr/>
          <p:nvPr/>
        </p:nvSpPr>
        <p:spPr>
          <a:xfrm>
            <a:off x="3840480" y="1261872"/>
            <a:ext cx="1188720" cy="384048"/>
          </a:xfrm>
          <a:prstGeom prst="rect">
            <a:avLst/>
          </a:prstGeom>
          <a:solidFill>
            <a:srgbClr val="FF4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51728E2-FF4D-B14A-E4E4-362CC50FA084}"/>
              </a:ext>
            </a:extLst>
          </p:cNvPr>
          <p:cNvSpPr txBox="1"/>
          <p:nvPr/>
        </p:nvSpPr>
        <p:spPr>
          <a:xfrm>
            <a:off x="3840480" y="1261872"/>
            <a:ext cx="1188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D1117"/>
                </a:solidFill>
              </a:rPr>
              <a:t>ELO Diff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4BB4146-410E-8D40-A4F5-3645B0CC6956}"/>
              </a:ext>
            </a:extLst>
          </p:cNvPr>
          <p:cNvSpPr/>
          <p:nvPr/>
        </p:nvSpPr>
        <p:spPr>
          <a:xfrm>
            <a:off x="5120640" y="1261872"/>
            <a:ext cx="6583680" cy="384048"/>
          </a:xfrm>
          <a:prstGeom prst="rect">
            <a:avLst/>
          </a:prstGeom>
          <a:solidFill>
            <a:srgbClr val="FF4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5F10777-23A4-18E3-EAF5-0F92F2D042CA}"/>
              </a:ext>
            </a:extLst>
          </p:cNvPr>
          <p:cNvSpPr txBox="1"/>
          <p:nvPr/>
        </p:nvSpPr>
        <p:spPr>
          <a:xfrm>
            <a:off x="5120640" y="1261872"/>
            <a:ext cx="6583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D1117"/>
                </a:solidFill>
              </a:rPr>
              <a:t>Interpretation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870764C-2F9D-B0A4-EDCB-0677A8666EF8}"/>
              </a:ext>
            </a:extLst>
          </p:cNvPr>
          <p:cNvSpPr/>
          <p:nvPr/>
        </p:nvSpPr>
        <p:spPr>
          <a:xfrm>
            <a:off x="274320" y="1691640"/>
            <a:ext cx="1280160" cy="420624"/>
          </a:xfrm>
          <a:prstGeom prst="rect">
            <a:avLst/>
          </a:prstGeom>
          <a:solidFill>
            <a:srgbClr val="141E2E"/>
          </a:solidFill>
          <a:ln w="3810">
            <a:solidFill>
              <a:srgbClr val="5566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8503CDF-613A-61D6-1BD7-DBE0D6FE6268}"/>
              </a:ext>
            </a:extLst>
          </p:cNvPr>
          <p:cNvSpPr txBox="1"/>
          <p:nvPr/>
        </p:nvSpPr>
        <p:spPr>
          <a:xfrm>
            <a:off x="320040" y="1719072"/>
            <a:ext cx="118871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C8D8E8"/>
                </a:solidFill>
              </a:rPr>
              <a:t>Ep 50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EDDAD9E-0FA4-219E-A1A5-AA5D3090CAEE}"/>
              </a:ext>
            </a:extLst>
          </p:cNvPr>
          <p:cNvSpPr/>
          <p:nvPr/>
        </p:nvSpPr>
        <p:spPr>
          <a:xfrm>
            <a:off x="1645920" y="1691640"/>
            <a:ext cx="1097280" cy="420624"/>
          </a:xfrm>
          <a:prstGeom prst="rect">
            <a:avLst/>
          </a:prstGeom>
          <a:solidFill>
            <a:srgbClr val="141E2E"/>
          </a:solidFill>
          <a:ln w="3810">
            <a:solidFill>
              <a:srgbClr val="5566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D37855F-2F43-7235-0636-7A4C6836ECF7}"/>
              </a:ext>
            </a:extLst>
          </p:cNvPr>
          <p:cNvSpPr txBox="1"/>
          <p:nvPr/>
        </p:nvSpPr>
        <p:spPr>
          <a:xfrm>
            <a:off x="1691640" y="1719072"/>
            <a:ext cx="10058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C8D8E8"/>
                </a:solidFill>
              </a:rPr>
              <a:t>Rookie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39C9F72-35CA-EB7F-FFFE-3DC527C9BD16}"/>
              </a:ext>
            </a:extLst>
          </p:cNvPr>
          <p:cNvSpPr/>
          <p:nvPr/>
        </p:nvSpPr>
        <p:spPr>
          <a:xfrm>
            <a:off x="2788920" y="1691640"/>
            <a:ext cx="1005840" cy="420624"/>
          </a:xfrm>
          <a:prstGeom prst="rect">
            <a:avLst/>
          </a:prstGeom>
          <a:solidFill>
            <a:srgbClr val="141E2E"/>
          </a:solidFill>
          <a:ln w="3810">
            <a:solidFill>
              <a:srgbClr val="5566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62E5694-033A-2EB7-2883-D99F86096E35}"/>
              </a:ext>
            </a:extLst>
          </p:cNvPr>
          <p:cNvSpPr txBox="1"/>
          <p:nvPr/>
        </p:nvSpPr>
        <p:spPr>
          <a:xfrm>
            <a:off x="2834639" y="1719072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06D6A0"/>
                </a:solidFill>
              </a:rPr>
              <a:t>0.96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0994F290-7825-33F6-56A4-1BAC41EAB558}"/>
              </a:ext>
            </a:extLst>
          </p:cNvPr>
          <p:cNvSpPr/>
          <p:nvPr/>
        </p:nvSpPr>
        <p:spPr>
          <a:xfrm>
            <a:off x="3840480" y="1691640"/>
            <a:ext cx="1188720" cy="420624"/>
          </a:xfrm>
          <a:prstGeom prst="rect">
            <a:avLst/>
          </a:prstGeom>
          <a:solidFill>
            <a:srgbClr val="141E2E"/>
          </a:solidFill>
          <a:ln w="3810">
            <a:solidFill>
              <a:srgbClr val="5566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78BF6BB-5870-4396-E023-C494B4187A26}"/>
              </a:ext>
            </a:extLst>
          </p:cNvPr>
          <p:cNvSpPr txBox="1"/>
          <p:nvPr/>
        </p:nvSpPr>
        <p:spPr>
          <a:xfrm>
            <a:off x="3886200" y="1719072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06D6A0"/>
                </a:solidFill>
              </a:rPr>
              <a:t>+477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FCE8B064-ABB0-79D3-F44C-1AB6D853F6F3}"/>
              </a:ext>
            </a:extLst>
          </p:cNvPr>
          <p:cNvSpPr/>
          <p:nvPr/>
        </p:nvSpPr>
        <p:spPr>
          <a:xfrm>
            <a:off x="5120640" y="1691640"/>
            <a:ext cx="6583680" cy="420624"/>
          </a:xfrm>
          <a:prstGeom prst="rect">
            <a:avLst/>
          </a:prstGeom>
          <a:solidFill>
            <a:srgbClr val="141E2E"/>
          </a:solidFill>
          <a:ln w="3810">
            <a:solidFill>
              <a:srgbClr val="5566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CC3052E-B6EE-CCE5-C3BE-E8ABF5A164CE}"/>
              </a:ext>
            </a:extLst>
          </p:cNvPr>
          <p:cNvSpPr txBox="1"/>
          <p:nvPr/>
        </p:nvSpPr>
        <p:spPr>
          <a:xfrm>
            <a:off x="5166359" y="1719072"/>
            <a:ext cx="6492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C8D8E8"/>
                </a:solidFill>
              </a:rPr>
              <a:t>Solver starts strong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04DDFEBC-79AF-B217-617F-C33F122F09D4}"/>
              </a:ext>
            </a:extLst>
          </p:cNvPr>
          <p:cNvSpPr/>
          <p:nvPr/>
        </p:nvSpPr>
        <p:spPr>
          <a:xfrm>
            <a:off x="274320" y="2139696"/>
            <a:ext cx="1280160" cy="420624"/>
          </a:xfrm>
          <a:prstGeom prst="rect">
            <a:avLst/>
          </a:prstGeom>
          <a:solidFill>
            <a:srgbClr val="101828"/>
          </a:solidFill>
          <a:ln w="3810">
            <a:solidFill>
              <a:srgbClr val="5566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3CF923A-0E8C-8FB2-7B13-0DC0203D2086}"/>
              </a:ext>
            </a:extLst>
          </p:cNvPr>
          <p:cNvSpPr txBox="1"/>
          <p:nvPr/>
        </p:nvSpPr>
        <p:spPr>
          <a:xfrm>
            <a:off x="320040" y="2167127"/>
            <a:ext cx="118871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C8D8E8"/>
                </a:solidFill>
              </a:rPr>
              <a:t>Ep 200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B1966616-C3DF-EC0B-D10D-C402BCAC2D08}"/>
              </a:ext>
            </a:extLst>
          </p:cNvPr>
          <p:cNvSpPr/>
          <p:nvPr/>
        </p:nvSpPr>
        <p:spPr>
          <a:xfrm>
            <a:off x="1645920" y="2139696"/>
            <a:ext cx="1097280" cy="420624"/>
          </a:xfrm>
          <a:prstGeom prst="rect">
            <a:avLst/>
          </a:prstGeom>
          <a:solidFill>
            <a:srgbClr val="101828"/>
          </a:solidFill>
          <a:ln w="3810">
            <a:solidFill>
              <a:srgbClr val="5566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03628EF-549E-63E2-E3A5-134C0C0EE285}"/>
              </a:ext>
            </a:extLst>
          </p:cNvPr>
          <p:cNvSpPr txBox="1"/>
          <p:nvPr/>
        </p:nvSpPr>
        <p:spPr>
          <a:xfrm>
            <a:off x="1691640" y="2167127"/>
            <a:ext cx="10058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C8D8E8"/>
                </a:solidFill>
              </a:rPr>
              <a:t>Expert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8C750FA0-F1F9-AD66-D90E-704F263FC5A3}"/>
              </a:ext>
            </a:extLst>
          </p:cNvPr>
          <p:cNvSpPr/>
          <p:nvPr/>
        </p:nvSpPr>
        <p:spPr>
          <a:xfrm>
            <a:off x="2788920" y="2139696"/>
            <a:ext cx="1005840" cy="420624"/>
          </a:xfrm>
          <a:prstGeom prst="rect">
            <a:avLst/>
          </a:prstGeom>
          <a:solidFill>
            <a:srgbClr val="101828"/>
          </a:solidFill>
          <a:ln w="3810">
            <a:solidFill>
              <a:srgbClr val="5566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0D2BA7AA-E3AD-DCDE-A77A-682552189A3F}"/>
              </a:ext>
            </a:extLst>
          </p:cNvPr>
          <p:cNvSpPr txBox="1"/>
          <p:nvPr/>
        </p:nvSpPr>
        <p:spPr>
          <a:xfrm>
            <a:off x="2834639" y="2167127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06D6A0"/>
                </a:solidFill>
              </a:rPr>
              <a:t>1.00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F7F08ABD-2BE2-CF0B-DC70-B5F37912621A}"/>
              </a:ext>
            </a:extLst>
          </p:cNvPr>
          <p:cNvSpPr/>
          <p:nvPr/>
        </p:nvSpPr>
        <p:spPr>
          <a:xfrm>
            <a:off x="3840480" y="2139696"/>
            <a:ext cx="1188720" cy="420624"/>
          </a:xfrm>
          <a:prstGeom prst="rect">
            <a:avLst/>
          </a:prstGeom>
          <a:solidFill>
            <a:srgbClr val="101828"/>
          </a:solidFill>
          <a:ln w="3810">
            <a:solidFill>
              <a:srgbClr val="5566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0F2265C-4FBA-7EC1-E37A-B6BE93A4EA78}"/>
              </a:ext>
            </a:extLst>
          </p:cNvPr>
          <p:cNvSpPr txBox="1"/>
          <p:nvPr/>
        </p:nvSpPr>
        <p:spPr>
          <a:xfrm>
            <a:off x="3886200" y="2167127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06D6A0"/>
                </a:solidFill>
              </a:rPr>
              <a:t>+737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B53AA86A-FAD4-6B86-B1F4-D5A71EC5A01C}"/>
              </a:ext>
            </a:extLst>
          </p:cNvPr>
          <p:cNvSpPr/>
          <p:nvPr/>
        </p:nvSpPr>
        <p:spPr>
          <a:xfrm>
            <a:off x="5120640" y="2139696"/>
            <a:ext cx="6583680" cy="420624"/>
          </a:xfrm>
          <a:prstGeom prst="rect">
            <a:avLst/>
          </a:prstGeom>
          <a:solidFill>
            <a:srgbClr val="101828"/>
          </a:solidFill>
          <a:ln w="3810">
            <a:solidFill>
              <a:srgbClr val="5566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AAF232B-B619-8964-315E-5BF4AA2381B7}"/>
              </a:ext>
            </a:extLst>
          </p:cNvPr>
          <p:cNvSpPr txBox="1"/>
          <p:nvPr/>
        </p:nvSpPr>
        <p:spPr>
          <a:xfrm>
            <a:off x="5166359" y="2167127"/>
            <a:ext cx="6492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C8D8E8"/>
                </a:solidFill>
              </a:rPr>
              <a:t>Solver generalises quickly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8B69D7D1-5D0F-30DD-16DD-EE6BBA4D6441}"/>
              </a:ext>
            </a:extLst>
          </p:cNvPr>
          <p:cNvSpPr/>
          <p:nvPr/>
        </p:nvSpPr>
        <p:spPr>
          <a:xfrm>
            <a:off x="274320" y="2587752"/>
            <a:ext cx="1280160" cy="420624"/>
          </a:xfrm>
          <a:prstGeom prst="rect">
            <a:avLst/>
          </a:prstGeom>
          <a:solidFill>
            <a:srgbClr val="141E2E"/>
          </a:solidFill>
          <a:ln w="3810">
            <a:solidFill>
              <a:srgbClr val="5566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5303A56-1988-C238-9D53-9CDFB346E913}"/>
              </a:ext>
            </a:extLst>
          </p:cNvPr>
          <p:cNvSpPr txBox="1"/>
          <p:nvPr/>
        </p:nvSpPr>
        <p:spPr>
          <a:xfrm>
            <a:off x="320040" y="2615184"/>
            <a:ext cx="118871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C8D8E8"/>
                </a:solidFill>
              </a:rPr>
              <a:t>Ep 300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7E2F40AA-B8E7-636E-F06F-9A0988773B8D}"/>
              </a:ext>
            </a:extLst>
          </p:cNvPr>
          <p:cNvSpPr/>
          <p:nvPr/>
        </p:nvSpPr>
        <p:spPr>
          <a:xfrm>
            <a:off x="1645920" y="2587752"/>
            <a:ext cx="1097280" cy="420624"/>
          </a:xfrm>
          <a:prstGeom prst="rect">
            <a:avLst/>
          </a:prstGeom>
          <a:solidFill>
            <a:srgbClr val="141E2E"/>
          </a:solidFill>
          <a:ln w="3810">
            <a:solidFill>
              <a:srgbClr val="5566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F65EEE6-167B-DED6-A88D-C07F9203E1E4}"/>
              </a:ext>
            </a:extLst>
          </p:cNvPr>
          <p:cNvSpPr txBox="1"/>
          <p:nvPr/>
        </p:nvSpPr>
        <p:spPr>
          <a:xfrm>
            <a:off x="1691640" y="2615184"/>
            <a:ext cx="10058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C8D8E8"/>
                </a:solidFill>
              </a:rPr>
              <a:t>Master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1BF63669-657D-D82F-A0CD-2DCA829BF5CB}"/>
              </a:ext>
            </a:extLst>
          </p:cNvPr>
          <p:cNvSpPr/>
          <p:nvPr/>
        </p:nvSpPr>
        <p:spPr>
          <a:xfrm>
            <a:off x="2788920" y="2587752"/>
            <a:ext cx="1005840" cy="420624"/>
          </a:xfrm>
          <a:prstGeom prst="rect">
            <a:avLst/>
          </a:prstGeom>
          <a:solidFill>
            <a:srgbClr val="141E2E"/>
          </a:solidFill>
          <a:ln w="3810">
            <a:solidFill>
              <a:srgbClr val="5566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0EBE3C0-77B8-8A35-50D2-B5AC5AAA41EB}"/>
              </a:ext>
            </a:extLst>
          </p:cNvPr>
          <p:cNvSpPr txBox="1"/>
          <p:nvPr/>
        </p:nvSpPr>
        <p:spPr>
          <a:xfrm>
            <a:off x="2834639" y="2615184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06D6A0"/>
                </a:solidFill>
              </a:rPr>
              <a:t>1.00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5145118E-5FD6-C9D5-D9D8-DF1BCB8B3BB3}"/>
              </a:ext>
            </a:extLst>
          </p:cNvPr>
          <p:cNvSpPr/>
          <p:nvPr/>
        </p:nvSpPr>
        <p:spPr>
          <a:xfrm>
            <a:off x="3840480" y="2587752"/>
            <a:ext cx="1188720" cy="420624"/>
          </a:xfrm>
          <a:prstGeom prst="rect">
            <a:avLst/>
          </a:prstGeom>
          <a:solidFill>
            <a:srgbClr val="141E2E"/>
          </a:solidFill>
          <a:ln w="3810">
            <a:solidFill>
              <a:srgbClr val="5566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B8A1FDD-BC09-75A5-6D3A-9647F71AE485}"/>
              </a:ext>
            </a:extLst>
          </p:cNvPr>
          <p:cNvSpPr txBox="1"/>
          <p:nvPr/>
        </p:nvSpPr>
        <p:spPr>
          <a:xfrm>
            <a:off x="3886200" y="2615184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06D6A0"/>
                </a:solidFill>
              </a:rPr>
              <a:t>+810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24BF4E07-6327-F38C-F736-BBD576B454D0}"/>
              </a:ext>
            </a:extLst>
          </p:cNvPr>
          <p:cNvSpPr/>
          <p:nvPr/>
        </p:nvSpPr>
        <p:spPr>
          <a:xfrm>
            <a:off x="5120640" y="2587752"/>
            <a:ext cx="6583680" cy="420624"/>
          </a:xfrm>
          <a:prstGeom prst="rect">
            <a:avLst/>
          </a:prstGeom>
          <a:solidFill>
            <a:srgbClr val="141E2E"/>
          </a:solidFill>
          <a:ln w="3810">
            <a:solidFill>
              <a:srgbClr val="5566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BB5B0DE-1BBA-92F9-096E-2AAA152FBCE7}"/>
              </a:ext>
            </a:extLst>
          </p:cNvPr>
          <p:cNvSpPr txBox="1"/>
          <p:nvPr/>
        </p:nvSpPr>
        <p:spPr>
          <a:xfrm>
            <a:off x="5166359" y="2615184"/>
            <a:ext cx="6492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C8D8E8"/>
                </a:solidFill>
              </a:rPr>
              <a:t>Peaks at hardest curriculum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23070DD4-AC15-1ED6-212C-DA69D8066390}"/>
              </a:ext>
            </a:extLst>
          </p:cNvPr>
          <p:cNvSpPr/>
          <p:nvPr/>
        </p:nvSpPr>
        <p:spPr>
          <a:xfrm>
            <a:off x="274320" y="3035808"/>
            <a:ext cx="1280160" cy="420624"/>
          </a:xfrm>
          <a:prstGeom prst="rect">
            <a:avLst/>
          </a:prstGeom>
          <a:solidFill>
            <a:srgbClr val="101828"/>
          </a:solidFill>
          <a:ln w="3810">
            <a:solidFill>
              <a:srgbClr val="5566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04747181-037C-D820-75C9-948A111CA22F}"/>
              </a:ext>
            </a:extLst>
          </p:cNvPr>
          <p:cNvSpPr txBox="1"/>
          <p:nvPr/>
        </p:nvSpPr>
        <p:spPr>
          <a:xfrm>
            <a:off x="320040" y="3063240"/>
            <a:ext cx="118871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C8D8E8"/>
                </a:solidFill>
              </a:rPr>
              <a:t>Ep 1750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19D720E9-0310-E191-90D5-4BDFDF0D6F9F}"/>
              </a:ext>
            </a:extLst>
          </p:cNvPr>
          <p:cNvSpPr/>
          <p:nvPr/>
        </p:nvSpPr>
        <p:spPr>
          <a:xfrm>
            <a:off x="1645920" y="3035808"/>
            <a:ext cx="1097280" cy="420624"/>
          </a:xfrm>
          <a:prstGeom prst="rect">
            <a:avLst/>
          </a:prstGeom>
          <a:solidFill>
            <a:srgbClr val="101828"/>
          </a:solidFill>
          <a:ln w="3810">
            <a:solidFill>
              <a:srgbClr val="5566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3D2AB619-B766-A41D-7A20-0A71D3997E53}"/>
              </a:ext>
            </a:extLst>
          </p:cNvPr>
          <p:cNvSpPr txBox="1"/>
          <p:nvPr/>
        </p:nvSpPr>
        <p:spPr>
          <a:xfrm>
            <a:off x="1691640" y="3063240"/>
            <a:ext cx="10058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C8D8E8"/>
                </a:solidFill>
              </a:rPr>
              <a:t>Master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CC81DC0A-49DA-36F4-0EA6-B96F62C250D7}"/>
              </a:ext>
            </a:extLst>
          </p:cNvPr>
          <p:cNvSpPr/>
          <p:nvPr/>
        </p:nvSpPr>
        <p:spPr>
          <a:xfrm>
            <a:off x="2788920" y="3035808"/>
            <a:ext cx="1005840" cy="420624"/>
          </a:xfrm>
          <a:prstGeom prst="rect">
            <a:avLst/>
          </a:prstGeom>
          <a:solidFill>
            <a:srgbClr val="101828"/>
          </a:solidFill>
          <a:ln w="3810">
            <a:solidFill>
              <a:srgbClr val="5566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20D50D94-795E-8460-43F5-E8B5D841532D}"/>
              </a:ext>
            </a:extLst>
          </p:cNvPr>
          <p:cNvSpPr txBox="1"/>
          <p:nvPr/>
        </p:nvSpPr>
        <p:spPr>
          <a:xfrm>
            <a:off x="2834639" y="3063240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B700"/>
                </a:solidFill>
              </a:rPr>
              <a:t>0.59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03F15D4C-2EDD-5379-10FC-3B947619BEA6}"/>
              </a:ext>
            </a:extLst>
          </p:cNvPr>
          <p:cNvSpPr/>
          <p:nvPr/>
        </p:nvSpPr>
        <p:spPr>
          <a:xfrm>
            <a:off x="3840480" y="3035808"/>
            <a:ext cx="1188720" cy="420624"/>
          </a:xfrm>
          <a:prstGeom prst="rect">
            <a:avLst/>
          </a:prstGeom>
          <a:solidFill>
            <a:srgbClr val="101828"/>
          </a:solidFill>
          <a:ln w="3810">
            <a:solidFill>
              <a:srgbClr val="5566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3747F6B5-ED8C-97D9-C8C5-9516E0158FE1}"/>
              </a:ext>
            </a:extLst>
          </p:cNvPr>
          <p:cNvSpPr txBox="1"/>
          <p:nvPr/>
        </p:nvSpPr>
        <p:spPr>
          <a:xfrm>
            <a:off x="3886200" y="3063240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B700"/>
                </a:solidFill>
              </a:rPr>
              <a:t>-381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8FF1F1F1-295B-02E9-5862-CEBCBA25993B}"/>
              </a:ext>
            </a:extLst>
          </p:cNvPr>
          <p:cNvSpPr/>
          <p:nvPr/>
        </p:nvSpPr>
        <p:spPr>
          <a:xfrm>
            <a:off x="5120640" y="3035808"/>
            <a:ext cx="6583680" cy="420624"/>
          </a:xfrm>
          <a:prstGeom prst="rect">
            <a:avLst/>
          </a:prstGeom>
          <a:solidFill>
            <a:srgbClr val="101828"/>
          </a:solidFill>
          <a:ln w="3810">
            <a:solidFill>
              <a:srgbClr val="5566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2F23F22A-55CE-C33F-A10D-22A4E3BE7C18}"/>
              </a:ext>
            </a:extLst>
          </p:cNvPr>
          <p:cNvSpPr txBox="1"/>
          <p:nvPr/>
        </p:nvSpPr>
        <p:spPr>
          <a:xfrm>
            <a:off x="5166359" y="3063240"/>
            <a:ext cx="6492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C8D8E8"/>
                </a:solidFill>
              </a:rPr>
              <a:t>First collapse begins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D6E6AA9A-2205-4186-940A-58CAD5F9DC0F}"/>
              </a:ext>
            </a:extLst>
          </p:cNvPr>
          <p:cNvSpPr/>
          <p:nvPr/>
        </p:nvSpPr>
        <p:spPr>
          <a:xfrm>
            <a:off x="274320" y="3483864"/>
            <a:ext cx="1280160" cy="420624"/>
          </a:xfrm>
          <a:prstGeom prst="rect">
            <a:avLst/>
          </a:prstGeom>
          <a:solidFill>
            <a:srgbClr val="141E2E"/>
          </a:solidFill>
          <a:ln w="3810">
            <a:solidFill>
              <a:srgbClr val="5566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99717DBB-6012-CF86-CA55-28CAA26EB3AC}"/>
              </a:ext>
            </a:extLst>
          </p:cNvPr>
          <p:cNvSpPr txBox="1"/>
          <p:nvPr/>
        </p:nvSpPr>
        <p:spPr>
          <a:xfrm>
            <a:off x="320040" y="3511296"/>
            <a:ext cx="118871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C8D8E8"/>
                </a:solidFill>
              </a:rPr>
              <a:t>Ep 2950</a:t>
            </a: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CC0F1533-8209-8D05-3826-3D639E3C767F}"/>
              </a:ext>
            </a:extLst>
          </p:cNvPr>
          <p:cNvSpPr/>
          <p:nvPr/>
        </p:nvSpPr>
        <p:spPr>
          <a:xfrm>
            <a:off x="1645920" y="3483864"/>
            <a:ext cx="1097280" cy="420624"/>
          </a:xfrm>
          <a:prstGeom prst="rect">
            <a:avLst/>
          </a:prstGeom>
          <a:solidFill>
            <a:srgbClr val="141E2E"/>
          </a:solidFill>
          <a:ln w="3810">
            <a:solidFill>
              <a:srgbClr val="5566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24EB25CA-84BE-4B60-6FD4-D08D658017BD}"/>
              </a:ext>
            </a:extLst>
          </p:cNvPr>
          <p:cNvSpPr txBox="1"/>
          <p:nvPr/>
        </p:nvSpPr>
        <p:spPr>
          <a:xfrm>
            <a:off x="1691640" y="3511296"/>
            <a:ext cx="10058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C8D8E8"/>
                </a:solidFill>
              </a:rPr>
              <a:t>Master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8A7CBA9A-BAE6-B149-785F-67E462BDEE30}"/>
              </a:ext>
            </a:extLst>
          </p:cNvPr>
          <p:cNvSpPr/>
          <p:nvPr/>
        </p:nvSpPr>
        <p:spPr>
          <a:xfrm>
            <a:off x="2788920" y="3483864"/>
            <a:ext cx="1005840" cy="420624"/>
          </a:xfrm>
          <a:prstGeom prst="rect">
            <a:avLst/>
          </a:prstGeom>
          <a:solidFill>
            <a:srgbClr val="141E2E"/>
          </a:solidFill>
          <a:ln w="3810">
            <a:solidFill>
              <a:srgbClr val="5566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C5B6A4B6-B5E1-C14B-09DB-2FD7CC39AF31}"/>
              </a:ext>
            </a:extLst>
          </p:cNvPr>
          <p:cNvSpPr txBox="1"/>
          <p:nvPr/>
        </p:nvSpPr>
        <p:spPr>
          <a:xfrm>
            <a:off x="2834639" y="3511296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476F"/>
                </a:solidFill>
              </a:rPr>
              <a:t>0.00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6FCD0EDF-DD65-B8D2-6A37-89502CFD73DB}"/>
              </a:ext>
            </a:extLst>
          </p:cNvPr>
          <p:cNvSpPr/>
          <p:nvPr/>
        </p:nvSpPr>
        <p:spPr>
          <a:xfrm>
            <a:off x="3840480" y="3483864"/>
            <a:ext cx="1188720" cy="420624"/>
          </a:xfrm>
          <a:prstGeom prst="rect">
            <a:avLst/>
          </a:prstGeom>
          <a:solidFill>
            <a:srgbClr val="141E2E"/>
          </a:solidFill>
          <a:ln w="3810">
            <a:solidFill>
              <a:srgbClr val="5566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C437EFA2-BF9B-23F1-7574-8A7A4CA417C8}"/>
              </a:ext>
            </a:extLst>
          </p:cNvPr>
          <p:cNvSpPr txBox="1"/>
          <p:nvPr/>
        </p:nvSpPr>
        <p:spPr>
          <a:xfrm>
            <a:off x="3886200" y="3511296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476F"/>
                </a:solidFill>
              </a:rPr>
              <a:t>-1060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89FE0094-B128-6988-C238-020A4835E671}"/>
              </a:ext>
            </a:extLst>
          </p:cNvPr>
          <p:cNvSpPr/>
          <p:nvPr/>
        </p:nvSpPr>
        <p:spPr>
          <a:xfrm>
            <a:off x="5120640" y="3483864"/>
            <a:ext cx="6583680" cy="420624"/>
          </a:xfrm>
          <a:prstGeom prst="rect">
            <a:avLst/>
          </a:prstGeom>
          <a:solidFill>
            <a:srgbClr val="141E2E"/>
          </a:solidFill>
          <a:ln w="3810">
            <a:solidFill>
              <a:srgbClr val="5566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A68E5B62-BC01-43D9-E59C-DE240134A39C}"/>
              </a:ext>
            </a:extLst>
          </p:cNvPr>
          <p:cNvSpPr txBox="1"/>
          <p:nvPr/>
        </p:nvSpPr>
        <p:spPr>
          <a:xfrm>
            <a:off x="5166359" y="3511296"/>
            <a:ext cx="6492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C8D8E8"/>
                </a:solidFill>
              </a:rPr>
              <a:t>First collapse low point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555239AD-770F-DC12-13FF-A7D52BB827B6}"/>
              </a:ext>
            </a:extLst>
          </p:cNvPr>
          <p:cNvSpPr/>
          <p:nvPr/>
        </p:nvSpPr>
        <p:spPr>
          <a:xfrm>
            <a:off x="274320" y="3931920"/>
            <a:ext cx="1280160" cy="420624"/>
          </a:xfrm>
          <a:prstGeom prst="rect">
            <a:avLst/>
          </a:prstGeom>
          <a:solidFill>
            <a:srgbClr val="101828"/>
          </a:solidFill>
          <a:ln w="3810">
            <a:solidFill>
              <a:srgbClr val="5566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77B8D841-FE33-FB99-51F7-6F19E8230AE6}"/>
              </a:ext>
            </a:extLst>
          </p:cNvPr>
          <p:cNvSpPr txBox="1"/>
          <p:nvPr/>
        </p:nvSpPr>
        <p:spPr>
          <a:xfrm>
            <a:off x="320040" y="3959352"/>
            <a:ext cx="118871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C8D8E8"/>
                </a:solidFill>
              </a:rPr>
              <a:t>Ep 3000</a:t>
            </a: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57199EDD-E015-42EF-C484-E9DB87B18B0C}"/>
              </a:ext>
            </a:extLst>
          </p:cNvPr>
          <p:cNvSpPr/>
          <p:nvPr/>
        </p:nvSpPr>
        <p:spPr>
          <a:xfrm>
            <a:off x="1645920" y="3931920"/>
            <a:ext cx="1097280" cy="420624"/>
          </a:xfrm>
          <a:prstGeom prst="rect">
            <a:avLst/>
          </a:prstGeom>
          <a:solidFill>
            <a:srgbClr val="101828"/>
          </a:solidFill>
          <a:ln w="3810">
            <a:solidFill>
              <a:srgbClr val="5566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F965548-0BA0-E997-DFB4-93A6CA879D62}"/>
              </a:ext>
            </a:extLst>
          </p:cNvPr>
          <p:cNvSpPr txBox="1"/>
          <p:nvPr/>
        </p:nvSpPr>
        <p:spPr>
          <a:xfrm>
            <a:off x="1691640" y="3959352"/>
            <a:ext cx="10058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C8D8E8"/>
                </a:solidFill>
              </a:rPr>
              <a:t>Master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876A70F2-1564-9D82-6F28-F0B6453A1889}"/>
              </a:ext>
            </a:extLst>
          </p:cNvPr>
          <p:cNvSpPr/>
          <p:nvPr/>
        </p:nvSpPr>
        <p:spPr>
          <a:xfrm>
            <a:off x="2788920" y="3931920"/>
            <a:ext cx="1005840" cy="420624"/>
          </a:xfrm>
          <a:prstGeom prst="rect">
            <a:avLst/>
          </a:prstGeom>
          <a:solidFill>
            <a:srgbClr val="101828"/>
          </a:solidFill>
          <a:ln w="3810">
            <a:solidFill>
              <a:srgbClr val="5566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FB00E9AE-7D21-E6C6-89FE-3CF63DE9F6A3}"/>
              </a:ext>
            </a:extLst>
          </p:cNvPr>
          <p:cNvSpPr txBox="1"/>
          <p:nvPr/>
        </p:nvSpPr>
        <p:spPr>
          <a:xfrm>
            <a:off x="2834639" y="3959352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B700"/>
                </a:solidFill>
              </a:rPr>
              <a:t>0.28</a:t>
            </a: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54163E6A-2337-82F8-3BEC-5C20F8F37D08}"/>
              </a:ext>
            </a:extLst>
          </p:cNvPr>
          <p:cNvSpPr/>
          <p:nvPr/>
        </p:nvSpPr>
        <p:spPr>
          <a:xfrm>
            <a:off x="3840480" y="3931920"/>
            <a:ext cx="1188720" cy="420624"/>
          </a:xfrm>
          <a:prstGeom prst="rect">
            <a:avLst/>
          </a:prstGeom>
          <a:solidFill>
            <a:srgbClr val="101828"/>
          </a:solidFill>
          <a:ln w="3810">
            <a:solidFill>
              <a:srgbClr val="5566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1A31C939-7CF1-54F3-A9B0-AD8597143DE0}"/>
              </a:ext>
            </a:extLst>
          </p:cNvPr>
          <p:cNvSpPr txBox="1"/>
          <p:nvPr/>
        </p:nvSpPr>
        <p:spPr>
          <a:xfrm>
            <a:off x="3886200" y="3959352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B700"/>
                </a:solidFill>
              </a:rPr>
              <a:t>+206</a:t>
            </a: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05F2D8AA-EB1A-5B2F-A80E-0FA999F5852F}"/>
              </a:ext>
            </a:extLst>
          </p:cNvPr>
          <p:cNvSpPr/>
          <p:nvPr/>
        </p:nvSpPr>
        <p:spPr>
          <a:xfrm>
            <a:off x="5120640" y="3931920"/>
            <a:ext cx="6583680" cy="420624"/>
          </a:xfrm>
          <a:prstGeom prst="rect">
            <a:avLst/>
          </a:prstGeom>
          <a:solidFill>
            <a:srgbClr val="101828"/>
          </a:solidFill>
          <a:ln w="3810">
            <a:solidFill>
              <a:srgbClr val="5566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3DC64A5A-5B14-0ACA-B813-1B8D828D9D37}"/>
              </a:ext>
            </a:extLst>
          </p:cNvPr>
          <p:cNvSpPr txBox="1"/>
          <p:nvPr/>
        </p:nvSpPr>
        <p:spPr>
          <a:xfrm>
            <a:off x="5166359" y="3959352"/>
            <a:ext cx="6492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C8D8E8"/>
                </a:solidFill>
              </a:rPr>
              <a:t>Recovery begins</a:t>
            </a: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D22A58CB-5339-50BB-4E2C-DDEF2F62C7EA}"/>
              </a:ext>
            </a:extLst>
          </p:cNvPr>
          <p:cNvSpPr/>
          <p:nvPr/>
        </p:nvSpPr>
        <p:spPr>
          <a:xfrm>
            <a:off x="274320" y="4379976"/>
            <a:ext cx="1280160" cy="420624"/>
          </a:xfrm>
          <a:prstGeom prst="rect">
            <a:avLst/>
          </a:prstGeom>
          <a:solidFill>
            <a:srgbClr val="141E2E"/>
          </a:solidFill>
          <a:ln w="3810">
            <a:solidFill>
              <a:srgbClr val="5566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4AE1B292-947F-EB9D-F551-8DF483FC8009}"/>
              </a:ext>
            </a:extLst>
          </p:cNvPr>
          <p:cNvSpPr txBox="1"/>
          <p:nvPr/>
        </p:nvSpPr>
        <p:spPr>
          <a:xfrm>
            <a:off x="320040" y="4407408"/>
            <a:ext cx="118871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C8D8E8"/>
                </a:solidFill>
              </a:rPr>
              <a:t>Ep 5350</a:t>
            </a: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631D872D-B89D-70C3-8E62-F772E00BDBE9}"/>
              </a:ext>
            </a:extLst>
          </p:cNvPr>
          <p:cNvSpPr/>
          <p:nvPr/>
        </p:nvSpPr>
        <p:spPr>
          <a:xfrm>
            <a:off x="1645920" y="4379976"/>
            <a:ext cx="1097280" cy="420624"/>
          </a:xfrm>
          <a:prstGeom prst="rect">
            <a:avLst/>
          </a:prstGeom>
          <a:solidFill>
            <a:srgbClr val="141E2E"/>
          </a:solidFill>
          <a:ln w="3810">
            <a:solidFill>
              <a:srgbClr val="5566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375F6FA7-ED6E-1DD2-B244-D49A19632165}"/>
              </a:ext>
            </a:extLst>
          </p:cNvPr>
          <p:cNvSpPr txBox="1"/>
          <p:nvPr/>
        </p:nvSpPr>
        <p:spPr>
          <a:xfrm>
            <a:off x="1691640" y="4407408"/>
            <a:ext cx="10058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C8D8E8"/>
                </a:solidFill>
              </a:rPr>
              <a:t>Master</a:t>
            </a: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65F80CFE-DFD4-50B5-E1FA-4CCF0E88338F}"/>
              </a:ext>
            </a:extLst>
          </p:cNvPr>
          <p:cNvSpPr/>
          <p:nvPr/>
        </p:nvSpPr>
        <p:spPr>
          <a:xfrm>
            <a:off x="2788920" y="4379976"/>
            <a:ext cx="1005840" cy="420624"/>
          </a:xfrm>
          <a:prstGeom prst="rect">
            <a:avLst/>
          </a:prstGeom>
          <a:solidFill>
            <a:srgbClr val="141E2E"/>
          </a:solidFill>
          <a:ln w="3810">
            <a:solidFill>
              <a:srgbClr val="5566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D6A3B5BB-F8AA-5D19-A534-372BD267E194}"/>
              </a:ext>
            </a:extLst>
          </p:cNvPr>
          <p:cNvSpPr txBox="1"/>
          <p:nvPr/>
        </p:nvSpPr>
        <p:spPr>
          <a:xfrm>
            <a:off x="2834639" y="4407408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06D6A0"/>
                </a:solidFill>
              </a:rPr>
              <a:t>1.00</a:t>
            </a:r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61C9CC08-34EF-9769-50F4-DD0C13375546}"/>
              </a:ext>
            </a:extLst>
          </p:cNvPr>
          <p:cNvSpPr/>
          <p:nvPr/>
        </p:nvSpPr>
        <p:spPr>
          <a:xfrm>
            <a:off x="3840480" y="4379976"/>
            <a:ext cx="1188720" cy="420624"/>
          </a:xfrm>
          <a:prstGeom prst="rect">
            <a:avLst/>
          </a:prstGeom>
          <a:solidFill>
            <a:srgbClr val="141E2E"/>
          </a:solidFill>
          <a:ln w="3810">
            <a:solidFill>
              <a:srgbClr val="5566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164D3EC8-637C-34A0-170B-5E6A2A9FD153}"/>
              </a:ext>
            </a:extLst>
          </p:cNvPr>
          <p:cNvSpPr txBox="1"/>
          <p:nvPr/>
        </p:nvSpPr>
        <p:spPr>
          <a:xfrm>
            <a:off x="3886200" y="4407408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06D6A0"/>
                </a:solidFill>
              </a:rPr>
              <a:t>+994</a:t>
            </a: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CB51DF16-957A-804C-8E5A-8F5A2149BFBB}"/>
              </a:ext>
            </a:extLst>
          </p:cNvPr>
          <p:cNvSpPr/>
          <p:nvPr/>
        </p:nvSpPr>
        <p:spPr>
          <a:xfrm>
            <a:off x="5120640" y="4379976"/>
            <a:ext cx="6583680" cy="420624"/>
          </a:xfrm>
          <a:prstGeom prst="rect">
            <a:avLst/>
          </a:prstGeom>
          <a:solidFill>
            <a:srgbClr val="141E2E"/>
          </a:solidFill>
          <a:ln w="3810">
            <a:solidFill>
              <a:srgbClr val="5566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146FA19F-B2B9-4069-41BA-2D19F1F00321}"/>
              </a:ext>
            </a:extLst>
          </p:cNvPr>
          <p:cNvSpPr txBox="1"/>
          <p:nvPr/>
        </p:nvSpPr>
        <p:spPr>
          <a:xfrm>
            <a:off x="5166359" y="4407408"/>
            <a:ext cx="6492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C8D8E8"/>
                </a:solidFill>
              </a:rPr>
              <a:t>High-performance peak</a:t>
            </a:r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22A55827-ACE9-EBDC-5F4E-763337A442C2}"/>
              </a:ext>
            </a:extLst>
          </p:cNvPr>
          <p:cNvSpPr/>
          <p:nvPr/>
        </p:nvSpPr>
        <p:spPr>
          <a:xfrm>
            <a:off x="274320" y="4828031"/>
            <a:ext cx="1280160" cy="420624"/>
          </a:xfrm>
          <a:prstGeom prst="rect">
            <a:avLst/>
          </a:prstGeom>
          <a:solidFill>
            <a:srgbClr val="101828"/>
          </a:solidFill>
          <a:ln w="3810">
            <a:solidFill>
              <a:srgbClr val="5566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42C56B19-0963-1E12-2DFB-60A9651E1FDB}"/>
              </a:ext>
            </a:extLst>
          </p:cNvPr>
          <p:cNvSpPr txBox="1"/>
          <p:nvPr/>
        </p:nvSpPr>
        <p:spPr>
          <a:xfrm>
            <a:off x="320040" y="4855464"/>
            <a:ext cx="118871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C8D8E8"/>
                </a:solidFill>
              </a:rPr>
              <a:t>Ep 10200</a:t>
            </a:r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61824798-76DD-A47E-3636-4D95E7622C6C}"/>
              </a:ext>
            </a:extLst>
          </p:cNvPr>
          <p:cNvSpPr/>
          <p:nvPr/>
        </p:nvSpPr>
        <p:spPr>
          <a:xfrm>
            <a:off x="1645920" y="4828031"/>
            <a:ext cx="1097280" cy="420624"/>
          </a:xfrm>
          <a:prstGeom prst="rect">
            <a:avLst/>
          </a:prstGeom>
          <a:solidFill>
            <a:srgbClr val="101828"/>
          </a:solidFill>
          <a:ln w="3810">
            <a:solidFill>
              <a:srgbClr val="5566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F1F911ED-7475-1E47-5FB5-4F9DB7399FD7}"/>
              </a:ext>
            </a:extLst>
          </p:cNvPr>
          <p:cNvSpPr txBox="1"/>
          <p:nvPr/>
        </p:nvSpPr>
        <p:spPr>
          <a:xfrm>
            <a:off x="1691640" y="4855464"/>
            <a:ext cx="10058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C8D8E8"/>
                </a:solidFill>
              </a:rPr>
              <a:t>Master</a:t>
            </a: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EA9D9B62-DE04-936C-F841-B111F6F4A1FC}"/>
              </a:ext>
            </a:extLst>
          </p:cNvPr>
          <p:cNvSpPr/>
          <p:nvPr/>
        </p:nvSpPr>
        <p:spPr>
          <a:xfrm>
            <a:off x="2788920" y="4828031"/>
            <a:ext cx="1005840" cy="420624"/>
          </a:xfrm>
          <a:prstGeom prst="rect">
            <a:avLst/>
          </a:prstGeom>
          <a:solidFill>
            <a:srgbClr val="101828"/>
          </a:solidFill>
          <a:ln w="3810">
            <a:solidFill>
              <a:srgbClr val="5566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63A87B17-2CE7-4136-AF65-03067B621207}"/>
              </a:ext>
            </a:extLst>
          </p:cNvPr>
          <p:cNvSpPr txBox="1"/>
          <p:nvPr/>
        </p:nvSpPr>
        <p:spPr>
          <a:xfrm>
            <a:off x="2834639" y="4855464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B700"/>
                </a:solidFill>
              </a:rPr>
              <a:t>0.55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79D52D11-F5E8-4E6D-EB56-6FD3C477DE4A}"/>
              </a:ext>
            </a:extLst>
          </p:cNvPr>
          <p:cNvSpPr/>
          <p:nvPr/>
        </p:nvSpPr>
        <p:spPr>
          <a:xfrm>
            <a:off x="3840480" y="4828031"/>
            <a:ext cx="1188720" cy="420624"/>
          </a:xfrm>
          <a:prstGeom prst="rect">
            <a:avLst/>
          </a:prstGeom>
          <a:solidFill>
            <a:srgbClr val="101828"/>
          </a:solidFill>
          <a:ln w="3810">
            <a:solidFill>
              <a:srgbClr val="5566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0A03FA52-DF0F-ABEB-8106-BBC70A9B85BB}"/>
              </a:ext>
            </a:extLst>
          </p:cNvPr>
          <p:cNvSpPr txBox="1"/>
          <p:nvPr/>
        </p:nvSpPr>
        <p:spPr>
          <a:xfrm>
            <a:off x="3886200" y="4855464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B700"/>
                </a:solidFill>
              </a:rPr>
              <a:t>-382</a:t>
            </a:r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16A6EC80-1A3C-E452-70EA-EB6D9461A01F}"/>
              </a:ext>
            </a:extLst>
          </p:cNvPr>
          <p:cNvSpPr/>
          <p:nvPr/>
        </p:nvSpPr>
        <p:spPr>
          <a:xfrm>
            <a:off x="5120640" y="4828031"/>
            <a:ext cx="6583680" cy="420624"/>
          </a:xfrm>
          <a:prstGeom prst="rect">
            <a:avLst/>
          </a:prstGeom>
          <a:solidFill>
            <a:srgbClr val="101828"/>
          </a:solidFill>
          <a:ln w="3810">
            <a:solidFill>
              <a:srgbClr val="5566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51D0238F-6D16-DE49-3955-19AAD34B71A0}"/>
              </a:ext>
            </a:extLst>
          </p:cNvPr>
          <p:cNvSpPr txBox="1"/>
          <p:nvPr/>
        </p:nvSpPr>
        <p:spPr>
          <a:xfrm>
            <a:off x="5166359" y="4855464"/>
            <a:ext cx="6492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C8D8E8"/>
                </a:solidFill>
              </a:rPr>
              <a:t>Second collapse begins</a:t>
            </a:r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82516800-D67F-2884-AB13-35D487F28648}"/>
              </a:ext>
            </a:extLst>
          </p:cNvPr>
          <p:cNvSpPr/>
          <p:nvPr/>
        </p:nvSpPr>
        <p:spPr>
          <a:xfrm>
            <a:off x="274320" y="5276088"/>
            <a:ext cx="1280160" cy="420624"/>
          </a:xfrm>
          <a:prstGeom prst="rect">
            <a:avLst/>
          </a:prstGeom>
          <a:solidFill>
            <a:srgbClr val="141E2E"/>
          </a:solidFill>
          <a:ln w="3810">
            <a:solidFill>
              <a:srgbClr val="5566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FCEFD770-EE4D-E342-8C1C-BA4CE39201A3}"/>
              </a:ext>
            </a:extLst>
          </p:cNvPr>
          <p:cNvSpPr txBox="1"/>
          <p:nvPr/>
        </p:nvSpPr>
        <p:spPr>
          <a:xfrm>
            <a:off x="320040" y="5303520"/>
            <a:ext cx="118871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C8D8E8"/>
                </a:solidFill>
              </a:rPr>
              <a:t>Ep 15500</a:t>
            </a: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4DA8797D-64AD-1DB9-DCB9-8C0FDE412F6C}"/>
              </a:ext>
            </a:extLst>
          </p:cNvPr>
          <p:cNvSpPr/>
          <p:nvPr/>
        </p:nvSpPr>
        <p:spPr>
          <a:xfrm>
            <a:off x="1645920" y="5276088"/>
            <a:ext cx="1097280" cy="420624"/>
          </a:xfrm>
          <a:prstGeom prst="rect">
            <a:avLst/>
          </a:prstGeom>
          <a:solidFill>
            <a:srgbClr val="141E2E"/>
          </a:solidFill>
          <a:ln w="3810">
            <a:solidFill>
              <a:srgbClr val="5566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55040D22-9AF1-6A84-FAD8-399EB5F6D741}"/>
              </a:ext>
            </a:extLst>
          </p:cNvPr>
          <p:cNvSpPr txBox="1"/>
          <p:nvPr/>
        </p:nvSpPr>
        <p:spPr>
          <a:xfrm>
            <a:off x="1691640" y="5303520"/>
            <a:ext cx="10058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C8D8E8"/>
                </a:solidFill>
              </a:rPr>
              <a:t>Master</a:t>
            </a: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A7F8E775-F5F9-6EE0-0618-40DB23AC1F4E}"/>
              </a:ext>
            </a:extLst>
          </p:cNvPr>
          <p:cNvSpPr/>
          <p:nvPr/>
        </p:nvSpPr>
        <p:spPr>
          <a:xfrm>
            <a:off x="2788920" y="5276088"/>
            <a:ext cx="1005840" cy="420624"/>
          </a:xfrm>
          <a:prstGeom prst="rect">
            <a:avLst/>
          </a:prstGeom>
          <a:solidFill>
            <a:srgbClr val="141E2E"/>
          </a:solidFill>
          <a:ln w="3810">
            <a:solidFill>
              <a:srgbClr val="5566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5BDAE665-CD21-CDBF-7F8C-931BCA140905}"/>
              </a:ext>
            </a:extLst>
          </p:cNvPr>
          <p:cNvSpPr txBox="1"/>
          <p:nvPr/>
        </p:nvSpPr>
        <p:spPr>
          <a:xfrm>
            <a:off x="2834639" y="5303520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476F"/>
                </a:solidFill>
              </a:rPr>
              <a:t>0.00</a:t>
            </a:r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5CD39783-6E74-F0D6-F1A3-34390B29EC37}"/>
              </a:ext>
            </a:extLst>
          </p:cNvPr>
          <p:cNvSpPr/>
          <p:nvPr/>
        </p:nvSpPr>
        <p:spPr>
          <a:xfrm>
            <a:off x="3840480" y="5276088"/>
            <a:ext cx="1188720" cy="420624"/>
          </a:xfrm>
          <a:prstGeom prst="rect">
            <a:avLst/>
          </a:prstGeom>
          <a:solidFill>
            <a:srgbClr val="141E2E"/>
          </a:solidFill>
          <a:ln w="3810">
            <a:solidFill>
              <a:srgbClr val="5566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E3044B10-29B1-E571-4141-01848AD07DC7}"/>
              </a:ext>
            </a:extLst>
          </p:cNvPr>
          <p:cNvSpPr txBox="1"/>
          <p:nvPr/>
        </p:nvSpPr>
        <p:spPr>
          <a:xfrm>
            <a:off x="3886200" y="5303520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476F"/>
                </a:solidFill>
              </a:rPr>
              <a:t>-1317</a:t>
            </a:r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0689A73E-6A38-AB57-BFCB-97D290F23FD2}"/>
              </a:ext>
            </a:extLst>
          </p:cNvPr>
          <p:cNvSpPr/>
          <p:nvPr/>
        </p:nvSpPr>
        <p:spPr>
          <a:xfrm>
            <a:off x="5120640" y="5276088"/>
            <a:ext cx="6583680" cy="420624"/>
          </a:xfrm>
          <a:prstGeom prst="rect">
            <a:avLst/>
          </a:prstGeom>
          <a:solidFill>
            <a:srgbClr val="141E2E"/>
          </a:solidFill>
          <a:ln w="3810">
            <a:solidFill>
              <a:srgbClr val="5566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51EA0FC2-828A-3308-F3E7-0C91EFEC3DB4}"/>
              </a:ext>
            </a:extLst>
          </p:cNvPr>
          <p:cNvSpPr txBox="1"/>
          <p:nvPr/>
        </p:nvSpPr>
        <p:spPr>
          <a:xfrm>
            <a:off x="5166359" y="5303520"/>
            <a:ext cx="6492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C8D8E8"/>
                </a:solidFill>
              </a:rPr>
              <a:t>Deepest valley observed</a:t>
            </a:r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6E3A2D0D-429B-AFBE-FD96-74CCFDD080E2}"/>
              </a:ext>
            </a:extLst>
          </p:cNvPr>
          <p:cNvSpPr/>
          <p:nvPr/>
        </p:nvSpPr>
        <p:spPr>
          <a:xfrm>
            <a:off x="274320" y="5724144"/>
            <a:ext cx="1280160" cy="420624"/>
          </a:xfrm>
          <a:prstGeom prst="rect">
            <a:avLst/>
          </a:prstGeom>
          <a:solidFill>
            <a:srgbClr val="101828"/>
          </a:solidFill>
          <a:ln w="3810">
            <a:solidFill>
              <a:srgbClr val="5566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92A09C36-17DC-41F2-92F7-CB71D010D8C5}"/>
              </a:ext>
            </a:extLst>
          </p:cNvPr>
          <p:cNvSpPr txBox="1"/>
          <p:nvPr/>
        </p:nvSpPr>
        <p:spPr>
          <a:xfrm>
            <a:off x="320040" y="5751576"/>
            <a:ext cx="118871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C8D8E8"/>
                </a:solidFill>
              </a:rPr>
              <a:t>Ep 16000</a:t>
            </a: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336F512C-FC81-2372-C111-189D7929B327}"/>
              </a:ext>
            </a:extLst>
          </p:cNvPr>
          <p:cNvSpPr/>
          <p:nvPr/>
        </p:nvSpPr>
        <p:spPr>
          <a:xfrm>
            <a:off x="1645920" y="5724144"/>
            <a:ext cx="1097280" cy="420624"/>
          </a:xfrm>
          <a:prstGeom prst="rect">
            <a:avLst/>
          </a:prstGeom>
          <a:solidFill>
            <a:srgbClr val="101828"/>
          </a:solidFill>
          <a:ln w="3810">
            <a:solidFill>
              <a:srgbClr val="5566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F6F44EBC-FAC6-744C-6017-B487A3888AE0}"/>
              </a:ext>
            </a:extLst>
          </p:cNvPr>
          <p:cNvSpPr txBox="1"/>
          <p:nvPr/>
        </p:nvSpPr>
        <p:spPr>
          <a:xfrm>
            <a:off x="1691640" y="5751576"/>
            <a:ext cx="10058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C8D8E8"/>
                </a:solidFill>
              </a:rPr>
              <a:t>Master</a:t>
            </a:r>
          </a:p>
        </p:txBody>
      </p:sp>
      <p:sp>
        <p:nvSpPr>
          <p:cNvPr id="112" name="Rectangle 111">
            <a:extLst>
              <a:ext uri="{FF2B5EF4-FFF2-40B4-BE49-F238E27FC236}">
                <a16:creationId xmlns:a16="http://schemas.microsoft.com/office/drawing/2014/main" id="{C7530DF4-7497-9A9D-51AE-56070D5AB5F2}"/>
              </a:ext>
            </a:extLst>
          </p:cNvPr>
          <p:cNvSpPr/>
          <p:nvPr/>
        </p:nvSpPr>
        <p:spPr>
          <a:xfrm>
            <a:off x="2788920" y="5724144"/>
            <a:ext cx="1005840" cy="420624"/>
          </a:xfrm>
          <a:prstGeom prst="rect">
            <a:avLst/>
          </a:prstGeom>
          <a:solidFill>
            <a:srgbClr val="101828"/>
          </a:solidFill>
          <a:ln w="3810">
            <a:solidFill>
              <a:srgbClr val="5566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6EFD0520-0F9B-CA86-9D1B-115FF1A9503E}"/>
              </a:ext>
            </a:extLst>
          </p:cNvPr>
          <p:cNvSpPr txBox="1"/>
          <p:nvPr/>
        </p:nvSpPr>
        <p:spPr>
          <a:xfrm>
            <a:off x="2834639" y="5751576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06D6A0"/>
                </a:solidFill>
              </a:rPr>
              <a:t>1.00</a:t>
            </a:r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417D7AE7-4A8E-B16E-6256-B20EF402F92A}"/>
              </a:ext>
            </a:extLst>
          </p:cNvPr>
          <p:cNvSpPr/>
          <p:nvPr/>
        </p:nvSpPr>
        <p:spPr>
          <a:xfrm>
            <a:off x="3840480" y="5724144"/>
            <a:ext cx="1188720" cy="420624"/>
          </a:xfrm>
          <a:prstGeom prst="rect">
            <a:avLst/>
          </a:prstGeom>
          <a:solidFill>
            <a:srgbClr val="101828"/>
          </a:solidFill>
          <a:ln w="3810">
            <a:solidFill>
              <a:srgbClr val="5566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B25E3792-8D60-ED88-2FF7-D95C439B5957}"/>
              </a:ext>
            </a:extLst>
          </p:cNvPr>
          <p:cNvSpPr txBox="1"/>
          <p:nvPr/>
        </p:nvSpPr>
        <p:spPr>
          <a:xfrm>
            <a:off x="3886200" y="5751576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06D6A0"/>
                </a:solidFill>
              </a:rPr>
              <a:t>+895</a:t>
            </a:r>
          </a:p>
        </p:txBody>
      </p:sp>
      <p:sp>
        <p:nvSpPr>
          <p:cNvPr id="116" name="Rectangle 115">
            <a:extLst>
              <a:ext uri="{FF2B5EF4-FFF2-40B4-BE49-F238E27FC236}">
                <a16:creationId xmlns:a16="http://schemas.microsoft.com/office/drawing/2014/main" id="{9C6428FF-73DB-DFA4-BB4B-E0BBF85AE4BA}"/>
              </a:ext>
            </a:extLst>
          </p:cNvPr>
          <p:cNvSpPr/>
          <p:nvPr/>
        </p:nvSpPr>
        <p:spPr>
          <a:xfrm>
            <a:off x="5120640" y="5724144"/>
            <a:ext cx="6583680" cy="420624"/>
          </a:xfrm>
          <a:prstGeom prst="rect">
            <a:avLst/>
          </a:prstGeom>
          <a:solidFill>
            <a:srgbClr val="101828"/>
          </a:solidFill>
          <a:ln w="3810">
            <a:solidFill>
              <a:srgbClr val="5566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69730B83-EEF7-14C2-51CB-16444DCF0906}"/>
              </a:ext>
            </a:extLst>
          </p:cNvPr>
          <p:cNvSpPr txBox="1"/>
          <p:nvPr/>
        </p:nvSpPr>
        <p:spPr>
          <a:xfrm>
            <a:off x="5166359" y="5751576"/>
            <a:ext cx="6492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C8D8E8"/>
                </a:solidFill>
              </a:rPr>
              <a:t>Recovery after restart</a:t>
            </a:r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FC43E067-7AEF-CF67-514B-77FD9D875133}"/>
              </a:ext>
            </a:extLst>
          </p:cNvPr>
          <p:cNvSpPr/>
          <p:nvPr/>
        </p:nvSpPr>
        <p:spPr>
          <a:xfrm>
            <a:off x="274320" y="6172200"/>
            <a:ext cx="1280160" cy="420624"/>
          </a:xfrm>
          <a:prstGeom prst="rect">
            <a:avLst/>
          </a:prstGeom>
          <a:solidFill>
            <a:srgbClr val="141E2E"/>
          </a:solidFill>
          <a:ln w="3810">
            <a:solidFill>
              <a:srgbClr val="5566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BDA4B3C9-1D15-57DC-A2A7-6C6F25D56F98}"/>
              </a:ext>
            </a:extLst>
          </p:cNvPr>
          <p:cNvSpPr txBox="1"/>
          <p:nvPr/>
        </p:nvSpPr>
        <p:spPr>
          <a:xfrm>
            <a:off x="320040" y="6199632"/>
            <a:ext cx="118871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C8D8E8"/>
                </a:solidFill>
              </a:rPr>
              <a:t>Ep 17000</a:t>
            </a:r>
          </a:p>
        </p:txBody>
      </p:sp>
      <p:sp>
        <p:nvSpPr>
          <p:cNvPr id="120" name="Rectangle 119">
            <a:extLst>
              <a:ext uri="{FF2B5EF4-FFF2-40B4-BE49-F238E27FC236}">
                <a16:creationId xmlns:a16="http://schemas.microsoft.com/office/drawing/2014/main" id="{5678D6FB-F8DE-00F6-0FE7-524465DC90FD}"/>
              </a:ext>
            </a:extLst>
          </p:cNvPr>
          <p:cNvSpPr/>
          <p:nvPr/>
        </p:nvSpPr>
        <p:spPr>
          <a:xfrm>
            <a:off x="1645920" y="6172200"/>
            <a:ext cx="1097280" cy="420624"/>
          </a:xfrm>
          <a:prstGeom prst="rect">
            <a:avLst/>
          </a:prstGeom>
          <a:solidFill>
            <a:srgbClr val="141E2E"/>
          </a:solidFill>
          <a:ln w="3810">
            <a:solidFill>
              <a:srgbClr val="5566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FCE6086A-1D20-D204-2598-E9F2B5DB48A9}"/>
              </a:ext>
            </a:extLst>
          </p:cNvPr>
          <p:cNvSpPr txBox="1"/>
          <p:nvPr/>
        </p:nvSpPr>
        <p:spPr>
          <a:xfrm>
            <a:off x="1691640" y="6199632"/>
            <a:ext cx="10058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C8D8E8"/>
                </a:solidFill>
              </a:rPr>
              <a:t>Master</a:t>
            </a:r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6400C49C-820D-82EC-0FB9-7B226B949542}"/>
              </a:ext>
            </a:extLst>
          </p:cNvPr>
          <p:cNvSpPr/>
          <p:nvPr/>
        </p:nvSpPr>
        <p:spPr>
          <a:xfrm>
            <a:off x="2788920" y="6172200"/>
            <a:ext cx="1005840" cy="420624"/>
          </a:xfrm>
          <a:prstGeom prst="rect">
            <a:avLst/>
          </a:prstGeom>
          <a:solidFill>
            <a:srgbClr val="141E2E"/>
          </a:solidFill>
          <a:ln w="3810">
            <a:solidFill>
              <a:srgbClr val="5566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726B288B-6383-4F4F-B920-69E8BAF81893}"/>
              </a:ext>
            </a:extLst>
          </p:cNvPr>
          <p:cNvSpPr txBox="1"/>
          <p:nvPr/>
        </p:nvSpPr>
        <p:spPr>
          <a:xfrm>
            <a:off x="2834639" y="6199632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06D6A0"/>
                </a:solidFill>
              </a:rPr>
              <a:t>1.00</a:t>
            </a:r>
          </a:p>
        </p:txBody>
      </p:sp>
      <p:sp>
        <p:nvSpPr>
          <p:cNvPr id="124" name="Rectangle 123">
            <a:extLst>
              <a:ext uri="{FF2B5EF4-FFF2-40B4-BE49-F238E27FC236}">
                <a16:creationId xmlns:a16="http://schemas.microsoft.com/office/drawing/2014/main" id="{BE10CFCC-8DD0-FD31-6B4D-FF69BD1FBDF4}"/>
              </a:ext>
            </a:extLst>
          </p:cNvPr>
          <p:cNvSpPr/>
          <p:nvPr/>
        </p:nvSpPr>
        <p:spPr>
          <a:xfrm>
            <a:off x="3840480" y="6172200"/>
            <a:ext cx="1188720" cy="420624"/>
          </a:xfrm>
          <a:prstGeom prst="rect">
            <a:avLst/>
          </a:prstGeom>
          <a:solidFill>
            <a:srgbClr val="141E2E"/>
          </a:solidFill>
          <a:ln w="3810">
            <a:solidFill>
              <a:srgbClr val="5566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9AE6723E-FD92-3638-B9BB-D3F3F0BF99BC}"/>
              </a:ext>
            </a:extLst>
          </p:cNvPr>
          <p:cNvSpPr txBox="1"/>
          <p:nvPr/>
        </p:nvSpPr>
        <p:spPr>
          <a:xfrm>
            <a:off x="3886200" y="6199632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06D6A0"/>
                </a:solidFill>
              </a:rPr>
              <a:t>+1093</a:t>
            </a:r>
          </a:p>
        </p:txBody>
      </p:sp>
      <p:sp>
        <p:nvSpPr>
          <p:cNvPr id="126" name="Rectangle 125">
            <a:extLst>
              <a:ext uri="{FF2B5EF4-FFF2-40B4-BE49-F238E27FC236}">
                <a16:creationId xmlns:a16="http://schemas.microsoft.com/office/drawing/2014/main" id="{4E0569FB-EFE1-CDC7-190B-15E7E1960155}"/>
              </a:ext>
            </a:extLst>
          </p:cNvPr>
          <p:cNvSpPr/>
          <p:nvPr/>
        </p:nvSpPr>
        <p:spPr>
          <a:xfrm>
            <a:off x="5120640" y="6172200"/>
            <a:ext cx="6583680" cy="420624"/>
          </a:xfrm>
          <a:prstGeom prst="rect">
            <a:avLst/>
          </a:prstGeom>
          <a:solidFill>
            <a:srgbClr val="141E2E"/>
          </a:solidFill>
          <a:ln w="3810">
            <a:solidFill>
              <a:srgbClr val="5566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F4639BD2-50EE-5FC3-CC56-327FD3742C56}"/>
              </a:ext>
            </a:extLst>
          </p:cNvPr>
          <p:cNvSpPr txBox="1"/>
          <p:nvPr/>
        </p:nvSpPr>
        <p:spPr>
          <a:xfrm>
            <a:off x="5166359" y="6199632"/>
            <a:ext cx="6492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C8D8E8"/>
                </a:solidFill>
              </a:rPr>
              <a:t>Best visible checkpoint ⭐</a:t>
            </a:r>
          </a:p>
        </p:txBody>
      </p:sp>
      <p:pic>
        <p:nvPicPr>
          <p:cNvPr id="129" name="Picture 128">
            <a:extLst>
              <a:ext uri="{FF2B5EF4-FFF2-40B4-BE49-F238E27FC236}">
                <a16:creationId xmlns:a16="http://schemas.microsoft.com/office/drawing/2014/main" id="{E0ED3147-967B-4055-6161-1EBAA8914E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906" y="1179783"/>
            <a:ext cx="11827374" cy="54208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570759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4572"/>
            <a:ext cx="12188952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182880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0B4D8"/>
                </a:solidFill>
              </a:rPr>
              <a:t>ELO Arms Race — Strategic Equilibrium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777240"/>
            <a:ext cx="11338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C8D8E8"/>
                </a:solidFill>
              </a:rPr>
              <a:t>Relative skill tracking reveals adversarial co-adaptation cycles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115568"/>
            <a:ext cx="11365992" cy="2286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274320" y="1261872"/>
            <a:ext cx="11640312" cy="1234440"/>
          </a:xfrm>
          <a:prstGeom prst="rect">
            <a:avLst/>
          </a:prstGeom>
          <a:solidFill>
            <a:srgbClr val="141E2E"/>
          </a:solidFill>
          <a:ln w="1270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1371600"/>
            <a:ext cx="11201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8D8E8"/>
                </a:solidFill>
              </a:rPr>
              <a:t>ELO is a relative skill metric borrowed from chess and competitive gaming. Here it tracks which agent is currently dominating. A positive ELO diff means the Solver is winning; negative means Architect dominates. Under PPO constraints, neither side easily exploits the other — LSTM hidden states push both agents into high-level spatial deduction rather than memorised routes.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2674620"/>
            <a:ext cx="11640312" cy="777240"/>
          </a:xfrm>
          <a:prstGeom prst="rect">
            <a:avLst/>
          </a:prstGeom>
          <a:solidFill>
            <a:srgbClr val="141E2E"/>
          </a:solidFill>
          <a:ln w="19050">
            <a:solidFill>
              <a:srgbClr val="06D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274320" y="2674620"/>
            <a:ext cx="73152" cy="758952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02920" y="2747772"/>
            <a:ext cx="3200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D6A0"/>
                </a:solidFill>
              </a:rPr>
              <a:t>The Rookie Stage
(Ep 50–300)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49039" y="2766060"/>
            <a:ext cx="8046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8D8E8"/>
                </a:solidFill>
              </a:rPr>
              <a:t>Robber ELO spikes to +810 because randomly-walking guards provide minimal map coverage. Single-agent navigation dominates early — layout complexity is insufficient to challenge a learning Solver.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3655314"/>
            <a:ext cx="11640312" cy="694944"/>
          </a:xfrm>
          <a:prstGeom prst="rect">
            <a:avLst/>
          </a:prstGeom>
          <a:solidFill>
            <a:srgbClr val="141E2E"/>
          </a:solidFill>
          <a:ln w="19050">
            <a:solidFill>
              <a:srgbClr val="FF47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274320" y="3655314"/>
            <a:ext cx="73152" cy="694944"/>
          </a:xfrm>
          <a:prstGeom prst="rect">
            <a:avLst/>
          </a:prstGeom>
          <a:solidFill>
            <a:srgbClr val="FF4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02920" y="3728466"/>
            <a:ext cx="3200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476F"/>
                </a:solidFill>
              </a:rPr>
              <a:t>The Overfit Rebound
(Ep 1750–2950)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39" y="3746754"/>
            <a:ext cx="8046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8D8E8"/>
                </a:solidFill>
              </a:rPr>
              <a:t>Architect learns to cluster cameras near the Vault. Solver ELO collapses to -1060 — the Architect has found an effective chokepoint strategy that the Solver hasn't seen before.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256" y="4536440"/>
            <a:ext cx="11640312" cy="758952"/>
          </a:xfrm>
          <a:prstGeom prst="rect">
            <a:avLst/>
          </a:prstGeom>
          <a:solidFill>
            <a:srgbClr val="141E2E"/>
          </a:solidFill>
          <a:ln w="1905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274255" y="4536440"/>
            <a:ext cx="109727" cy="7406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02856" y="4609592"/>
            <a:ext cx="3200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B4D8"/>
                </a:solidFill>
              </a:rPr>
              <a:t>The Recovery Window
(Ep 3000–10000)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48975" y="4627880"/>
            <a:ext cx="8046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8D8E8"/>
                </a:solidFill>
              </a:rPr>
              <a:t>Solver discovers new blind-spot exploitation strategies. ELO recovers to +994 — a long positive regime where the Solver consistently outperforms the Architect.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255" y="5522976"/>
            <a:ext cx="11640312" cy="1051560"/>
          </a:xfrm>
          <a:prstGeom prst="rect">
            <a:avLst/>
          </a:prstGeom>
          <a:solidFill>
            <a:srgbClr val="141E2E"/>
          </a:solidFill>
          <a:ln w="19050">
            <a:solidFill>
              <a:srgbClr val="FFB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274255" y="5522976"/>
            <a:ext cx="73152" cy="1051560"/>
          </a:xfrm>
          <a:prstGeom prst="rect">
            <a:avLst/>
          </a:prstGeom>
          <a:solidFill>
            <a:srgbClr val="FF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02855" y="5596128"/>
            <a:ext cx="3200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B700"/>
                </a:solidFill>
              </a:rPr>
              <a:t>The Final Arms Race
(Ep 10200–17000)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48974" y="5614415"/>
            <a:ext cx="8046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8D8E8"/>
                </a:solidFill>
              </a:rPr>
              <a:t>Second deep collapse to -1317, then full recovery to +1093 at ep17000. Classic adversarial cycling — each side forces the other to find superior strategies.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11480" y="6128003"/>
            <a:ext cx="11430000" cy="347472"/>
          </a:xfrm>
          <a:prstGeom prst="rect">
            <a:avLst/>
          </a:prstGeom>
          <a:solidFill>
            <a:srgbClr val="081C10"/>
          </a:solidFill>
          <a:ln w="12700">
            <a:solidFill>
              <a:srgbClr val="06D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94360" y="6164579"/>
            <a:ext cx="11043912" cy="269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 dirty="0">
                <a:solidFill>
                  <a:srgbClr val="06D6A0"/>
                </a:solidFill>
              </a:rPr>
              <a:t>⭐  ep17000 — Best Checkpoint: Win-Rate 1.00 · ELO +1093 · Stage: Master   →  Default evaluation target for all dashboard demos.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182880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6D6A0"/>
                </a:solidFill>
              </a:rPr>
              <a:t>Real-Time Web Dashboard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777240"/>
            <a:ext cx="11338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C8D8E8"/>
                </a:solidFill>
              </a:rPr>
              <a:t>Flask + WebSocket live monitoring and control interface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115568"/>
            <a:ext cx="11365992" cy="2286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274320" y="1261872"/>
            <a:ext cx="3860800" cy="4224528"/>
          </a:xfrm>
          <a:prstGeom prst="rect">
            <a:avLst/>
          </a:prstGeom>
          <a:solidFill>
            <a:srgbClr val="141E2E"/>
          </a:solidFill>
          <a:ln w="1270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274320" y="1261872"/>
            <a:ext cx="3860800" cy="10972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11479" y="1371600"/>
            <a:ext cx="5349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B4D8"/>
                </a:solidFill>
              </a:rPr>
              <a:t>🗺️  Grid Visualization (Left Panel)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073" y="3099815"/>
            <a:ext cx="537667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C8D8E8"/>
                </a:solidFill>
              </a:rPr>
              <a:t>▸  👁 Eye icon toggles sweeping purple vision cones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45305" y="2034540"/>
            <a:ext cx="3172174" cy="4562855"/>
          </a:xfrm>
          <a:prstGeom prst="rect">
            <a:avLst/>
          </a:prstGeom>
          <a:solidFill>
            <a:srgbClr val="141E2E"/>
          </a:solidFill>
          <a:ln w="12700">
            <a:solidFill>
              <a:srgbClr val="06D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4345305" y="2034540"/>
            <a:ext cx="3172174" cy="82295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482464" y="2144269"/>
            <a:ext cx="5349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6D6A0"/>
                </a:solidFill>
              </a:rPr>
              <a:t>📊  Live Metrics &amp; Charts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1479" y="4910328"/>
            <a:ext cx="537667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C8D8E8"/>
                </a:solidFill>
              </a:rPr>
              <a:t>▸  Two spline charts: Rewards &amp; Rates over time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803960" y="1440179"/>
            <a:ext cx="4058824" cy="4147821"/>
          </a:xfrm>
          <a:prstGeom prst="rect">
            <a:avLst/>
          </a:prstGeom>
          <a:solidFill>
            <a:srgbClr val="141E2E"/>
          </a:solidFill>
          <a:ln w="12700">
            <a:solidFill>
              <a:srgbClr val="FF47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7803960" y="1440180"/>
            <a:ext cx="4058824" cy="83260"/>
          </a:xfrm>
          <a:prstGeom prst="rect">
            <a:avLst/>
          </a:prstGeom>
          <a:solidFill>
            <a:srgbClr val="FF4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7941120" y="1549907"/>
            <a:ext cx="3829696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476F"/>
                </a:solidFill>
              </a:rPr>
              <a:t>🔄  Path Simulation &amp; Checkpoints</a:t>
            </a:r>
          </a:p>
        </p:txBody>
      </p:sp>
      <p:pic>
        <p:nvPicPr>
          <p:cNvPr id="43" name="Picture 42">
            <a:extLst>
              <a:ext uri="{FF2B5EF4-FFF2-40B4-BE49-F238E27FC236}">
                <a16:creationId xmlns:a16="http://schemas.microsoft.com/office/drawing/2014/main" id="{67589A6B-4606-3E0D-2219-184FD639C9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425" y="1779699"/>
            <a:ext cx="3477895" cy="3587829"/>
          </a:xfrm>
          <a:prstGeom prst="rect">
            <a:avLst/>
          </a:prstGeom>
        </p:spPr>
      </p:pic>
      <p:pic>
        <p:nvPicPr>
          <p:cNvPr id="45" name="Picture 44">
            <a:extLst>
              <a:ext uri="{FF2B5EF4-FFF2-40B4-BE49-F238E27FC236}">
                <a16:creationId xmlns:a16="http://schemas.microsoft.com/office/drawing/2014/main" id="{F07B67B1-C07C-BDA2-CF1D-F2AB28822D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31786" y="2677929"/>
            <a:ext cx="2581718" cy="3587829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E5221034-1D01-E6A3-55D4-955966F24D2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41119" y="1884003"/>
            <a:ext cx="3790633" cy="350423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FF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182880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B700"/>
                </a:solidFill>
              </a:rPr>
              <a:t>PHASE II — Key Results: Cloud Training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777240"/>
            <a:ext cx="11338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C8D8E8"/>
                </a:solidFill>
              </a:rPr>
              <a:t>17,000 episodes · Dual T4 · Checkpoint ep17000 as best model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115568"/>
            <a:ext cx="11365992" cy="2286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FF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274320" y="1261872"/>
            <a:ext cx="2834640" cy="1051560"/>
          </a:xfrm>
          <a:prstGeom prst="rect">
            <a:avLst/>
          </a:prstGeom>
          <a:solidFill>
            <a:srgbClr val="141E2E"/>
          </a:solidFill>
          <a:ln w="1270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74320" y="1335024"/>
            <a:ext cx="28346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06D6A0"/>
                </a:solidFill>
              </a:rPr>
              <a:t>1.00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1828800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56677"/>
                </a:solidFill>
              </a:rPr>
              <a:t>Robber Win-Rate at ep17000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46120" y="1261872"/>
            <a:ext cx="2834640" cy="1051560"/>
          </a:xfrm>
          <a:prstGeom prst="rect">
            <a:avLst/>
          </a:prstGeom>
          <a:solidFill>
            <a:srgbClr val="141E2E"/>
          </a:solidFill>
          <a:ln w="1270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246120" y="1335024"/>
            <a:ext cx="28346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B700"/>
                </a:solidFill>
              </a:rPr>
              <a:t>+1093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46120" y="1828800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56677"/>
                </a:solidFill>
              </a:rPr>
              <a:t>ELO Differential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0" y="1261872"/>
            <a:ext cx="2834640" cy="1051560"/>
          </a:xfrm>
          <a:prstGeom prst="rect">
            <a:avLst/>
          </a:prstGeom>
          <a:solidFill>
            <a:srgbClr val="141E2E"/>
          </a:solidFill>
          <a:ln w="1270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217920" y="1335024"/>
            <a:ext cx="28346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06D6A0"/>
                </a:solidFill>
              </a:rPr>
              <a:t>+2.3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1828800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56677"/>
                </a:solidFill>
              </a:rPr>
              <a:t>Robber Reward (ep17000)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89720" y="1261872"/>
            <a:ext cx="2834640" cy="1051560"/>
          </a:xfrm>
          <a:prstGeom prst="rect">
            <a:avLst/>
          </a:prstGeom>
          <a:solidFill>
            <a:srgbClr val="141E2E"/>
          </a:solidFill>
          <a:ln w="1270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189720" y="1335024"/>
            <a:ext cx="28346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00B4D8"/>
                </a:solidFill>
              </a:rPr>
              <a:t>17,000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89720" y="1828800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56677"/>
                </a:solidFill>
              </a:rPr>
              <a:t>Total Episodes Trained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2468880"/>
            <a:ext cx="11640312" cy="4041648"/>
          </a:xfrm>
          <a:prstGeom prst="rect">
            <a:avLst/>
          </a:prstGeom>
          <a:solidFill>
            <a:srgbClr val="141E2E"/>
          </a:solidFill>
          <a:ln w="12700">
            <a:solidFill>
              <a:srgbClr val="FFB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57200" y="2578608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B700"/>
                </a:solidFill>
              </a:rPr>
              <a:t>Training Timeline Summary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2971800"/>
            <a:ext cx="11183112" cy="22860"/>
          </a:xfrm>
          <a:prstGeom prst="rect">
            <a:avLst/>
          </a:prstGeom>
          <a:solidFill>
            <a:srgbClr val="FF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457200" y="3044952"/>
            <a:ext cx="54864" cy="59436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40080" y="3054096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6D6A0"/>
                </a:solidFill>
              </a:rPr>
              <a:t>Phase A — Curriculum Climb (Ep 50–1700)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3374136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C8D8E8"/>
                </a:solidFill>
              </a:rPr>
              <a:t>Rookie → Master in ~300 episodes. Win-rate 0.90–1.00 consistently. ELO grew to +810. Solver generalised to all 4 curriculum stages faster than expected.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721608"/>
            <a:ext cx="54864" cy="594360"/>
          </a:xfrm>
          <a:prstGeom prst="rect">
            <a:avLst/>
          </a:prstGeom>
          <a:solidFill>
            <a:srgbClr val="FF4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40080" y="3730752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476F"/>
                </a:solidFill>
              </a:rPr>
              <a:t>Phase B — First Collapse (Ep 1750–2950)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4050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C8D8E8"/>
                </a:solidFill>
              </a:rPr>
              <a:t>Win-rate collapsed to 0.00. ELO dropped to -1060. Architect discovered vault-room fortification strategy — combining chokepoints, cameras, and guards with high density.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4398264"/>
            <a:ext cx="54864" cy="59436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40080" y="4407408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6D6A0"/>
                </a:solidFill>
              </a:rPr>
              <a:t>Phase C — First Recovery (Ep 3000–10000)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472744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C8D8E8"/>
                </a:solidFill>
              </a:rPr>
              <a:t>Solver rediscovered wall-hugging + blind-spot timing strategy. ELO returned to +994. 7000-episode positive regime demonstrated long-term stability after adversarial rebound.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5074920"/>
            <a:ext cx="54864" cy="594360"/>
          </a:xfrm>
          <a:prstGeom prst="rect">
            <a:avLst/>
          </a:prstGeom>
          <a:solidFill>
            <a:srgbClr val="FF4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40080" y="5084064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476F"/>
                </a:solidFill>
              </a:rPr>
              <a:t>Phase D — Second Collapse (Ep 10200–15500)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" y="5404104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C8D8E8"/>
                </a:solidFill>
              </a:rPr>
              <a:t>Deepest valley: ELO -1317. Architect evolved patrol synchronisation — guards timed so no safe window existed. Solver spent 5300 episodes at 0% win-rate.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5751576"/>
            <a:ext cx="54864" cy="59436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40080" y="576072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6D6A0"/>
                </a:solidFill>
              </a:rPr>
              <a:t>Phase E — Final Recovery (Ep 15501–17000)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60807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C8D8E8"/>
                </a:solidFill>
              </a:rPr>
              <a:t>Full recovery: Win-rate 1.00, ELO +1093. Post-restart, Solver learned fundamentally superior strategies. ep17000 selected as best checkpoint for all evaluations.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182880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6D6A0"/>
                </a:solidFill>
              </a:rPr>
              <a:t>Emergent Strategies &amp; Nash Equilibrium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777240"/>
            <a:ext cx="11338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C8D8E8"/>
                </a:solidFill>
              </a:rPr>
              <a:t>Nobody programmed these tactics — they arose from competition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115568"/>
            <a:ext cx="11365992" cy="2286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274320" y="1261872"/>
            <a:ext cx="5577840" cy="3657600"/>
          </a:xfrm>
          <a:prstGeom prst="rect">
            <a:avLst/>
          </a:prstGeom>
          <a:solidFill>
            <a:srgbClr val="141E2E"/>
          </a:solidFill>
          <a:ln w="1270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1426463"/>
            <a:ext cx="5212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B4D8"/>
                </a:solidFill>
              </a:rPr>
              <a:t>🔒  Architect Discovered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810511"/>
            <a:ext cx="5120640" cy="2286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7200" y="1901952"/>
            <a:ext cx="5166360" cy="2880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300"/>
              </a:spcBef>
            </a:pPr>
            <a:r>
              <a:rPr sz="1100" b="0" i="0">
                <a:solidFill>
                  <a:srgbClr val="C8D8E8"/>
                </a:solidFill>
              </a:rPr>
              <a:t>▸ Chokepoints — Narrow corridors covered by rotating cameras</a:t>
            </a:r>
          </a:p>
          <a:p>
            <a:pPr algn="l">
              <a:spcBef>
                <a:spcPts val="300"/>
              </a:spcBef>
            </a:pPr>
            <a:r>
              <a:rPr sz="1100" b="0" i="0">
                <a:solidFill>
                  <a:srgbClr val="C8D8E8"/>
                </a:solidFill>
              </a:rPr>
              <a:t>▸ Dead Ends — Walls that look like paths but lead into kill-zones</a:t>
            </a:r>
          </a:p>
          <a:p>
            <a:pPr algn="l">
              <a:spcBef>
                <a:spcPts val="300"/>
              </a:spcBef>
            </a:pPr>
            <a:r>
              <a:rPr sz="1100" b="0" i="0">
                <a:solidFill>
                  <a:srgbClr val="C8D8E8"/>
                </a:solidFill>
              </a:rPr>
              <a:t>▸ Patrol Synchronisation — Guards timed so no safe window exists</a:t>
            </a:r>
          </a:p>
          <a:p>
            <a:pPr algn="l">
              <a:spcBef>
                <a:spcPts val="300"/>
              </a:spcBef>
            </a:pPr>
            <a:r>
              <a:rPr sz="1100" b="0" i="0">
                <a:solidFill>
                  <a:srgbClr val="C8D8E8"/>
                </a:solidFill>
              </a:rPr>
              <a:t>▸ Camera Crossfire — Multiple cameras covering each other's blind spots</a:t>
            </a:r>
          </a:p>
          <a:p>
            <a:pPr algn="l">
              <a:spcBef>
                <a:spcPts val="300"/>
              </a:spcBef>
            </a:pPr>
            <a:r>
              <a:rPr sz="1100" b="0" i="0">
                <a:solidFill>
                  <a:srgbClr val="C8D8E8"/>
                </a:solidFill>
              </a:rPr>
              <a:t>▸ Vault Fortification — Dense security rings around the objective</a:t>
            </a:r>
          </a:p>
          <a:p>
            <a:pPr algn="l">
              <a:spcBef>
                <a:spcPts val="300"/>
              </a:spcBef>
            </a:pPr>
            <a:r>
              <a:rPr sz="1100" b="0" i="0">
                <a:solidFill>
                  <a:srgbClr val="C8D8E8"/>
                </a:solidFill>
              </a:rPr>
              <a:t>▸ Budget Efficiency — Cameras &gt; Guards for cost-per-coverage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261872"/>
            <a:ext cx="5577840" cy="3657600"/>
          </a:xfrm>
          <a:prstGeom prst="rect">
            <a:avLst/>
          </a:prstGeom>
          <a:solidFill>
            <a:srgbClr val="141E2E"/>
          </a:solidFill>
          <a:ln w="1270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00800" y="1426463"/>
            <a:ext cx="5212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476F"/>
                </a:solidFill>
              </a:rPr>
              <a:t>🕵️  Solver Discovered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0" y="1810511"/>
            <a:ext cx="5120640" cy="22860"/>
          </a:xfrm>
          <a:prstGeom prst="rect">
            <a:avLst/>
          </a:prstGeom>
          <a:solidFill>
            <a:srgbClr val="FF4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00800" y="1901952"/>
            <a:ext cx="5166360" cy="2880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300"/>
              </a:spcBef>
            </a:pPr>
            <a:r>
              <a:rPr sz="1100" b="0" i="0">
                <a:solidFill>
                  <a:srgbClr val="C8D8E8"/>
                </a:solidFill>
              </a:rPr>
              <a:t>▸ Wall Hugging — Using walls as cover from camera vision cones</a:t>
            </a:r>
          </a:p>
          <a:p>
            <a:pPr algn="l">
              <a:spcBef>
                <a:spcPts val="300"/>
              </a:spcBef>
            </a:pPr>
            <a:r>
              <a:rPr sz="1100" b="0" i="0">
                <a:solidFill>
                  <a:srgbClr val="C8D8E8"/>
                </a:solidFill>
              </a:rPr>
              <a:t>▸ Timing Windows — Waiting for cameras to rotate away before sprinting</a:t>
            </a:r>
          </a:p>
          <a:p>
            <a:pPr algn="l">
              <a:spcBef>
                <a:spcPts val="300"/>
              </a:spcBef>
            </a:pPr>
            <a:r>
              <a:rPr sz="1100" b="0" i="0">
                <a:solidFill>
                  <a:srgbClr val="C8D8E8"/>
                </a:solidFill>
              </a:rPr>
              <a:t>▸ Indirect Paths — Longer routes that avoid high-density detection zones</a:t>
            </a:r>
          </a:p>
          <a:p>
            <a:pPr algn="l">
              <a:spcBef>
                <a:spcPts val="300"/>
              </a:spcBef>
            </a:pPr>
            <a:r>
              <a:rPr sz="1100" b="0" i="0">
                <a:solidFill>
                  <a:srgbClr val="C8D8E8"/>
                </a:solidFill>
              </a:rPr>
              <a:t>▸ Patience (WAIT) — Staying still at critical moments for guard cycles</a:t>
            </a:r>
          </a:p>
          <a:p>
            <a:pPr algn="l">
              <a:spcBef>
                <a:spcPts val="300"/>
              </a:spcBef>
            </a:pPr>
            <a:r>
              <a:rPr sz="1100" b="0" i="0">
                <a:solidFill>
                  <a:srgbClr val="C8D8E8"/>
                </a:solidFill>
              </a:rPr>
              <a:t>▸ Blind Spot Exploitation — Navigating through camera angle gaps</a:t>
            </a:r>
          </a:p>
          <a:p>
            <a:pPr algn="l">
              <a:spcBef>
                <a:spcPts val="300"/>
              </a:spcBef>
            </a:pPr>
            <a:r>
              <a:rPr sz="1100" b="0" i="0">
                <a:solidFill>
                  <a:srgbClr val="C8D8E8"/>
                </a:solidFill>
              </a:rPr>
              <a:t>▸ Temporal Mapping — LSTM remembers guard positions from 5 steps ago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5074920"/>
            <a:ext cx="11640312" cy="1463040"/>
          </a:xfrm>
          <a:prstGeom prst="rect">
            <a:avLst/>
          </a:prstGeom>
          <a:solidFill>
            <a:srgbClr val="0A1E14"/>
          </a:solidFill>
          <a:ln w="12700">
            <a:solidFill>
              <a:srgbClr val="06D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57200" y="5184648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6D6A0"/>
                </a:solidFill>
              </a:rPr>
              <a:t>🎯  Nash Equilibrium — The Natural Balance Point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559552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8D8E8"/>
                </a:solidFill>
              </a:rPr>
              <a:t>Phase I converged at ~30% Solve Rate | 40% Detection Rate — the mathematical sweet spot. Phase II showed deeper cycling but returned to competitive balance. At equilibrium: the Architect cannot catch the Solver more reliably without making invalid levels; the Solver cannot reach the Vault more often without exposing itself to detection. This is the same framework used in poker AI, military strategy models, and economic game theory.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2EF924B4-40CF-41CE-6949-7969C7ADFDA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1629359" y="3254252"/>
            <a:ext cx="1578801" cy="1514897"/>
          </a:xfrm>
          <a:prstGeom prst="rect">
            <a:avLst/>
          </a:prstGeom>
        </p:spPr>
      </p:pic>
      <p:pic>
        <p:nvPicPr>
          <p:cNvPr id="20" name="Picture 10" descr="28+ Free Thief Clipart in Transparent PNG [800kb] | Best PNG Album">
            <a:extLst>
              <a:ext uri="{FF2B5EF4-FFF2-40B4-BE49-F238E27FC236}">
                <a16:creationId xmlns:a16="http://schemas.microsoft.com/office/drawing/2014/main" id="{C0F4645D-4CF5-FEE3-2071-4530C50E639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/>
          <a:srcRect t="3900" b="7864"/>
          <a:stretch>
            <a:fillRect/>
          </a:stretch>
        </p:blipFill>
        <p:spPr bwMode="auto">
          <a:xfrm>
            <a:off x="8382000" y="3302986"/>
            <a:ext cx="1066800" cy="14522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5566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182880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0B4D8"/>
                </a:solidFill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777240"/>
            <a:ext cx="11338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556677"/>
                </a:solidFill>
              </a:rPr>
              <a:t>Key literature supporting this adversarial RL framework (2021–2025)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115568"/>
            <a:ext cx="11365992" cy="2286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5566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274320" y="1261872"/>
            <a:ext cx="502920" cy="34747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74320" y="1261872"/>
            <a:ext cx="502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D1117"/>
                </a:solidFill>
              </a:rPr>
              <a:t>[1]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261872"/>
            <a:ext cx="49834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B700"/>
                </a:solidFill>
              </a:rPr>
              <a:t>Schulman et al., 2017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1536192"/>
            <a:ext cx="4983479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C8D8E8"/>
                </a:solidFill>
              </a:rPr>
              <a:t>"Proximal Policy Optimization Algorithms," arXiv:1707.06347. [PPO — core RL algorithm for both agents]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2157984"/>
            <a:ext cx="502920" cy="34747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74320" y="2157984"/>
            <a:ext cx="502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D1117"/>
                </a:solidFill>
              </a:rPr>
              <a:t>[2]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157984"/>
            <a:ext cx="49834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B700"/>
                </a:solidFill>
              </a:rPr>
              <a:t>Baker et al., 2020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2432303"/>
            <a:ext cx="4983479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C8D8E8"/>
                </a:solidFill>
              </a:rPr>
              <a:t>"Emergent Tool Use From Multi-Agent Autocurricula," ICLR 2020. [Foundation for emergent multi-agent strategies]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3054096"/>
            <a:ext cx="502920" cy="34747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74320" y="3054096"/>
            <a:ext cx="502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D1117"/>
                </a:solidFill>
              </a:rPr>
              <a:t>[3]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3054096"/>
            <a:ext cx="49834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B700"/>
                </a:solidFill>
              </a:rPr>
              <a:t>Vinyals et al., 2019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3328415"/>
            <a:ext cx="4983479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C8D8E8"/>
                </a:solidFill>
              </a:rPr>
              <a:t>"Grandmaster level in StarCraft II using multi-agent RL," Nature, 575. [Adversarial curriculum for complex games]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3950208"/>
            <a:ext cx="502920" cy="34747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274320" y="3950208"/>
            <a:ext cx="502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D1117"/>
                </a:solidFill>
              </a:rPr>
              <a:t>[4]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3950208"/>
            <a:ext cx="49834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B700"/>
                </a:solidFill>
              </a:rPr>
              <a:t>Bengio et al., 2021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4224528"/>
            <a:ext cx="4983479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C8D8E8"/>
                </a:solidFill>
              </a:rPr>
              <a:t>"Curriculum Learning," ICML 2021. [Theoretical basis for difficulty scheduling and curriculum design]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" y="4846320"/>
            <a:ext cx="502920" cy="34747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274320" y="4846320"/>
            <a:ext cx="502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D1117"/>
                </a:solidFill>
              </a:rPr>
              <a:t>[5]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4846320"/>
            <a:ext cx="49834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B700"/>
                </a:solidFill>
              </a:rPr>
              <a:t>Mnih et al., 2022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5120640"/>
            <a:ext cx="4983479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C8D8E8"/>
                </a:solidFill>
              </a:rPr>
              <a:t>"Playing Atari with Deep Reinforcement Learning," NeurIPS. [CNN feature extraction for RL observations]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4320" y="5742432"/>
            <a:ext cx="502920" cy="34747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274320" y="5742432"/>
            <a:ext cx="502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D1117"/>
                </a:solidFill>
              </a:rPr>
              <a:t>[6]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8680" y="5742432"/>
            <a:ext cx="49834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B700"/>
                </a:solidFill>
              </a:rPr>
              <a:t>OpenAI, 2021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" y="6016752"/>
            <a:ext cx="4983479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C8D8E8"/>
                </a:solidFill>
              </a:rPr>
              <a:t>"Asymmetric self-play for automatic goal discovery," arXiv:2101.04882. [Architect-Solver game formulation]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17920" y="1261872"/>
            <a:ext cx="502920" cy="34747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217920" y="1261872"/>
            <a:ext cx="502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D1117"/>
                </a:solidFill>
              </a:rPr>
              <a:t>[7]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12280" y="1261872"/>
            <a:ext cx="49834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B700"/>
                </a:solidFill>
              </a:rPr>
              <a:t>Gleave et al., 2022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12280" y="1536192"/>
            <a:ext cx="4983479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C8D8E8"/>
                </a:solidFill>
              </a:rPr>
              <a:t>"Adversarial Policies: Attacking Deep Reinforcement Learning," ICLR 2022. [Adversarial policy dynamics]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217920" y="2157984"/>
            <a:ext cx="502920" cy="34747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217920" y="2157984"/>
            <a:ext cx="502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D1117"/>
                </a:solidFill>
              </a:rPr>
              <a:t>[8]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12280" y="2157984"/>
            <a:ext cx="49834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B700"/>
                </a:solidFill>
              </a:rPr>
              <a:t>Hausknecht &amp; Stone, 2015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12280" y="2432303"/>
            <a:ext cx="4983479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C8D8E8"/>
                </a:solidFill>
              </a:rPr>
              <a:t>"Deep Recurrent Q-Networks for Partially Observable MDPs," AAAI. [LSTM in RL for temporal memory]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217920" y="3054096"/>
            <a:ext cx="502920" cy="34747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217920" y="3054096"/>
            <a:ext cx="502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D1117"/>
                </a:solidFill>
              </a:rPr>
              <a:t>[9]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12280" y="3054096"/>
            <a:ext cx="49834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B700"/>
                </a:solidFill>
              </a:rPr>
              <a:t>Littman, 1994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12280" y="3328415"/>
            <a:ext cx="4983479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C8D8E8"/>
                </a:solidFill>
              </a:rPr>
              <a:t>"Markov games as a framework for multi-agent RL," ICML 1994. [Markov Game theoretical backbone]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217920" y="3950208"/>
            <a:ext cx="502920" cy="34747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6217920" y="3950208"/>
            <a:ext cx="502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D1117"/>
                </a:solidFill>
              </a:rPr>
              <a:t>[10]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12280" y="3950208"/>
            <a:ext cx="49834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B700"/>
                </a:solidFill>
              </a:rPr>
              <a:t>Lanctot et al., 2023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12280" y="4224528"/>
            <a:ext cx="4983479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C8D8E8"/>
                </a:solidFill>
              </a:rPr>
              <a:t>"OpenSpiel: A Framework for Reinforcement Learning in Games," JMLR. [Multi-agent game benchmarks]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217920" y="4846320"/>
            <a:ext cx="502920" cy="34747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6217920" y="4846320"/>
            <a:ext cx="502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D1117"/>
                </a:solidFill>
              </a:rPr>
              <a:t>[11]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812280" y="4846320"/>
            <a:ext cx="49834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B700"/>
                </a:solidFill>
              </a:rPr>
              <a:t>Elo, 1978 / Silver et al., 2021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812280" y="5120640"/>
            <a:ext cx="4983479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C8D8E8"/>
                </a:solidFill>
              </a:rPr>
              <a:t>"The Rating of Chessplayers" / "A general RL algorithm AlphaZero," Science. [ELO rating adaptation]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217920" y="5742432"/>
            <a:ext cx="502920" cy="34747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217920" y="5742432"/>
            <a:ext cx="502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D1117"/>
                </a:solidFill>
              </a:rPr>
              <a:t>[12]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812280" y="5742432"/>
            <a:ext cx="49834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B700"/>
                </a:solidFill>
              </a:rPr>
              <a:t>Chevalier-Boisvert et al., 2023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812280" y="6016752"/>
            <a:ext cx="4983479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C8D8E8"/>
                </a:solidFill>
              </a:rPr>
              <a:t>"MiniGrid &amp; MiniWorld: Modular &amp; Customisable RL Grid Environments," NeurIPS. [Related grid-world baselines]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12188952" cy="2103120"/>
          </a:xfrm>
          <a:prstGeom prst="rect">
            <a:avLst/>
          </a:prstGeom>
          <a:solidFill>
            <a:srgbClr val="14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20040" y="384048"/>
            <a:ext cx="115214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</a:rPr>
              <a:t>CONCLUSIONS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024128"/>
            <a:ext cx="11521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1">
                <a:solidFill>
                  <a:srgbClr val="06D6A0"/>
                </a:solidFill>
              </a:rPr>
              <a:t>Heist Architect — CSE4019 Adversarial RL Framework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463040"/>
            <a:ext cx="11521440" cy="27432"/>
          </a:xfrm>
          <a:prstGeom prst="rect">
            <a:avLst/>
          </a:prstGeom>
          <a:solidFill>
            <a:srgbClr val="5566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320040" y="1600200"/>
            <a:ext cx="11521440" cy="822960"/>
          </a:xfrm>
          <a:prstGeom prst="rect">
            <a:avLst/>
          </a:prstGeom>
          <a:solidFill>
            <a:srgbClr val="141E2E"/>
          </a:solidFill>
          <a:ln w="12700">
            <a:solidFill>
              <a:srgbClr val="06D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02920" y="1691640"/>
            <a:ext cx="4114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D6A0"/>
                </a:solidFill>
              </a:rPr>
              <a:t>✓  Phase I proved the concept: 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09160" y="1737360"/>
            <a:ext cx="6949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8D8E8"/>
                </a:solidFill>
              </a:rPr>
              <a:t>Local 500-episode run achieved Nash Equilibrium at ~60% Solve / 40% Detect.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2560320"/>
            <a:ext cx="11521440" cy="822960"/>
          </a:xfrm>
          <a:prstGeom prst="rect">
            <a:avLst/>
          </a:prstGeom>
          <a:solidFill>
            <a:srgbClr val="141E2E"/>
          </a:solidFill>
          <a:ln w="12700">
            <a:solidFill>
              <a:srgbClr val="FFB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02920" y="2651760"/>
            <a:ext cx="4114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B700"/>
                </a:solidFill>
              </a:rPr>
              <a:t>✓  Phase II deepened the science: 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09160" y="2697479"/>
            <a:ext cx="6949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8D8E8"/>
                </a:solidFill>
              </a:rPr>
              <a:t>17,000 episodes on Kaggle T4 GPUs revealed adversarial cycling — collapse, recovery, arms race.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" y="3520440"/>
            <a:ext cx="11521440" cy="822960"/>
          </a:xfrm>
          <a:prstGeom prst="rect">
            <a:avLst/>
          </a:prstGeom>
          <a:solidFill>
            <a:srgbClr val="141E2E"/>
          </a:solidFill>
          <a:ln w="1270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02920" y="3611880"/>
            <a:ext cx="4114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B4D8"/>
                </a:solidFill>
              </a:rPr>
              <a:t>✓  Emergent complexity works:    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3657600"/>
            <a:ext cx="6949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8D8E8"/>
                </a:solidFill>
              </a:rPr>
              <a:t>Chokepoints, patrol sync, wall-hugging, timing — none programmed; all emerged from competition.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4480560"/>
            <a:ext cx="11521440" cy="822960"/>
          </a:xfrm>
          <a:prstGeom prst="rect">
            <a:avLst/>
          </a:prstGeom>
          <a:solidFill>
            <a:srgbClr val="141E2E"/>
          </a:solidFill>
          <a:ln w="12700">
            <a:solidFill>
              <a:srgbClr val="FF47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02920" y="4572000"/>
            <a:ext cx="4114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476F"/>
                </a:solidFill>
              </a:rPr>
              <a:t>✓  The architecture scales:      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09160" y="4617720"/>
            <a:ext cx="6949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8D8E8"/>
                </a:solidFill>
              </a:rPr>
              <a:t>CNN+LSTM Solver (550K params) and Encoder-Decoder Architect (407K) remain competitive at Master level.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5440680"/>
            <a:ext cx="11521440" cy="822960"/>
          </a:xfrm>
          <a:prstGeom prst="rect">
            <a:avLst/>
          </a:prstGeom>
          <a:solidFill>
            <a:srgbClr val="141E2E"/>
          </a:solidFill>
          <a:ln w="12700">
            <a:solidFill>
              <a:srgbClr val="06D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02920" y="5532120"/>
            <a:ext cx="4114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D6A0"/>
                </a:solidFill>
              </a:rPr>
              <a:t>✓  Game theory is validated:     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09160" y="5577840"/>
            <a:ext cx="6949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8D8E8"/>
                </a:solidFill>
              </a:rPr>
              <a:t>Nash Equilibrium, Markov Games, and ELO dynamics are empirically reproducible in our custom environment.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" y="6492240"/>
            <a:ext cx="11521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6677"/>
                </a:solidFill>
              </a:rPr>
              <a:t>Shanmuk4622/heist-architect-v2  |  CSE4019 — 2025-2026  |  Built with PyTorch · Flask · CUDA · Kaggle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61</TotalTime>
  <Words>3670</Words>
  <Application>Microsoft Office PowerPoint</Application>
  <PresentationFormat>Custom</PresentationFormat>
  <Paragraphs>496</Paragraphs>
  <Slides>21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5" baseType="lpstr">
      <vt:lpstr>Aptos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Bonala Shanmukesh</cp:lastModifiedBy>
  <cp:revision>14</cp:revision>
  <dcterms:created xsi:type="dcterms:W3CDTF">2013-01-27T09:14:16Z</dcterms:created>
  <dcterms:modified xsi:type="dcterms:W3CDTF">2026-04-22T06:14:07Z</dcterms:modified>
  <cp:category/>
</cp:coreProperties>
</file>