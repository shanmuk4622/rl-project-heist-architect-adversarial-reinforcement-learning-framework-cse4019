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2103120"/>
          </a:xfrm>
          <a:prstGeom prst="rect">
            <a:avLst/>
          </a:prstGeom>
          <a:solidFill>
            <a:srgbClr val="14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HEIST 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B4D8"/>
                </a:solidFill>
              </a:rPr>
              <a:t>Adversarial Reinforcement Learning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11521440" cy="27432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057400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8E8"/>
                </a:solidFill>
              </a:rPr>
              <a:t>Two AI agents play an infinite game of cops-and-robbers.
One designs the security system. The other breaks 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246120"/>
            <a:ext cx="14630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2461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PHASE 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3246120"/>
            <a:ext cx="1463040" cy="34747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32461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PHASE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70332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77"/>
                </a:solidFill>
              </a:rPr>
              <a:t>Local Training  →  Kaggle Cloud Scale-Up  →  17,000 Episodes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4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63550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77"/>
                </a:solidFill>
              </a:rPr>
              <a:t>CSE4019 – Reinforcement Learning Project  |  2025–2026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9224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Built with PyTorch · Flask · CUDA · Kaggle T4 GPUs  |  Hugging Face: Shanmuk4622/heist-architect-v2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Presentation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E8"/>
                </a:solidFill>
              </a:rPr>
              <a:t>A two-phase journey from local prototype to cloud-scale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532120" cy="534924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PHASE I — Local 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516636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01.  Problem Statement &amp; 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5059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02.  Adversarial RL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7238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03.  Dual-Agent Architecture (Architect vs Solver)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9417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04.  Environment Design — 20×20 Grid World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1596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05.  Security Components (Walls, Cameras, Guards)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06.  Curriculum Learning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5955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07.  Neural Networks (CNN + LSTM / Encoder-Decoder)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8134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08.  Phase I Results — 500 Episode Local Run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234440"/>
            <a:ext cx="5532120" cy="5349240"/>
          </a:xfrm>
          <a:prstGeom prst="rect">
            <a:avLst/>
          </a:prstGeom>
          <a:solidFill>
            <a:srgbClr val="141E2E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</a:rPr>
              <a:t>PHASE II — Cloud Scale-Up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1737360"/>
            <a:ext cx="5166360" cy="228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8288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01.  Phase II — Kaggle Cloud Scale-Up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45059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02.  17,000 Episode Training on Dual T4 GPUs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07238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03.  Collapse &amp; Recovery Cycles (Adversarial Dynamics)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69417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04.  ELO Arms Race — Strategic Equilibrium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31596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05.  Web Dashboard — Real-Time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9377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06.  Key Quantitative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55955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07.  Emergent Strategies &amp; Nash Equilibrium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618134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08.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E8"/>
                </a:solidFill>
              </a:rPr>
              <a:t>What are we solving, and why does it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11640312" cy="146304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155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B700"/>
                </a:solidFill>
              </a:rPr>
              <a:t>"Standard RL trains a single agent on a fixed environment.
Real-world security is a dynamic, adaptive adversarial game."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80360"/>
            <a:ext cx="3794760" cy="3611880"/>
          </a:xfrm>
          <a:prstGeom prst="rect">
            <a:avLst/>
          </a:prstGeom>
          <a:solidFill>
            <a:srgbClr val="141E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880360"/>
            <a:ext cx="3794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9992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Static Environments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456432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Traditional RL agents memorize solutions. Security threats evolve — a defender must adapt to an ever-improving attacker.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880360"/>
            <a:ext cx="3794760" cy="3611880"/>
          </a:xfrm>
          <a:prstGeom prst="rect">
            <a:avLst/>
          </a:prstGeom>
          <a:solidFill>
            <a:srgbClr val="141E2E"/>
          </a:solidFill>
          <a:ln w="19050">
            <a:solidFill>
              <a:srgbClr val="F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880360"/>
            <a:ext cx="3794760" cy="73152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9992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76F"/>
                </a:solidFill>
              </a:rPr>
              <a:t>Single-Agent Limitation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456432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Training on a fixed maze produces brittle policies. An intelligent adversary (Architect) forces the agent to generalize, not memorize.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2880360"/>
            <a:ext cx="3794760" cy="3611880"/>
          </a:xfrm>
          <a:prstGeom prst="rect">
            <a:avLst/>
          </a:prstGeom>
          <a:solidFill>
            <a:srgbClr val="141E2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2880360"/>
            <a:ext cx="379476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9992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No Adversarial Co-Learning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456432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Existing benchmarks (e.g., MiniGrid) lack an intelligent, learning opponent. This project fills that gap with simultaneous dual-agent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476F"/>
                </a:solidFill>
              </a:rPr>
              <a:t>Adversarial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E8"/>
                </a:solidFill>
              </a:rPr>
              <a:t>Self-play that drives emergent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🔹 Standard MDP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27632"/>
            <a:ext cx="5394960" cy="228600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19072"/>
            <a:ext cx="5029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• One agent, one fixed environment
• Converges to a stable optimal policy
• Learns to memorize patterns
• Fails when environment shifts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6187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76F"/>
                </a:solidFill>
              </a:rPr>
              <a:t>⚔️  Markov Game (This Project)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627632"/>
            <a:ext cx="5577840" cy="2286000"/>
          </a:xfrm>
          <a:prstGeom prst="rect">
            <a:avLst/>
          </a:prstGeom>
          <a:solidFill>
            <a:srgbClr val="141E2E"/>
          </a:solidFill>
          <a:ln w="12700">
            <a:solidFill>
              <a:srgbClr val="F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19072"/>
            <a:ext cx="5212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• Two agents, adversarially generated environment
• Strategically non-stationary — task changes as opponent evolves
• Forces generalisation over memorisation
• Converges toward Nash Equilibrium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2103120"/>
            <a:ext cx="658368" cy="6583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157984"/>
            <a:ext cx="658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96512"/>
            <a:ext cx="2834640" cy="242316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Non-Stationarity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6177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Task distribution changes as the opponent learns new strategies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5263" y="4096512"/>
            <a:ext cx="2834640" cy="2423160"/>
          </a:xfrm>
          <a:prstGeom prst="rect">
            <a:avLst/>
          </a:prstGeom>
          <a:solidFill>
            <a:srgbClr val="141E2E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2423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0"/>
                </a:solidFill>
              </a:rPr>
              <a:t>Co-Adaptation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2423" y="46177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Both policies evolve in response to each other — arms race dynamics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7" y="4096512"/>
            <a:ext cx="2834640" cy="2423160"/>
          </a:xfrm>
          <a:prstGeom prst="rect">
            <a:avLst/>
          </a:prstGeom>
          <a:solidFill>
            <a:srgbClr val="141E2E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Nash Equilibrium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6177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Stable endpoint where neither agent can improve by changing strategy alone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17151" y="4096512"/>
            <a:ext cx="2834640" cy="2423160"/>
          </a:xfrm>
          <a:prstGeom prst="rect">
            <a:avLst/>
          </a:prstGeom>
          <a:solidFill>
            <a:srgbClr val="141E2E"/>
          </a:solidFill>
          <a:ln w="12700">
            <a:solidFill>
              <a:srgbClr val="F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4311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76F"/>
                </a:solidFill>
              </a:rPr>
              <a:t>ELO Rating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1" y="46177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Relative skill score that tracks which agent is currently dominating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6D6A0"/>
                </a:solidFill>
              </a:rPr>
              <a:t>The Two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E8"/>
                </a:solidFill>
              </a:rPr>
              <a:t>Architect vs Solver — an infinite adversarial game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577840" cy="525780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61872"/>
            <a:ext cx="55778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🔒  THE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77"/>
                </a:solidFill>
              </a:rPr>
              <a:t>Security Designer — The Adversary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5166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C8D8E8"/>
                </a:solidFill>
              </a:rPr>
              <a:t>▸ Places Walls, Cameras &amp; Guards on a 20×20 grid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C8D8E8"/>
                </a:solidFill>
              </a:rPr>
              <a:t>▸ Must stay within a budget (Wall=1 pt, Cam=3 pt, Guard=5 pt)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C8D8E8"/>
                </a:solidFill>
              </a:rPr>
              <a:t>▸ Budget grows with curriculum: 5 → 8 → 15 → 22 pts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C8D8E8"/>
                </a:solidFill>
              </a:rPr>
              <a:t>▸ Penalised if no valid path exists to the Vault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C8D8E8"/>
                </a:solidFill>
              </a:rPr>
              <a:t>▸ Penalised if the Solver finds it too easy (&gt;80% solve rate)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C8D8E8"/>
                </a:solidFill>
              </a:rPr>
              <a:t>▸ Rewarded proportionally to Detection Rate achieved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C8D8E8"/>
                </a:solidFill>
              </a:rPr>
              <a:t>▸ Network: ResNet + Group Norm Backbone — 8.5M parameters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C8D8E8"/>
                </a:solidFill>
              </a:rPr>
              <a:t>▸ Uses 512-dim LSTM hidden state to map a dense 400-cell grid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261872"/>
            <a:ext cx="5577840" cy="5257800"/>
          </a:xfrm>
          <a:prstGeom prst="rect">
            <a:avLst/>
          </a:prstGeom>
          <a:solidFill>
            <a:srgbClr val="141E2E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261872"/>
            <a:ext cx="5577840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3716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B700"/>
                </a:solidFill>
              </a:rPr>
              <a:t>🕵️  THE SOLVER (ROBBER)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288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77"/>
                </a:solidFill>
              </a:rPr>
              <a:t>Infiltrator — The Navigator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94560"/>
            <a:ext cx="5166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C8D8E8"/>
                </a:solidFill>
              </a:rPr>
              <a:t>▸ Navigates from Start (1,1) to Vault (18,18) undetected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C8D8E8"/>
                </a:solidFill>
              </a:rPr>
              <a:t>▸ Actions: UP, DOWN, LEFT, RIGHT, WAIT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C8D8E8"/>
                </a:solidFill>
              </a:rPr>
              <a:t>▸ Sees 12-channel spatial tensors (geodesic dists, danger zones)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C8D8E8"/>
                </a:solidFill>
              </a:rPr>
              <a:t>▸ WAIT action is critical — times camera rotations precisely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C8D8E8"/>
                </a:solidFill>
              </a:rPr>
              <a:t>▸ Uses massive 512-param LSTM memory to track temporal guard sequences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C8D8E8"/>
                </a:solidFill>
              </a:rPr>
              <a:t>▸ Penalised -1.0 for detection; rewarded +10.0 for vault reach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C8D8E8"/>
                </a:solidFill>
              </a:rPr>
              <a:t>▸ Network: CNN + 512-dim LSTM — 7M parameters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C8D8E8"/>
                </a:solidFill>
              </a:rPr>
              <a:t>▸ Distance-based shaping guides learning from episode 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The Grid World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E8"/>
                </a:solidFill>
              </a:rPr>
              <a:t>A 20×20 dynamic adversarial arena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029200" cy="5257800"/>
          </a:xfrm>
          <a:prstGeom prst="rect">
            <a:avLst/>
          </a:prstGeom>
          <a:solidFill>
            <a:srgbClr val="141E2E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4663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D6A0"/>
                </a:solidFill>
              </a:rPr>
              <a:t>  ####################
  #S.................#
  #....####.........#
  #..................#
  #......C...........#
  #..........G.......#
  #..XXX.............#
  #....XXXXX.........#
  #..........XXXXXX..#
  #..................#
  #.................V#
  ####################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371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</a:rPr>
              <a:t>MAP LEGEND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1719072"/>
            <a:ext cx="6400800" cy="228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810512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S  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8105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Start — Solver spawns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24028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76F"/>
                </a:solidFill>
              </a:rPr>
              <a:t>V  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240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Vault — Solver's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67004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C  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67004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Camera — rotating vision cone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099815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0"/>
                </a:solidFill>
              </a:rPr>
              <a:t>G  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099815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Guard — mobile patrol unit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529584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677"/>
                </a:solidFill>
              </a:rPr>
              <a:t>#  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52958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Wall — blocks movement &amp; 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959352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76F"/>
                </a:solidFill>
              </a:rPr>
              <a:t>X  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9593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Danger Zone — currently surveilled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438912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D8E8"/>
                </a:solidFill>
              </a:rPr>
              <a:t>.   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3891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Empty — walkable safe tile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80" y="4919472"/>
            <a:ext cx="6473952" cy="146304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501091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Key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5349240"/>
            <a:ext cx="6172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• Border tiles are always walls  •  BFS validates path existence
• Visibility map is recomputed every tick via raycasting
• Camera FOV, rotation speed &amp; guard patrol paths are Architect-defined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Security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E8"/>
                </a:solidFill>
              </a:rPr>
              <a:t>Budget-constrained adversarial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3840480" cy="5257800"/>
          </a:xfrm>
          <a:prstGeom prst="rect">
            <a:avLst/>
          </a:prstGeom>
          <a:solidFill>
            <a:srgbClr val="141E2E"/>
          </a:solidFill>
          <a:ln w="1270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61872"/>
            <a:ext cx="3840480" cy="9144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3898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56677"/>
                </a:solidFill>
              </a:rPr>
              <a:t>🧱  WALL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0"/>
                </a:solidFill>
              </a:rPr>
              <a:t>Cost: 1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21284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▸  Static obstacle — no movement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91693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▸  Blocks Solver's path AND line-of-sight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62102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▸  Architect uses walls to create chokepoints and corridors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432511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▸  Funnels Solver into surveilled kill-zones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261872"/>
            <a:ext cx="3840480" cy="525780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1261872"/>
            <a:ext cx="384048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13898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📷  CAMERA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18470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0"/>
                </a:solidFill>
              </a:rPr>
              <a:t>Cost: 3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221284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▸  Fixed position, rotating heading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291693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▸  Triangular vision cone — raycasted, wall-occluded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362102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▸  Solver must time movements to exploit rotation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32511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▸  Architect places at intersections for maximum sweep area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57616" y="1261872"/>
            <a:ext cx="3840480" cy="5257800"/>
          </a:xfrm>
          <a:prstGeom prst="rect">
            <a:avLst/>
          </a:prstGeom>
          <a:solidFill>
            <a:srgbClr val="141E2E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57616" y="1261872"/>
            <a:ext cx="3840480" cy="9144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22208" y="13898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B700"/>
                </a:solidFill>
              </a:rPr>
              <a:t>💂  GUARD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18470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0"/>
                </a:solidFill>
              </a:rPr>
              <a:t>Cost: 5 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221284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▸  Mobile patrol along Architect-defined waypoint routes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291693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▸  Vision cone follows direction of movement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362102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▸  Most expensive — hardest for Solver to predict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432511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▸  Architect learns to sync guard patrols with camera blind spots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6D6A0"/>
                </a:solidFill>
              </a:rPr>
              <a:t>Reward System — Zero-Sum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E8"/>
                </a:solidFill>
              </a:rPr>
              <a:t>Precisely engineered incentives that drive adversarial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577840" cy="5257800"/>
          </a:xfrm>
          <a:prstGeom prst="rect">
            <a:avLst/>
          </a:prstGeom>
          <a:solidFill>
            <a:srgbClr val="141E2E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🕵️  Solver Rewards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5120640" cy="228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100584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+0.1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9476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Move closer to Vault (distance shaping)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87752"/>
            <a:ext cx="1005840" cy="384048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8775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-0.1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61518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Move further from Vault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55264"/>
            <a:ext cx="1005840" cy="384048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5526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-0.01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2826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Per time-step penalty (efficiency)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22776"/>
            <a:ext cx="1005840" cy="38404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227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+0.05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9502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Proximity bonus within 3 tiles of Vault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90288"/>
            <a:ext cx="100584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9028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+10.0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177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REACH THE VAULT  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57800"/>
            <a:ext cx="1005840" cy="384048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2578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-1.0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2852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DETECTED by camera or guard  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925312"/>
            <a:ext cx="1005840" cy="38404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2531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+2.0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9527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Partial credit at timeout (distance-based)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261872"/>
            <a:ext cx="5577840" cy="525780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13898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🔒  Architect Rewards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1783080"/>
            <a:ext cx="512064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37960" y="1920240"/>
            <a:ext cx="10058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192024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+1.0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19476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Detection rate × 1.0 (more detections = better security)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2724912"/>
            <a:ext cx="1005840" cy="384048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272491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-0.5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7523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Solver succeeds &gt;80% of attempts (too easy)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3529584"/>
            <a:ext cx="100584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35295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+0.2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5570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Solver succeeds 20–60%  (challenging but fair zone)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4334256"/>
            <a:ext cx="1005840" cy="384048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33425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-1.0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43616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Invalid layout — no valid path to Vault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5212080"/>
            <a:ext cx="5577840" cy="1188720"/>
          </a:xfrm>
          <a:prstGeom prst="rect">
            <a:avLst/>
          </a:prstGeom>
          <a:solidFill>
            <a:srgbClr val="102818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3952" y="5321808"/>
            <a:ext cx="5349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🎯  Architect's Sweet Spot: ~30% Solve Rate
Security challenging enough to catch most attempts, but not impossibly hard.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476F"/>
                </a:solidFill>
              </a:rPr>
              <a:t>Curriculum Learning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E8"/>
                </a:solidFill>
              </a:rPr>
              <a:t>Gradual difficulty ramp — stability before adversarial competition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61872"/>
            <a:ext cx="2231136" cy="5257800"/>
          </a:xfrm>
          <a:prstGeom prst="rect">
            <a:avLst/>
          </a:prstGeom>
          <a:solidFill>
            <a:srgbClr val="141E2E"/>
          </a:solidFill>
          <a:ln w="1905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261872"/>
            <a:ext cx="2231136" cy="109728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1389888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6677"/>
                </a:solidFill>
              </a:rPr>
              <a:t>WARMUP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783080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677"/>
                </a:solidFill>
              </a:rPr>
              <a:t>Pre-Training
Ep 1–30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" y="2240280"/>
            <a:ext cx="2029968" cy="2286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2331720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B700"/>
                </a:solidFill>
              </a:rPr>
              <a:t>Budget: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724912"/>
            <a:ext cx="202996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8D8E8"/>
                </a:solidFill>
              </a:rPr>
              <a:t>Empty grid; Solver learns basic
navigation toward the Vault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4160520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677"/>
                </a:solidFill>
              </a:rPr>
              <a:t>Solve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440740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100% 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4828032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677"/>
                </a:solidFill>
              </a:rPr>
              <a:t>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5074920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76F"/>
                </a:solidFill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51176" y="1261872"/>
            <a:ext cx="2231136" cy="5257800"/>
          </a:xfrm>
          <a:prstGeom prst="rect">
            <a:avLst/>
          </a:prstGeom>
          <a:solidFill>
            <a:srgbClr val="141E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51176" y="1261872"/>
            <a:ext cx="2231136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51176" y="1389888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PHASE 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51176" y="1783080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677"/>
                </a:solidFill>
              </a:rPr>
              <a:t>Walls Only
Ep 31–80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42616" y="2240280"/>
            <a:ext cx="2029968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51176" y="2331720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B700"/>
                </a:solidFill>
              </a:rPr>
              <a:t>Budget: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42616" y="2724912"/>
            <a:ext cx="202996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8D8E8"/>
                </a:solidFill>
              </a:rPr>
              <a:t>Walls introduced; Solver learns
path-finding around obstacles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51176" y="4160520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677"/>
                </a:solidFill>
              </a:rPr>
              <a:t>Solve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51176" y="440740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~100%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51176" y="4828032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677"/>
                </a:solidFill>
              </a:rPr>
              <a:t>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51176" y="5074920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76F"/>
                </a:solidFill>
              </a:rPr>
              <a:t>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01183" y="1261872"/>
            <a:ext cx="2231136" cy="5257800"/>
          </a:xfrm>
          <a:prstGeom prst="rect">
            <a:avLst/>
          </a:prstGeom>
          <a:solidFill>
            <a:srgbClr val="141E2E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01183" y="1261872"/>
            <a:ext cx="2231136" cy="10972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01183" y="1389888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700"/>
                </a:solidFill>
              </a:rPr>
              <a:t>PHASE II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01183" y="1783080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677"/>
                </a:solidFill>
              </a:rPr>
              <a:t>+ Cameras
Ep 81–200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92623" y="2240280"/>
            <a:ext cx="2029968" cy="228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1183" y="2331720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B700"/>
                </a:solidFill>
              </a:rPr>
              <a:t>Budget: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92623" y="2724912"/>
            <a:ext cx="202996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8D8E8"/>
                </a:solidFill>
              </a:rPr>
              <a:t>Rotating cameras added; LSTM memory
exploits rotation timing windows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01183" y="4160520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677"/>
                </a:solidFill>
              </a:rPr>
              <a:t>Solve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01183" y="440740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45–100%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1183" y="4828032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677"/>
                </a:solidFill>
              </a:rPr>
              <a:t>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01183" y="5074920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76F"/>
                </a:solidFill>
              </a:rPr>
              <a:t>20–40%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51192" y="1261872"/>
            <a:ext cx="2231136" cy="5257800"/>
          </a:xfrm>
          <a:prstGeom prst="rect">
            <a:avLst/>
          </a:prstGeom>
          <a:solidFill>
            <a:srgbClr val="141E2E"/>
          </a:solidFill>
          <a:ln w="19050">
            <a:solidFill>
              <a:srgbClr val="F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51192" y="1261872"/>
            <a:ext cx="2231136" cy="109728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51192" y="1389888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476F"/>
                </a:solidFill>
              </a:rPr>
              <a:t>PHASE III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51192" y="1783080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677"/>
                </a:solidFill>
              </a:rPr>
              <a:t>Full Security
Ep 201–400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42631" y="2240280"/>
            <a:ext cx="2029968" cy="22860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51192" y="2331720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B700"/>
                </a:solidFill>
              </a:rPr>
              <a:t>Budget: 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42631" y="2724912"/>
            <a:ext cx="202996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8D8E8"/>
                </a:solidFill>
              </a:rPr>
              <a:t>Guards introduced; true adversarial
competition begins — collapse then recovery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1192" y="4160520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677"/>
                </a:solidFill>
              </a:rPr>
              <a:t>Solve 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51192" y="440740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0→50%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51192" y="4828032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677"/>
                </a:solidFill>
              </a:rPr>
              <a:t>Detection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51192" y="5074920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76F"/>
                </a:solidFill>
              </a:rPr>
              <a:t>50–80%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1261872"/>
            <a:ext cx="2231136" cy="5257800"/>
          </a:xfrm>
          <a:prstGeom prst="rect">
            <a:avLst/>
          </a:prstGeom>
          <a:solidFill>
            <a:srgbClr val="141E2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01200" y="1261872"/>
            <a:ext cx="2231136" cy="1097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01200" y="1389888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PHASE IV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1783080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677"/>
                </a:solidFill>
              </a:rPr>
              <a:t>Expert Mode
Ep 401–500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92640" y="2240280"/>
            <a:ext cx="2029968" cy="228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01200" y="2331720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B700"/>
                </a:solidFill>
              </a:rPr>
              <a:t>Budget: 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2724912"/>
            <a:ext cx="202996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8D8E8"/>
                </a:solidFill>
              </a:rPr>
              <a:t>Maximum budget; Architect fortifies
vault rooms; Solver adapts dynamically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4160520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677"/>
                </a:solidFill>
              </a:rPr>
              <a:t>Solve Rate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440740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~60%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4828032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677"/>
                </a:solidFill>
              </a:rPr>
              <a:t>Detection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5074920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76F"/>
                </a:solidFill>
              </a:rPr>
              <a:t>~40%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Neural Network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E8"/>
                </a:solidFill>
              </a:rPr>
              <a:t>Solver: CNN + LSTM  |  Architect: Encoder-Decoder CNN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577840" cy="5257800"/>
          </a:xfrm>
          <a:prstGeom prst="rect">
            <a:avLst/>
          </a:prstGeom>
          <a:solidFill>
            <a:srgbClr val="141E2E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00"/>
                </a:solidFill>
              </a:rPr>
              <a:t>🕵️  Solver Network — 550K Parameters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5120640" cy="228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1371600" cy="41148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95681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3-Channel Grid (20×20)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331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677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61488"/>
            <a:ext cx="13716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614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CONV ×3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79806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3→32→64→64 kernels, ReLU activation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1729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677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02736"/>
            <a:ext cx="1371600" cy="411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0273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LSTM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6393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256 units, 128 hidden — temporal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0142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677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43984"/>
            <a:ext cx="1371600" cy="41148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4398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POLICY HEAD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4805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5-action probability distribution (U/D/L/R/WAIT)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85546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677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85232"/>
            <a:ext cx="1371600" cy="41148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2852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VALUE 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53218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State value estimate for PPO critic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1264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Why LSTM? Cameras rotate — the Solver needs memory to predict
when a camera will rotate away, creating a safe movement window.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1261872"/>
            <a:ext cx="5577840" cy="525780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13898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🔒  Architect Network — 407K Parameters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1783080"/>
            <a:ext cx="512064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37960" y="1920240"/>
            <a:ext cx="13716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1920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INPUT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195681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1-Channel grid (start/vault/border)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2331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677"/>
                </a:solidFill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2761488"/>
            <a:ext cx="1371600" cy="411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27614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ENCODER ×3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279806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1→32→64→128, ReLU — spatial compression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31729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677"/>
                </a:solidFill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7960" y="3602736"/>
            <a:ext cx="1371600" cy="41148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360273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DECODER ×3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36393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128→64→32→3, ConvTranspose, Sigmoid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40142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677"/>
                </a:solidFill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37960" y="4443984"/>
            <a:ext cx="13716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444398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PLACEMENT MAP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44805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Per-tile probabilities: [wall, camera, guard]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485546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677"/>
                </a:solidFill>
              </a:rPr>
              <a:t>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37960" y="5285232"/>
            <a:ext cx="1371600" cy="41148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52852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PARAM HEADS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53218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Camera FOV, rotation speed, guard patrol paths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60" y="61264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677"/>
                </a:solidFill>
              </a:rPr>
              <a:t>Samples from probability distributions with temperature — higher temperature
creates chaotic, unpredictable layouts; lower temperature maximises confidence.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6D6A0"/>
                </a:solidFill>
              </a:rPr>
              <a:t>PHASE I — Results: Local Training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E8"/>
                </a:solidFill>
              </a:rPr>
              <a:t>500 Episodes · 20×20 Grid · 126.5 min runtime · ResNet-Enhanced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2834640" cy="105156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35024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D6A0"/>
                </a:solidFill>
              </a:rPr>
              <a:t>59.5%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28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677"/>
                </a:solidFill>
              </a:rPr>
              <a:t>Final Solve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261872"/>
            <a:ext cx="2834640" cy="105156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335024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476F"/>
                </a:solidFill>
              </a:rPr>
              <a:t>40.5%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28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677"/>
                </a:solidFill>
              </a:rPr>
              <a:t>Final Detection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61872"/>
            <a:ext cx="2834640" cy="105156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335024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0.335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28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677"/>
                </a:solidFill>
              </a:rPr>
              <a:t>Avg Architect Reward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261872"/>
            <a:ext cx="2834640" cy="105156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335024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B700"/>
                </a:solidFill>
              </a:rPr>
              <a:t>7.813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1828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677"/>
                </a:solidFill>
              </a:rPr>
              <a:t>Avg Solver Reward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87168"/>
            <a:ext cx="11640312" cy="1024128"/>
          </a:xfrm>
          <a:prstGeom prst="rect">
            <a:avLst/>
          </a:prstGeom>
          <a:solidFill>
            <a:srgbClr val="141E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487168"/>
            <a:ext cx="73152" cy="10241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560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Phase I: Warmup &amp; Walls (Ep 1–80)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9443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Solver mastered open grid navigation by Episode 30 — reaching vault in 42 steps. With static walls, solve rate stayed at 100% (walls only deflect, not detect).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584448"/>
            <a:ext cx="11640312" cy="1024128"/>
          </a:xfrm>
          <a:prstGeom prst="rect">
            <a:avLst/>
          </a:prstGeom>
          <a:solidFill>
            <a:srgbClr val="141E2E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584448"/>
            <a:ext cx="73152" cy="102412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57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0"/>
                </a:solidFill>
              </a:rPr>
              <a:t>Phase II: Cameras Added (Ep 81–200)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0416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Solve rate instantly plummeted to 45% at Ep 80. Within 10 episodes (Ep 90), LSTM memory learned to wait for camera rotation windows — solve rate restored to 100%.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81728"/>
            <a:ext cx="11640312" cy="1024128"/>
          </a:xfrm>
          <a:prstGeom prst="rect">
            <a:avLst/>
          </a:prstGeom>
          <a:solidFill>
            <a:srgbClr val="141E2E"/>
          </a:solidFill>
          <a:ln w="19050">
            <a:solidFill>
              <a:srgbClr val="F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681728"/>
            <a:ext cx="73152" cy="1024128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754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76F"/>
                </a:solidFill>
              </a:rPr>
              <a:t>Phase III: Guards Introduced (Ep 200–400)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1389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Catastrophic collapse: Solve Rate dropped to 0.00, Detection to 1.00. Chokepoints + guards = lethal traps. After 100 episodes of adaptation, Solver clawed back to 50/50 — Nash balance.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779008"/>
            <a:ext cx="11640312" cy="1024128"/>
          </a:xfrm>
          <a:prstGeom prst="rect">
            <a:avLst/>
          </a:prstGeom>
          <a:solidFill>
            <a:srgbClr val="141E2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5779008"/>
            <a:ext cx="73152" cy="10241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8521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Phase IV: Expert Mode (Ep 400–500)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2362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</a:rPr>
              <a:t>Architect given maximum budget (22 pts). Win rate fluctuated wildly (5% at Ep 470, 100% at Ep 490). Final ~60% average against expert security — proves neural architecture is fully operational.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PHASE II — Kaggle Cloud Scale-Up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E8"/>
                </a:solidFill>
              </a:rPr>
              <a:t>Dual NVIDIA Tesla T4 · 17,000 Episodes · Hugging Face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11640312" cy="1280160"/>
          </a:xfrm>
          <a:prstGeom prst="rect">
            <a:avLst/>
          </a:prstGeom>
          <a:solidFill>
            <a:srgbClr val="141E2E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8D8E8"/>
                </a:solidFill>
              </a:rPr>
              <a:t>Phase I proved the framework works — agents learn, compete, and reach equilibrium in 500 episodes. Phase II answers: what happens when we train 34× longer with cloud GPU acceleration? The answer revealed deep adversarial cycling — collapse, recovery, and strategic arms race dynamics impossible to observe in short local runs.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43200"/>
            <a:ext cx="2231136" cy="201168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743200"/>
            <a:ext cx="2231136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83464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91840"/>
            <a:ext cx="20482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17,000 episodes vs 500
(34× more training)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4327" y="2743200"/>
            <a:ext cx="2231136" cy="2011680"/>
          </a:xfrm>
          <a:prstGeom prst="rect">
            <a:avLst/>
          </a:prstGeom>
          <a:solidFill>
            <a:srgbClr val="141E2E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24327" y="2743200"/>
            <a:ext cx="2231136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4327" y="283464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700"/>
                </a:solidFill>
              </a:rPr>
              <a:t>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3291840"/>
            <a:ext cx="20482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Dual NVIDIA Tesla T4 GPUs
vs local CPU/single GPU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74336" y="2743200"/>
            <a:ext cx="2231136" cy="2011680"/>
          </a:xfrm>
          <a:prstGeom prst="rect">
            <a:avLst/>
          </a:prstGeom>
          <a:solidFill>
            <a:srgbClr val="141E2E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74336" y="2743200"/>
            <a:ext cx="2231136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4336" y="283464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Curriculum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5" y="3291840"/>
            <a:ext cx="20482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4-stage: Rookie → Intermediate
→ Expert → Master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4344" y="2743200"/>
            <a:ext cx="2231136" cy="2011680"/>
          </a:xfrm>
          <a:prstGeom prst="rect">
            <a:avLst/>
          </a:prstGeom>
          <a:solidFill>
            <a:srgbClr val="141E2E"/>
          </a:solidFill>
          <a:ln w="12700">
            <a:solidFill>
              <a:srgbClr val="F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24344" y="2743200"/>
            <a:ext cx="2231136" cy="73152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24344" y="283464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476F"/>
                </a:solidFill>
              </a:rPr>
              <a:t>ELO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5783" y="3291840"/>
            <a:ext cx="20482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Real-time relative skill
tracking per episode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74352" y="2743200"/>
            <a:ext cx="2231136" cy="201168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74352" y="2743200"/>
            <a:ext cx="2231136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4352" y="283464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Cloud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3291840"/>
            <a:ext cx="20482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8E8"/>
                </a:solidFill>
              </a:rPr>
              <a:t>Checkpoints auto-synced
to Hugging Face every 500 ep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956048"/>
            <a:ext cx="11640312" cy="1572768"/>
          </a:xfrm>
          <a:prstGeom prst="rect">
            <a:avLst/>
          </a:prstGeom>
          <a:solidFill>
            <a:srgbClr val="10223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0749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⚡  Key Insight from Phase II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4406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The training history is not a smooth curve — it is evidence of adversarial cycling. The Solver dominated early, collapsed twice under Architect pressure, and recovered twice. This collapse-recovery pattern is the theoretical signature of adversarial co-adaptation, not a training failure. Final best checkpoint (ep17000): Robber win-rate 1.00, ELO +1093.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6D6A0"/>
                </a:solidFill>
              </a:rPr>
              <a:t>Phase II — Advanced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E8"/>
                </a:solidFill>
              </a:rPr>
              <a:t>Architectural Anatomy and PPO Engine Mechanics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11640312" cy="155448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🔒 The Architect's Anatomy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• Explicitly engineered with an 8.5M parameter ResNet + Group Normalization backbone.
• Leverages a 512-dimensional LSTM hidden state to map decision branching over a dense 400-cell grid matrix.
• Avoids standard DataParallel computations via True Split Asynchronous Deployment on dedicated cuda:0.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71800"/>
            <a:ext cx="11640312" cy="1554480"/>
          </a:xfrm>
          <a:prstGeom prst="rect">
            <a:avLst/>
          </a:prstGeom>
          <a:solidFill>
            <a:srgbClr val="141E2E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00"/>
                </a:solidFill>
              </a:rPr>
              <a:t>🕵️ The Robber's Anatomy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• Processes 12-channel spatial tensor inputs (tracking normalized geodesic distances and danger zones).
• Replaces simple CNNs passing with a 512-parameter LSTM (7M parameters total) to track temporal guard sequences.
• Detaches hidden states across continuous timesteps to construct a reliable memory of rotating camera phases.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681728"/>
            <a:ext cx="11640312" cy="1554480"/>
          </a:xfrm>
          <a:prstGeom prst="rect">
            <a:avLst/>
          </a:prstGeom>
          <a:solidFill>
            <a:srgbClr val="1A1A24"/>
          </a:solidFill>
          <a:ln w="12700">
            <a:solidFill>
              <a:srgbClr val="F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76F"/>
                </a:solidFill>
              </a:rPr>
              <a:t>⚙️ Core Engine Mechanics (PPO)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663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• Utilizes Proximal Policy Optimization (PPO) with Generalized Advantage Estimation (λ = 0.95, γ = 0.99).
• Enforces a clipped surrogate objective (ϵ = 0.2) to prevent catastrophic network self-destruction during updates.
• Applies entropy regularization (coef = 0.02) to actively circumvent Strategy Collapse and avoid boring Nash Equilibria.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476F"/>
                </a:solidFill>
              </a:rPr>
              <a:t>Training Dynamics — Collapse &amp; Recovery Cycles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E8"/>
                </a:solidFill>
              </a:rPr>
              <a:t>17,000 episodes of adversarial co-adaptation across 5 distinct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1280160" cy="384048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6187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Episode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261872"/>
            <a:ext cx="1097280" cy="384048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2618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261872"/>
            <a:ext cx="1005840" cy="384048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26187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Win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1261872"/>
            <a:ext cx="1188720" cy="384048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26187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ELO Diff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261872"/>
            <a:ext cx="6583680" cy="384048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261872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Interpretation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91640"/>
            <a:ext cx="128016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719072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8D8E8"/>
                </a:solidFill>
              </a:rPr>
              <a:t>Ep 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0" y="1691640"/>
            <a:ext cx="109728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1719072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Rookie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1691640"/>
            <a:ext cx="100584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39" y="17190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D6A0"/>
                </a:solidFill>
              </a:rPr>
              <a:t>0.96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1691640"/>
            <a:ext cx="118872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17190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D6A0"/>
                </a:solidFill>
              </a:rPr>
              <a:t>+477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1691640"/>
            <a:ext cx="658368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59" y="171907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Solver starts strong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139696"/>
            <a:ext cx="128016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167127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8D8E8"/>
                </a:solidFill>
              </a:rPr>
              <a:t>Ep 200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0" y="2139696"/>
            <a:ext cx="109728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91640" y="2167127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Expert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2139696"/>
            <a:ext cx="100584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39" y="2167127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D6A0"/>
                </a:solidFill>
              </a:rPr>
              <a:t>1.00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139696"/>
            <a:ext cx="118872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6200" y="2167127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D6A0"/>
                </a:solidFill>
              </a:rPr>
              <a:t>+737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2139696"/>
            <a:ext cx="658368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59" y="2167127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Solver generalises quickly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587752"/>
            <a:ext cx="128016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2615184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8D8E8"/>
                </a:solidFill>
              </a:rPr>
              <a:t>Ep 300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0" y="2587752"/>
            <a:ext cx="109728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91640" y="2615184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Master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88920" y="2587752"/>
            <a:ext cx="100584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39" y="26151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D6A0"/>
                </a:solidFill>
              </a:rPr>
              <a:t>1.00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2587752"/>
            <a:ext cx="118872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86200" y="261518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D6A0"/>
                </a:solidFill>
              </a:rPr>
              <a:t>+810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2587752"/>
            <a:ext cx="658368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66359" y="2615184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Peaks at hardest curriculum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035808"/>
            <a:ext cx="128016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3063240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8D8E8"/>
                </a:solidFill>
              </a:rPr>
              <a:t>Ep 1750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45920" y="3035808"/>
            <a:ext cx="109728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91640" y="3063240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Master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3035808"/>
            <a:ext cx="100584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39" y="30632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700"/>
                </a:solidFill>
              </a:rPr>
              <a:t>0.59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40480" y="3035808"/>
            <a:ext cx="118872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86200" y="30632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700"/>
                </a:solidFill>
              </a:rPr>
              <a:t>-381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20640" y="3035808"/>
            <a:ext cx="658368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66359" y="3063240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First collapse begins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483864"/>
            <a:ext cx="128016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" y="3511296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8D8E8"/>
                </a:solidFill>
              </a:rPr>
              <a:t>Ep 2950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45920" y="3483864"/>
            <a:ext cx="109728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91640" y="3511296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Master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88920" y="3483864"/>
            <a:ext cx="100584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34639" y="35112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476F"/>
                </a:solidFill>
              </a:rPr>
              <a:t>0.00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40480" y="3483864"/>
            <a:ext cx="118872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86200" y="351129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476F"/>
                </a:solidFill>
              </a:rPr>
              <a:t>-1060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20640" y="3483864"/>
            <a:ext cx="658368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66359" y="3511296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First collapse low point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3931920"/>
            <a:ext cx="128016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3959352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8D8E8"/>
                </a:solidFill>
              </a:rPr>
              <a:t>Ep 3000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45920" y="3931920"/>
            <a:ext cx="109728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91640" y="3959352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Master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88920" y="3931920"/>
            <a:ext cx="100584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34639" y="39593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700"/>
                </a:solidFill>
              </a:rPr>
              <a:t>0.28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40480" y="3931920"/>
            <a:ext cx="118872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86200" y="39593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700"/>
                </a:solidFill>
              </a:rPr>
              <a:t>+206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20640" y="3931920"/>
            <a:ext cx="658368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166359" y="395935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Recovery begins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4379976"/>
            <a:ext cx="128016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0040" y="4407408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8D8E8"/>
                </a:solidFill>
              </a:rPr>
              <a:t>Ep 5350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45920" y="4379976"/>
            <a:ext cx="109728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91640" y="440740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Master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88920" y="4379976"/>
            <a:ext cx="100584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34639" y="44074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D6A0"/>
                </a:solidFill>
              </a:rPr>
              <a:t>1.00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40480" y="4379976"/>
            <a:ext cx="118872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886200" y="44074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D6A0"/>
                </a:solidFill>
              </a:rPr>
              <a:t>+994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120640" y="4379976"/>
            <a:ext cx="658368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166359" y="4407408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High-performance peak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4828031"/>
            <a:ext cx="128016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0040" y="4855464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8D8E8"/>
                </a:solidFill>
              </a:rPr>
              <a:t>Ep 10200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45920" y="4828031"/>
            <a:ext cx="109728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691640" y="4855464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Master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88920" y="4828031"/>
            <a:ext cx="100584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834639" y="48554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700"/>
                </a:solidFill>
              </a:rPr>
              <a:t>0.55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40480" y="4828031"/>
            <a:ext cx="118872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886200" y="48554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700"/>
                </a:solidFill>
              </a:rPr>
              <a:t>-382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20640" y="4828031"/>
            <a:ext cx="658368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166359" y="4855464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Second collapse begins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5276088"/>
            <a:ext cx="128016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0040" y="5303520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8D8E8"/>
                </a:solidFill>
              </a:rPr>
              <a:t>Ep 15500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45920" y="5276088"/>
            <a:ext cx="109728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91640" y="5303520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Master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88920" y="5276088"/>
            <a:ext cx="100584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834639" y="53035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476F"/>
                </a:solidFill>
              </a:rPr>
              <a:t>0.00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76088"/>
            <a:ext cx="118872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886200" y="53035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476F"/>
                </a:solidFill>
              </a:rPr>
              <a:t>-1317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120640" y="5276088"/>
            <a:ext cx="658368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166359" y="5303520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Deepest valley observed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4320" y="5724144"/>
            <a:ext cx="128016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20040" y="5751576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8D8E8"/>
                </a:solidFill>
              </a:rPr>
              <a:t>Ep 16000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645920" y="5724144"/>
            <a:ext cx="109728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691640" y="5751576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Master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88920" y="5724144"/>
            <a:ext cx="100584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834639" y="575157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D6A0"/>
                </a:solidFill>
              </a:rPr>
              <a:t>1.00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840480" y="5724144"/>
            <a:ext cx="118872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886200" y="575157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D6A0"/>
                </a:solidFill>
              </a:rPr>
              <a:t>+895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120640" y="5724144"/>
            <a:ext cx="6583680" cy="420624"/>
          </a:xfrm>
          <a:prstGeom prst="rect">
            <a:avLst/>
          </a:prstGeom>
          <a:solidFill>
            <a:srgbClr val="101828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166359" y="5751576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Recovery after restart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74320" y="6172200"/>
            <a:ext cx="128016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20040" y="6199632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8D8E8"/>
                </a:solidFill>
              </a:rPr>
              <a:t>Ep 17000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645920" y="6172200"/>
            <a:ext cx="109728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691640" y="6199632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Master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88920" y="6172200"/>
            <a:ext cx="100584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834639" y="619963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D6A0"/>
                </a:solidFill>
              </a:rPr>
              <a:t>1.00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840480" y="6172200"/>
            <a:ext cx="118872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886200" y="61996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D6A0"/>
                </a:solidFill>
              </a:rPr>
              <a:t>+1093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120640" y="6172200"/>
            <a:ext cx="6583680" cy="420624"/>
          </a:xfrm>
          <a:prstGeom prst="rect">
            <a:avLst/>
          </a:prstGeom>
          <a:solidFill>
            <a:srgbClr val="141E2E"/>
          </a:solidFill>
          <a:ln w="381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166359" y="619963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Best visible checkpoint 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ELO Arms Race — Strategic Equilibrium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E8"/>
                </a:solidFill>
              </a:rPr>
              <a:t>Relative skill tracking reveals adversarial co-adaptation cycles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11640312" cy="123444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01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</a:rPr>
              <a:t>ELO is a relative skill metric borrowed from chess and competitive gaming. Here it tracks which agent is currently dominating. A positive ELO diff means the Solver is winning; negative means Architect dominates. Under PPO constraints, neither side easily exploits the other — LSTM hidden states push both agents into high-level spatial deduction rather than memorised routes.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51760"/>
            <a:ext cx="11640312" cy="1051560"/>
          </a:xfrm>
          <a:prstGeom prst="rect">
            <a:avLst/>
          </a:prstGeom>
          <a:solidFill>
            <a:srgbClr val="141E2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73152" cy="10515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2491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The Rookie Stage
(Ep 50–300)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74320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Robber ELO spikes to +810 because randomly-walking guards provide minimal map coverage. Single-agent navigation dominates early — layout complexity is insufficient to challenge a learning Solver.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67328"/>
            <a:ext cx="11640312" cy="1051560"/>
          </a:xfrm>
          <a:prstGeom prst="rect">
            <a:avLst/>
          </a:prstGeom>
          <a:solidFill>
            <a:srgbClr val="141E2E"/>
          </a:solidFill>
          <a:ln w="19050">
            <a:solidFill>
              <a:srgbClr val="F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767328"/>
            <a:ext cx="73152" cy="1051560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4048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76F"/>
                </a:solidFill>
              </a:rPr>
              <a:t>The Overfit Rebound
(Ep 1750–2950)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858768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Architect learns to cluster cameras near the Vault. Solver ELO collapses to -1060 — the Architect has found an effective chokepoint strategy that the Solver hasn't seen before.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82896"/>
            <a:ext cx="11640312" cy="1051560"/>
          </a:xfrm>
          <a:prstGeom prst="rect">
            <a:avLst/>
          </a:prstGeom>
          <a:solidFill>
            <a:srgbClr val="141E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882896"/>
            <a:ext cx="731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The Recovery Window
(Ep 3000–10000)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974336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Solver discovers new blind-spot exploitation strategies. ELO recovers to +994 — a long positive regime where the Solver consistently outperforms the Architect.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998464"/>
            <a:ext cx="11640312" cy="1051560"/>
          </a:xfrm>
          <a:prstGeom prst="rect">
            <a:avLst/>
          </a:prstGeom>
          <a:solidFill>
            <a:srgbClr val="141E2E"/>
          </a:solidFill>
          <a:ln w="1905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5998464"/>
            <a:ext cx="73152" cy="10515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07161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0"/>
                </a:solidFill>
              </a:rPr>
              <a:t>The Final Arms Race
(Ep 10200–17000)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6089903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Second deep collapse to -1317, then full recovery to +1093 at ep17000. Classic adversarial cycling — each side forces the other to find superior strategies.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6400800"/>
            <a:ext cx="11640312" cy="347472"/>
          </a:xfrm>
          <a:prstGeom prst="rect">
            <a:avLst/>
          </a:prstGeom>
          <a:solidFill>
            <a:srgbClr val="081C10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3737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A0"/>
                </a:solidFill>
              </a:rPr>
              <a:t>⭐  ep17000 — Best Checkpoint: Win-Rate 1.00 · ELO +1093 · Stage: Master   →  Default evaluation target for all dashboard demos.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6D6A0"/>
                </a:solidFill>
              </a:rPr>
              <a:t>Real-Time Web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E8"/>
                </a:solidFill>
              </a:rPr>
              <a:t>Flask + WebSocket live monitoring and control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669280" cy="251460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61872"/>
            <a:ext cx="566928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37160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🗺️  Grid Visualization (Left Panel)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856231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Live 20×20 environment — updates every tick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167127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Tiles: Start (Neon Green), Vault (Pink), Walls (Slate 3D Blocks)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478024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Purple borders = Cameras, Orange borders = Guards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788920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Gold Circle = Solver with path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099815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👁 Eye icon toggles sweeping purple vision cones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410712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Tick counter shows current step of max_steps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61872"/>
            <a:ext cx="5669280" cy="2514600"/>
          </a:xfrm>
          <a:prstGeom prst="rect">
            <a:avLst/>
          </a:prstGeom>
          <a:solidFill>
            <a:srgbClr val="141E2E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261872"/>
            <a:ext cx="5669280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37160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</a:rPr>
              <a:t>⚙️  Training Controls (Right Panel)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56231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Episodes / Solver Attempts per layout — configurable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67127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🚀 Start Training — launches automated adversarial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478024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🎬 Run Demo — single test episode with checkpoint weights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788920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Interactive Mode: set Budget, Temperature, Freeze toggles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099815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Temperature &gt;1.5 = chaotic layouts; &lt;0.5 = maximum 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10712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Asset restrictions: disable Cameras/Guards for ablation tests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005072"/>
            <a:ext cx="5669280" cy="2514600"/>
          </a:xfrm>
          <a:prstGeom prst="rect">
            <a:avLst/>
          </a:prstGeom>
          <a:solidFill>
            <a:srgbClr val="141E2E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005072"/>
            <a:ext cx="566928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411480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📊  Live Metrics &amp; 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599432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Live Metrics Board: Solve Rate vs Detection Rate percentages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910328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Two spline charts: Rewards &amp; Rates over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5221224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Smoothed curves reveal when agents hit equilibrium zone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5532120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Game Log: tabular record of every episode (Mode, Budget, Rates)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5843016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❄️A / ❄️S icons show frozen agent during interactive runs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6153912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Auto-checkpoint every 50 episodes — never lose progress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005072"/>
            <a:ext cx="5669280" cy="2514600"/>
          </a:xfrm>
          <a:prstGeom prst="rect">
            <a:avLst/>
          </a:prstGeom>
          <a:solidFill>
            <a:srgbClr val="141E2E"/>
          </a:solidFill>
          <a:ln w="12700">
            <a:solidFill>
              <a:srgbClr val="F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005072"/>
            <a:ext cx="5669280" cy="73152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11480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76F"/>
                </a:solidFill>
              </a:rPr>
              <a:t>🔄  Path Simulation &amp; Checkpoints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599432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Load historic checkpoint from dropdown — retroactive simulation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910328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Compare ep03500 vs ep15500 vs ep17000 behaviorally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221224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Simulate Demo button — watch policy from any training epoch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532120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Best practice: start with Budget=5, no cameras — watch basics first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843016"/>
            <a:ext cx="5376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▸  Then freeze Architect (❄️A) to let Solver catch up on hard maps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PHASE II — Key Results: Cloud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E8"/>
                </a:solidFill>
              </a:rPr>
              <a:t>17,000 episodes · Dual T4 · Checkpoint ep17000 as best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2834640" cy="105156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35024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D6A0"/>
                </a:solidFill>
              </a:rPr>
              <a:t>1.00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28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677"/>
                </a:solidFill>
              </a:rPr>
              <a:t>Robber Win-Rate at ep17000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261872"/>
            <a:ext cx="2834640" cy="105156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335024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B700"/>
                </a:solidFill>
              </a:rPr>
              <a:t>+1093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28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677"/>
                </a:solidFill>
              </a:rPr>
              <a:t>ELO Differential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61872"/>
            <a:ext cx="2834640" cy="105156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335024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D6A0"/>
                </a:solidFill>
              </a:rPr>
              <a:t>+2.3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28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677"/>
                </a:solidFill>
              </a:rPr>
              <a:t>Robber Reward (ep17000)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261872"/>
            <a:ext cx="2834640" cy="105156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335024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17,000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1828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677"/>
                </a:solidFill>
              </a:rPr>
              <a:t>Total Episodes Trained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68880"/>
            <a:ext cx="11640312" cy="4041648"/>
          </a:xfrm>
          <a:prstGeom prst="rect">
            <a:avLst/>
          </a:prstGeom>
          <a:solidFill>
            <a:srgbClr val="141E2E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57860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700"/>
                </a:solidFill>
              </a:rPr>
              <a:t>Training Timeline Summary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71800"/>
            <a:ext cx="11183112" cy="228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044952"/>
            <a:ext cx="54864" cy="5943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540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Phase A — Curriculum Climb (Ep 50–1700)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37413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Rookie → Master in ~300 episodes. Win-rate 0.90–1.00 consistently. ELO grew to +810. Solver generalised to all 4 curriculum stages faster than expected.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21608"/>
            <a:ext cx="54864" cy="594360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307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76F"/>
                </a:solidFill>
              </a:rPr>
              <a:t>Phase B — First Collapse (Ep 1750–2950)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50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Win-rate collapsed to 0.00. ELO dropped to -1060. Architect discovered vault-room fortification strategy — combining chokepoints, cameras, and guards with high density.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398264"/>
            <a:ext cx="54864" cy="5943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074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Phase C — First Recovery (Ep 3000–10000)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7274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Solver rediscovered wall-hugging + blind-spot timing strategy. ELO returned to +994. 7000-episode positive regime demonstrated long-term stability after adversarial rebound.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074920"/>
            <a:ext cx="54864" cy="594360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0840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76F"/>
                </a:solidFill>
              </a:rPr>
              <a:t>Phase D — Second Collapse (Ep 10200–15500)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40410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Deepest valley: ELO -1317. Architect evolved patrol synchronisation — guards timed so no safe window existed. Solver spent 5300 episodes at 0% win-rate.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751576"/>
            <a:ext cx="54864" cy="5943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Phase E — Final Recovery (Ep 15501–17000)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E8"/>
                </a:solidFill>
              </a:rPr>
              <a:t>Full recovery: Win-rate 1.00, ELO +1093. Post-restart, Solver learned fundamentally superior strategies. ep17000 selected as best checkpoint for all evaluations.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6D6A0"/>
                </a:solidFill>
              </a:rPr>
              <a:t>Emergent Strategies &amp; Nash Equilibrium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D8E8"/>
                </a:solidFill>
              </a:rPr>
              <a:t>Nobody programmed these tactics — they arose from competition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577840" cy="365760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26463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🔒  Architect Discovered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0511"/>
            <a:ext cx="512064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01952"/>
            <a:ext cx="51663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8D8E8"/>
                </a:solidFill>
              </a:rPr>
              <a:t>▸ Chokepoints — Narrow corridors covered by rotating cameras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8D8E8"/>
                </a:solidFill>
              </a:rPr>
              <a:t>▸ Dead Ends — Walls that look like paths but lead into kill-zones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8D8E8"/>
                </a:solidFill>
              </a:rPr>
              <a:t>▸ Patrol Synchronisation — Guards timed so no safe window exists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8D8E8"/>
                </a:solidFill>
              </a:rPr>
              <a:t>▸ Camera Crossfire — Multiple cameras covering each other's blind spots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8D8E8"/>
                </a:solidFill>
              </a:rPr>
              <a:t>▸ Vault Fortification — Dense security rings around the objective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8D8E8"/>
                </a:solidFill>
              </a:rPr>
              <a:t>▸ Budget Efficiency — Cameras &gt; Guards for cost-per-coverage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61872"/>
            <a:ext cx="5577840" cy="365760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26463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76F"/>
                </a:solidFill>
              </a:rPr>
              <a:t>🕵️  Solver Discovered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10511"/>
            <a:ext cx="5120640" cy="22860"/>
          </a:xfrm>
          <a:prstGeom prst="rect">
            <a:avLst/>
          </a:prstGeom>
          <a:solidFill>
            <a:srgbClr val="F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01952"/>
            <a:ext cx="51663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8D8E8"/>
                </a:solidFill>
              </a:rPr>
              <a:t>▸ Wall Hugging — Using walls as cover from camera vision cones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8D8E8"/>
                </a:solidFill>
              </a:rPr>
              <a:t>▸ Timing Windows — Waiting for cameras to rotate away before sprinting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8D8E8"/>
                </a:solidFill>
              </a:rPr>
              <a:t>▸ Indirect Paths — Longer routes that avoid high-density detection zones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8D8E8"/>
                </a:solidFill>
              </a:rPr>
              <a:t>▸ Patience (WAIT) — Staying still at critical moments for guard cycles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8D8E8"/>
                </a:solidFill>
              </a:rPr>
              <a:t>▸ Blind Spot Exploitation — Navigating through camera angle gaps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8D8E8"/>
                </a:solidFill>
              </a:rPr>
              <a:t>▸ Temporal Mapping — LSTM remembers guard positions from 5 steps ago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074920"/>
            <a:ext cx="11640312" cy="1463040"/>
          </a:xfrm>
          <a:prstGeom prst="rect">
            <a:avLst/>
          </a:prstGeom>
          <a:solidFill>
            <a:srgbClr val="0A1E14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18464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🎯  Nash Equilibrium — The Natural Balance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5955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Phase I converged at ~30% Solve Rate | 40% Detection Rate — the mathematical sweet spot. Phase II showed deeper cycling but returned to competitive balance. At equilibrium: the Architect cannot catch the Solver more reliably without making invalid levels; the Solver cannot reach the Vault more often without exposing itself to detection. This is the same framework used in poker AI, military strategy models, and economic game theory.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677"/>
                </a:solidFill>
              </a:rPr>
              <a:t>Key literature supporting this adversarial RL framework (2021–2025)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02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6187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261872"/>
            <a:ext cx="4983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Schulman et al., 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4983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8D8E8"/>
                </a:solidFill>
              </a:rPr>
              <a:t>"Proximal Policy Optimization Algorithms," arXiv:1707.06347. [PPO — core RL algorithm for both agents]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57984"/>
            <a:ext cx="502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15798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157984"/>
            <a:ext cx="4983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Baker et al., 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432303"/>
            <a:ext cx="4983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8D8E8"/>
                </a:solidFill>
              </a:rPr>
              <a:t>"Emergent Tool Use From Multi-Agent Autocurricula," ICLR 2020. [Foundation for emergent multi-agent strategies]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54096"/>
            <a:ext cx="502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0540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[3]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054096"/>
            <a:ext cx="4983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Vinyals et al., 2019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28415"/>
            <a:ext cx="4983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8D8E8"/>
                </a:solidFill>
              </a:rPr>
              <a:t>"Grandmaster level in StarCraft II using multi-agent RL," Nature, 575. [Adversarial curriculum for complex games]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50208"/>
            <a:ext cx="502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95020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[4]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950208"/>
            <a:ext cx="4983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Bengio et al., 2021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24528"/>
            <a:ext cx="4983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8D8E8"/>
                </a:solidFill>
              </a:rPr>
              <a:t>"Curriculum Learning," ICML 2021. [Theoretical basis for difficulty scheduling and curriculum design]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846320"/>
            <a:ext cx="502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84632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[5]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46320"/>
            <a:ext cx="4983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Mnih et al., 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120640"/>
            <a:ext cx="4983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8D8E8"/>
                </a:solidFill>
              </a:rPr>
              <a:t>"Playing Atari with Deep Reinforcement Learning," NeurIPS. [CNN feature extraction for RL observations]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742432"/>
            <a:ext cx="502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574243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[6]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742432"/>
            <a:ext cx="4983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OpenAI, 2021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6016752"/>
            <a:ext cx="4983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8D8E8"/>
                </a:solidFill>
              </a:rPr>
              <a:t>"Asymmetric self-play for automatic goal discovery," arXiv:2101.04882. [Architect-Solver game formulation]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261872"/>
            <a:ext cx="502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126187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[7]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1261872"/>
            <a:ext cx="4983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Gleave et al., 2022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1536192"/>
            <a:ext cx="4983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8D8E8"/>
                </a:solidFill>
              </a:rPr>
              <a:t>"Adversarial Policies: Attacking Deep Reinforcement Learning," ICLR 2022. [Adversarial policy dynamics]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157984"/>
            <a:ext cx="502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215798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[8]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2157984"/>
            <a:ext cx="4983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Hausknecht &amp; Stone, 2015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2432303"/>
            <a:ext cx="4983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8D8E8"/>
                </a:solidFill>
              </a:rPr>
              <a:t>"Deep Recurrent Q-Networks for Partially Observable MDPs," AAAI. [LSTM in RL for temporal memory]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054096"/>
            <a:ext cx="502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30540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[9]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054096"/>
            <a:ext cx="4983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Littman, 1994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328415"/>
            <a:ext cx="4983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8D8E8"/>
                </a:solidFill>
              </a:rPr>
              <a:t>"Markov games as a framework for multi-agent RL," ICML 1994. [Markov Game theoretical backbone]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950208"/>
            <a:ext cx="502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395020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[10]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950208"/>
            <a:ext cx="4983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Lanctot et al., 2023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4224528"/>
            <a:ext cx="4983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8D8E8"/>
                </a:solidFill>
              </a:rPr>
              <a:t>"OpenSpiel: A Framework for Reinforcement Learning in Games," JMLR. [Multi-agent game benchmarks]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846320"/>
            <a:ext cx="502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484632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[11]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4846320"/>
            <a:ext cx="4983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Elo, 1978 / Silver et al., 2021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5120640"/>
            <a:ext cx="4983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8D8E8"/>
                </a:solidFill>
              </a:rPr>
              <a:t>"The Rating of Chessplayers" / "A general RL algorithm AlphaZero," Science. [ELO rating adaptation]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5742432"/>
            <a:ext cx="502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574243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[12]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5742432"/>
            <a:ext cx="4983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Chevalier-Boisvert et al., 2023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6016752"/>
            <a:ext cx="49834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8D8E8"/>
                </a:solidFill>
              </a:rPr>
              <a:t>"MiniGrid &amp; MiniWorld: Modular &amp; Customisable RL Grid Environments," NeurIPS. [Related grid-world baselines]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2103120"/>
          </a:xfrm>
          <a:prstGeom prst="rect">
            <a:avLst/>
          </a:prstGeom>
          <a:solidFill>
            <a:srgbClr val="14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8404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2412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6D6A0"/>
                </a:solidFill>
              </a:rPr>
              <a:t>Heist Architect — CSE4019 Adversarial RL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1521440" cy="27432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00200"/>
            <a:ext cx="11521440" cy="822960"/>
          </a:xfrm>
          <a:prstGeom prst="rect">
            <a:avLst/>
          </a:prstGeom>
          <a:solidFill>
            <a:srgbClr val="141E2E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✓  Phase I proved the concept: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737360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Local 500-episode run achieved Nash Equilibrium at ~60% Solve / 40% Detect.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560320"/>
            <a:ext cx="11521440" cy="822960"/>
          </a:xfrm>
          <a:prstGeom prst="rect">
            <a:avLst/>
          </a:prstGeom>
          <a:solidFill>
            <a:srgbClr val="141E2E"/>
          </a:solidFill>
          <a:ln w="12700">
            <a:solidFill>
              <a:srgbClr val="FF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0"/>
                </a:solidFill>
              </a:rPr>
              <a:t>✓  Phase II deepened the science: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697479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17,000 episodes on Kaggle T4 GPUs revealed adversarial cycling — collapse, recovery, arms race.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520440"/>
            <a:ext cx="11521440" cy="82296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118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✓  Emergent complexity works: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657600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Chokepoints, patrol sync, wall-hugging, timing — none programmed; all emerged from competition.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480560"/>
            <a:ext cx="11521440" cy="822960"/>
          </a:xfrm>
          <a:prstGeom prst="rect">
            <a:avLst/>
          </a:prstGeom>
          <a:solidFill>
            <a:srgbClr val="141E2E"/>
          </a:solidFill>
          <a:ln w="12700">
            <a:solidFill>
              <a:srgbClr val="F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720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76F"/>
                </a:solidFill>
              </a:rPr>
              <a:t>✓  The architecture scales: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617720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CNN+LSTM Solver (550K params) and Encoder-Decoder Architect (407K) remain competitive at Master level.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440680"/>
            <a:ext cx="11521440" cy="822960"/>
          </a:xfrm>
          <a:prstGeom prst="rect">
            <a:avLst/>
          </a:prstGeom>
          <a:solidFill>
            <a:srgbClr val="141E2E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5321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✓  Game theory is validated:  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5577840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8"/>
                </a:solidFill>
              </a:rPr>
              <a:t>Nash Equilibrium, Markov Games, and ELO dynamics are empirically reproducible in our custom environment.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4922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677"/>
                </a:solidFill>
              </a:rPr>
              <a:t>Shanmuk4622/heist-architect-v2  |  CSE4019 — 2025-2026  |  Built with PyTorch · Flask · CUDA · Kaggle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