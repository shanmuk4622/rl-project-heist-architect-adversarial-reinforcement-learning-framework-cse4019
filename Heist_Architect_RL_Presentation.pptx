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05840"/>
            <a:ext cx="11247120" cy="1280160"/>
          </a:xfrm>
          <a:prstGeom prst="rect">
            <a:avLst/>
          </a:prstGeom>
          <a:noFill/>
        </p:spPr>
        <p:txBody>
          <a:bodyPr wrap="square">
            <a:spAutoFit/>
          </a:bodyPr>
          <a:lstStyle/>
          <a:p>
            <a:pPr algn="ctr"/>
            <a:r>
              <a:rPr sz="5400" b="1" i="0">
                <a:solidFill>
                  <a:srgbClr val="00D4FF"/>
                </a:solidFill>
              </a:rPr>
              <a:t>HEIST ARCHITECT</a:t>
            </a:r>
          </a:p>
        </p:txBody>
      </p:sp>
      <p:sp>
        <p:nvSpPr>
          <p:cNvPr id="4" name="TextBox 3"/>
          <p:cNvSpPr txBox="1"/>
          <p:nvPr/>
        </p:nvSpPr>
        <p:spPr>
          <a:xfrm>
            <a:off x="457200" y="2286000"/>
            <a:ext cx="11247120" cy="640080"/>
          </a:xfrm>
          <a:prstGeom prst="rect">
            <a:avLst/>
          </a:prstGeom>
          <a:noFill/>
        </p:spPr>
        <p:txBody>
          <a:bodyPr wrap="square">
            <a:spAutoFit/>
          </a:bodyPr>
          <a:lstStyle/>
          <a:p>
            <a:pPr algn="ctr"/>
            <a:r>
              <a:rPr sz="2600" b="0" i="0">
                <a:solidFill>
                  <a:srgbClr val="FFFFFF"/>
                </a:solidFill>
              </a:rPr>
              <a:t>Adversarial Reinforcement Learning Framework</a:t>
            </a:r>
          </a:p>
        </p:txBody>
      </p:sp>
      <p:sp>
        <p:nvSpPr>
          <p:cNvPr id="5" name="Rectangle 4"/>
          <p:cNvSpPr/>
          <p:nvPr/>
        </p:nvSpPr>
        <p:spPr>
          <a:xfrm>
            <a:off x="2743200" y="3017520"/>
            <a:ext cx="6675120" cy="5486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200400"/>
            <a:ext cx="10332720" cy="1097280"/>
          </a:xfrm>
          <a:prstGeom prst="rect">
            <a:avLst/>
          </a:prstGeom>
          <a:noFill/>
        </p:spPr>
        <p:txBody>
          <a:bodyPr wrap="square">
            <a:spAutoFit/>
          </a:bodyPr>
          <a:lstStyle/>
          <a:p>
            <a:pPr algn="ctr"/>
            <a:r>
              <a:rPr sz="1700" b="0" i="1">
                <a:solidFill>
                  <a:srgbClr val="B0BED0"/>
                </a:solidFill>
              </a:rPr>
              <a:t>"Two AI agents play an infinite game of cops-and-robbers.
One designs the vault. The other breaks in. Neither is programmed — they learn."</a:t>
            </a:r>
          </a:p>
        </p:txBody>
      </p:sp>
      <p:sp>
        <p:nvSpPr>
          <p:cNvPr id="7" name="TextBox 6"/>
          <p:cNvSpPr txBox="1"/>
          <p:nvPr/>
        </p:nvSpPr>
        <p:spPr>
          <a:xfrm>
            <a:off x="914400" y="4572000"/>
            <a:ext cx="10332720" cy="457200"/>
          </a:xfrm>
          <a:prstGeom prst="rect">
            <a:avLst/>
          </a:prstGeom>
          <a:noFill/>
        </p:spPr>
        <p:txBody>
          <a:bodyPr wrap="square">
            <a:spAutoFit/>
          </a:bodyPr>
          <a:lstStyle/>
          <a:p>
            <a:pPr algn="ctr"/>
            <a:r>
              <a:rPr sz="1500" b="0" i="0">
                <a:solidFill>
                  <a:srgbClr val="10B981"/>
                </a:solidFill>
              </a:rPr>
              <a:t>CSE4019 — Reinforcement Learning Project</a:t>
            </a:r>
          </a:p>
        </p:txBody>
      </p:sp>
      <p:sp>
        <p:nvSpPr>
          <p:cNvPr id="8" name="TextBox 7"/>
          <p:cNvSpPr txBox="1"/>
          <p:nvPr/>
        </p:nvSpPr>
        <p:spPr>
          <a:xfrm>
            <a:off x="914400" y="5029200"/>
            <a:ext cx="10332720" cy="461665"/>
          </a:xfrm>
          <a:prstGeom prst="rect">
            <a:avLst/>
          </a:prstGeom>
          <a:noFill/>
        </p:spPr>
        <p:txBody>
          <a:bodyPr wrap="square">
            <a:spAutoFit/>
          </a:bodyPr>
          <a:lstStyle/>
          <a:p>
            <a:pPr algn="ctr"/>
            <a:r>
              <a:rPr lang="en-US" sz="1200" b="0" i="1" dirty="0">
                <a:solidFill>
                  <a:srgbClr val="B0BED0"/>
                </a:solidFill>
              </a:rPr>
              <a:t>Shanmukesh Bonala – 23BCE20070</a:t>
            </a:r>
            <a:br>
              <a:rPr lang="en-US" sz="1200" b="0" i="1" dirty="0">
                <a:solidFill>
                  <a:srgbClr val="B0BED0"/>
                </a:solidFill>
              </a:rPr>
            </a:br>
            <a:r>
              <a:rPr lang="en-US" sz="1200" b="0" i="1" dirty="0">
                <a:solidFill>
                  <a:srgbClr val="B0BED0"/>
                </a:solidFill>
              </a:rPr>
              <a:t>Sridhar E -23BCE7203</a:t>
            </a:r>
            <a:endParaRPr sz="1200" b="0" i="1" dirty="0">
              <a:solidFill>
                <a:srgbClr val="B0BED0"/>
              </a:solidFill>
            </a:endParaRPr>
          </a:p>
        </p:txBody>
      </p:sp>
      <p:sp>
        <p:nvSpPr>
          <p:cNvPr id="9" name="Rectangle 8"/>
          <p:cNvSpPr/>
          <p:nvPr/>
        </p:nvSpPr>
        <p:spPr>
          <a:xfrm>
            <a:off x="0" y="6803136"/>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Abstract</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051560"/>
            <a:ext cx="11430000" cy="457200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297680"/>
          </a:xfrm>
          <a:prstGeom prst="rect">
            <a:avLst/>
          </a:prstGeom>
          <a:noFill/>
        </p:spPr>
        <p:txBody>
          <a:bodyPr wrap="square">
            <a:spAutoFit/>
          </a:bodyPr>
          <a:lstStyle/>
          <a:p>
            <a:pPr algn="l"/>
            <a:r>
              <a:rPr sz="1700" b="0" i="0">
                <a:solidFill>
                  <a:srgbClr val="B0BED0"/>
                </a:solidFill>
              </a:rPr>
              <a:t>This project implements a dual-agent adversarial reinforcement learning system inspired by real-world security design challenges. Two neural networks compete in a 2D grid environment: the Architect agent designs defensive layouts (walls, rotating cameras, patrolling guards), while the Solver agent learns to infiltrate those layouts undetected. Both agents are trained using Proximal Policy Optimization (PPO) with Generalized Advantage Estimation (GAE), and neither requires hand-coded strategies — complex behaviours such as chokepoint placement, patrol synchronization, and timing-based evasion emerge naturally from competitive self-play. Curriculum learning advances difficulty from empty grids to high-budget expert layouts, and the system converges toward a Nash Equilibrium where neither agent can unilaterally improve its strategy (solve rate ~30-40%).</a:t>
            </a:r>
          </a:p>
        </p:txBody>
      </p:sp>
      <p:sp>
        <p:nvSpPr>
          <p:cNvPr id="9" name="Rectangle 8"/>
          <p:cNvSpPr/>
          <p:nvPr/>
        </p:nvSpPr>
        <p:spPr>
          <a:xfrm>
            <a:off x="365760"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5788152"/>
            <a:ext cx="1691640" cy="502920"/>
          </a:xfrm>
          <a:prstGeom prst="rect">
            <a:avLst/>
          </a:prstGeom>
          <a:noFill/>
        </p:spPr>
        <p:txBody>
          <a:bodyPr wrap="square">
            <a:spAutoFit/>
          </a:bodyPr>
          <a:lstStyle/>
          <a:p>
            <a:pPr algn="ctr"/>
            <a:r>
              <a:rPr sz="1300" b="1" i="0">
                <a:solidFill>
                  <a:srgbClr val="FFFFFF"/>
                </a:solidFill>
              </a:rPr>
              <a:t>PPO</a:t>
            </a:r>
          </a:p>
        </p:txBody>
      </p:sp>
      <p:sp>
        <p:nvSpPr>
          <p:cNvPr id="11" name="Rectangle 10"/>
          <p:cNvSpPr/>
          <p:nvPr/>
        </p:nvSpPr>
        <p:spPr>
          <a:xfrm>
            <a:off x="2295144"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5788152"/>
            <a:ext cx="1691640" cy="502920"/>
          </a:xfrm>
          <a:prstGeom prst="rect">
            <a:avLst/>
          </a:prstGeom>
          <a:noFill/>
        </p:spPr>
        <p:txBody>
          <a:bodyPr wrap="square">
            <a:spAutoFit/>
          </a:bodyPr>
          <a:lstStyle/>
          <a:p>
            <a:pPr algn="ctr"/>
            <a:r>
              <a:rPr sz="1300" b="1" i="0" dirty="0">
                <a:solidFill>
                  <a:srgbClr val="FFFFFF"/>
                </a:solidFill>
              </a:rPr>
              <a:t>GAE</a:t>
            </a:r>
          </a:p>
        </p:txBody>
      </p:sp>
      <p:sp>
        <p:nvSpPr>
          <p:cNvPr id="13" name="Rectangle 12"/>
          <p:cNvSpPr/>
          <p:nvPr/>
        </p:nvSpPr>
        <p:spPr>
          <a:xfrm>
            <a:off x="4224528"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70248" y="5788152"/>
            <a:ext cx="1691640" cy="502920"/>
          </a:xfrm>
          <a:prstGeom prst="rect">
            <a:avLst/>
          </a:prstGeom>
          <a:noFill/>
        </p:spPr>
        <p:txBody>
          <a:bodyPr wrap="square">
            <a:spAutoFit/>
          </a:bodyPr>
          <a:lstStyle/>
          <a:p>
            <a:pPr algn="ctr"/>
            <a:r>
              <a:rPr sz="1300" b="1" i="0">
                <a:solidFill>
                  <a:srgbClr val="FFFFFF"/>
                </a:solidFill>
              </a:rPr>
              <a:t>Curriculum Learning</a:t>
            </a:r>
          </a:p>
        </p:txBody>
      </p:sp>
      <p:sp>
        <p:nvSpPr>
          <p:cNvPr id="15" name="Rectangle 14"/>
          <p:cNvSpPr/>
          <p:nvPr/>
        </p:nvSpPr>
        <p:spPr>
          <a:xfrm>
            <a:off x="6153912"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99632" y="5788152"/>
            <a:ext cx="1691640" cy="502920"/>
          </a:xfrm>
          <a:prstGeom prst="rect">
            <a:avLst/>
          </a:prstGeom>
          <a:noFill/>
        </p:spPr>
        <p:txBody>
          <a:bodyPr wrap="square">
            <a:spAutoFit/>
          </a:bodyPr>
          <a:lstStyle/>
          <a:p>
            <a:pPr algn="ctr"/>
            <a:r>
              <a:rPr sz="1300" b="1" i="0">
                <a:solidFill>
                  <a:srgbClr val="FFFFFF"/>
                </a:solidFill>
              </a:rPr>
              <a:t>Self-Play</a:t>
            </a:r>
          </a:p>
        </p:txBody>
      </p:sp>
      <p:sp>
        <p:nvSpPr>
          <p:cNvPr id="17" name="Rectangle 16"/>
          <p:cNvSpPr/>
          <p:nvPr/>
        </p:nvSpPr>
        <p:spPr>
          <a:xfrm>
            <a:off x="8083296"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29016" y="5788152"/>
            <a:ext cx="1691640" cy="502920"/>
          </a:xfrm>
          <a:prstGeom prst="rect">
            <a:avLst/>
          </a:prstGeom>
          <a:noFill/>
        </p:spPr>
        <p:txBody>
          <a:bodyPr wrap="square">
            <a:spAutoFit/>
          </a:bodyPr>
          <a:lstStyle/>
          <a:p>
            <a:pPr algn="ctr"/>
            <a:r>
              <a:rPr sz="1300" b="1" i="0" dirty="0">
                <a:solidFill>
                  <a:srgbClr val="FFFFFF"/>
                </a:solidFill>
              </a:rPr>
              <a:t>Nash Equilibrium</a:t>
            </a:r>
          </a:p>
        </p:txBody>
      </p:sp>
      <p:sp>
        <p:nvSpPr>
          <p:cNvPr id="19" name="Rectangle 18"/>
          <p:cNvSpPr/>
          <p:nvPr/>
        </p:nvSpPr>
        <p:spPr>
          <a:xfrm>
            <a:off x="10012680" y="5760720"/>
            <a:ext cx="178308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0" y="5788152"/>
            <a:ext cx="1691640" cy="502920"/>
          </a:xfrm>
          <a:prstGeom prst="rect">
            <a:avLst/>
          </a:prstGeom>
          <a:noFill/>
        </p:spPr>
        <p:txBody>
          <a:bodyPr wrap="square">
            <a:spAutoFit/>
          </a:bodyPr>
          <a:lstStyle/>
          <a:p>
            <a:pPr algn="ctr"/>
            <a:r>
              <a:rPr sz="1300" b="1" i="0" dirty="0">
                <a:solidFill>
                  <a:srgbClr val="FFFFFF"/>
                </a:solidFill>
              </a:rPr>
              <a:t>CNN + LSTM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Introduction — Problem &amp; Approach</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539496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43000"/>
            <a:ext cx="5029200" cy="457200"/>
          </a:xfrm>
          <a:prstGeom prst="rect">
            <a:avLst/>
          </a:prstGeom>
          <a:noFill/>
        </p:spPr>
        <p:txBody>
          <a:bodyPr wrap="square">
            <a:spAutoFit/>
          </a:bodyPr>
          <a:lstStyle/>
          <a:p>
            <a:pPr algn="l"/>
            <a:r>
              <a:rPr sz="2000" b="1" i="0">
                <a:solidFill>
                  <a:srgbClr val="00D4FF"/>
                </a:solidFill>
              </a:rPr>
              <a:t>The Problem</a:t>
            </a:r>
          </a:p>
        </p:txBody>
      </p:sp>
      <p:sp>
        <p:nvSpPr>
          <p:cNvPr id="9" name="TextBox 8"/>
          <p:cNvSpPr txBox="1"/>
          <p:nvPr/>
        </p:nvSpPr>
        <p:spPr>
          <a:xfrm>
            <a:off x="457200" y="1691640"/>
            <a:ext cx="5166360" cy="4206240"/>
          </a:xfrm>
          <a:prstGeom prst="rect">
            <a:avLst/>
          </a:prstGeom>
          <a:noFill/>
        </p:spPr>
        <p:txBody>
          <a:bodyPr wrap="square">
            <a:spAutoFit/>
          </a:bodyPr>
          <a:lstStyle/>
          <a:p>
            <a:endParaRPr/>
          </a:p>
          <a:p>
            <a:r>
              <a:rPr sz="1500" b="0">
                <a:solidFill>
                  <a:srgbClr val="B0BED0"/>
                </a:solidFill>
              </a:rPr>
              <a:t>▸ Traditional RL trains against fixed, passive environments</a:t>
            </a:r>
          </a:p>
          <a:p>
            <a:r>
              <a:rPr sz="1500" b="0">
                <a:solidFill>
                  <a:srgbClr val="B0BED0"/>
                </a:solidFill>
              </a:rPr>
              <a:t>▸ Real-world adversaries adapt — a static env cannot prepare agents</a:t>
            </a:r>
          </a:p>
          <a:p>
            <a:r>
              <a:rPr sz="1500" b="0">
                <a:solidFill>
                  <a:srgbClr val="B0BED0"/>
                </a:solidFill>
              </a:rPr>
              <a:t>▸ Security &amp; game AI need adaptive, generalising agents</a:t>
            </a:r>
          </a:p>
          <a:p>
            <a:r>
              <a:rPr sz="1500" b="0">
                <a:solidFill>
                  <a:srgbClr val="B0BED0"/>
                </a:solidFill>
              </a:rPr>
              <a:t>▸ Memorising solutions fails when the opponent changes strategy</a:t>
            </a:r>
          </a:p>
          <a:p>
            <a:r>
              <a:rPr sz="1500" b="0">
                <a:solidFill>
                  <a:srgbClr val="B0BED0"/>
                </a:solidFill>
              </a:rPr>
              <a:t>▸ Need: a framework where attacker &amp; defender co-evolve</a:t>
            </a:r>
          </a:p>
        </p:txBody>
      </p:sp>
      <p:sp>
        <p:nvSpPr>
          <p:cNvPr id="10" name="Rectangle 9"/>
          <p:cNvSpPr/>
          <p:nvPr/>
        </p:nvSpPr>
        <p:spPr>
          <a:xfrm>
            <a:off x="6126480" y="1051560"/>
            <a:ext cx="576072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143000"/>
            <a:ext cx="5486400" cy="457200"/>
          </a:xfrm>
          <a:prstGeom prst="rect">
            <a:avLst/>
          </a:prstGeom>
          <a:noFill/>
        </p:spPr>
        <p:txBody>
          <a:bodyPr wrap="square">
            <a:spAutoFit/>
          </a:bodyPr>
          <a:lstStyle/>
          <a:p>
            <a:pPr algn="l"/>
            <a:r>
              <a:rPr sz="2000" b="1" i="0">
                <a:solidFill>
                  <a:srgbClr val="D946EF"/>
                </a:solidFill>
              </a:rPr>
              <a:t>Our Approach</a:t>
            </a:r>
          </a:p>
        </p:txBody>
      </p:sp>
      <p:sp>
        <p:nvSpPr>
          <p:cNvPr id="12" name="TextBox 11"/>
          <p:cNvSpPr txBox="1"/>
          <p:nvPr/>
        </p:nvSpPr>
        <p:spPr>
          <a:xfrm>
            <a:off x="6309360" y="1691640"/>
            <a:ext cx="5532120" cy="4206240"/>
          </a:xfrm>
          <a:prstGeom prst="rect">
            <a:avLst/>
          </a:prstGeom>
          <a:noFill/>
        </p:spPr>
        <p:txBody>
          <a:bodyPr wrap="square">
            <a:spAutoFit/>
          </a:bodyPr>
          <a:lstStyle/>
          <a:p>
            <a:endParaRPr/>
          </a:p>
          <a:p>
            <a:r>
              <a:rPr sz="1500" b="0">
                <a:solidFill>
                  <a:srgbClr val="B0BED0"/>
                </a:solidFill>
              </a:rPr>
              <a:t>▸ Architect agent — designs security layouts</a:t>
            </a:r>
          </a:p>
          <a:p>
            <a:r>
              <a:rPr sz="1500" b="0">
                <a:solidFill>
                  <a:srgbClr val="B0BED0"/>
                </a:solidFill>
              </a:rPr>
              <a:t>▸ Solver agent — infiltrates those layouts</a:t>
            </a:r>
          </a:p>
          <a:p>
            <a:r>
              <a:rPr sz="1500" b="0">
                <a:solidFill>
                  <a:srgbClr val="B0BED0"/>
                </a:solidFill>
              </a:rPr>
              <a:t>▸ Both learn via PPO + GAE (zero hand-coded rules)</a:t>
            </a:r>
          </a:p>
          <a:p>
            <a:r>
              <a:rPr sz="1500" b="0">
                <a:solidFill>
                  <a:srgbClr val="B0BED0"/>
                </a:solidFill>
              </a:rPr>
              <a:t>▸ Curriculum learning ramps difficulty over training</a:t>
            </a:r>
          </a:p>
          <a:p>
            <a:r>
              <a:rPr sz="1500" b="0">
                <a:solidFill>
                  <a:srgbClr val="B0BED0"/>
                </a:solidFill>
              </a:rPr>
              <a:t>▸ Strategies emerge: chokepoints, timing, patrol sync</a:t>
            </a:r>
          </a:p>
          <a:p>
            <a:r>
              <a:rPr sz="1500" b="0">
                <a:solidFill>
                  <a:srgbClr val="B0BED0"/>
                </a:solidFill>
              </a:rPr>
              <a:t>▸ Converges to Nash Equilibrium (~30% solve rate)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The Two Agents</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548640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51560"/>
            <a:ext cx="5486400"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78992"/>
            <a:ext cx="5303520" cy="548640"/>
          </a:xfrm>
          <a:prstGeom prst="rect">
            <a:avLst/>
          </a:prstGeom>
          <a:noFill/>
        </p:spPr>
        <p:txBody>
          <a:bodyPr wrap="square">
            <a:spAutoFit/>
          </a:bodyPr>
          <a:lstStyle/>
          <a:p>
            <a:pPr algn="l"/>
            <a:r>
              <a:rPr sz="1700" b="1" i="0">
                <a:solidFill>
                  <a:srgbClr val="0D1B2A"/>
                </a:solidFill>
              </a:rPr>
              <a:t>🔒  The Architect  (Security Designer)</a:t>
            </a:r>
          </a:p>
        </p:txBody>
      </p:sp>
      <p:sp>
        <p:nvSpPr>
          <p:cNvPr id="10" name="TextBox 9"/>
          <p:cNvSpPr txBox="1"/>
          <p:nvPr/>
        </p:nvSpPr>
        <p:spPr>
          <a:xfrm>
            <a:off x="457200" y="1737360"/>
            <a:ext cx="5212080" cy="4297680"/>
          </a:xfrm>
          <a:prstGeom prst="rect">
            <a:avLst/>
          </a:prstGeom>
          <a:noFill/>
        </p:spPr>
        <p:txBody>
          <a:bodyPr wrap="square">
            <a:spAutoFit/>
          </a:bodyPr>
          <a:lstStyle/>
          <a:p>
            <a:endParaRPr/>
          </a:p>
          <a:p>
            <a:r>
              <a:rPr sz="1500" b="0">
                <a:solidFill>
                  <a:srgbClr val="B0BED0"/>
                </a:solidFill>
              </a:rPr>
              <a:t>▸ Places walls, rotating cameras, patrolling guards</a:t>
            </a:r>
          </a:p>
          <a:p>
            <a:r>
              <a:rPr sz="1500" b="0">
                <a:solidFill>
                  <a:srgbClr val="B0BED0"/>
                </a:solidFill>
              </a:rPr>
              <a:t>▸ Budget-constrained (wall=1, camera=3, guard=5)</a:t>
            </a:r>
          </a:p>
          <a:p>
            <a:r>
              <a:rPr sz="1500" b="0">
                <a:solidFill>
                  <a:srgbClr val="B0BED0"/>
                </a:solidFill>
              </a:rPr>
              <a:t>▸ Must leave valid path Start → Vault</a:t>
            </a:r>
          </a:p>
          <a:p>
            <a:r>
              <a:rPr sz="1500" b="0">
                <a:solidFill>
                  <a:srgbClr val="B0BED0"/>
                </a:solidFill>
              </a:rPr>
              <a:t>▸ Network: CNN Encoder-Decoder (407 K params)</a:t>
            </a:r>
          </a:p>
          <a:p>
            <a:r>
              <a:rPr sz="1500" b="0">
                <a:solidFill>
                  <a:srgbClr val="B0BED0"/>
                </a:solidFill>
              </a:rPr>
              <a:t>▸ Outputs per-tile placement probabilities</a:t>
            </a:r>
          </a:p>
          <a:p>
            <a:r>
              <a:rPr sz="1500" b="0">
                <a:solidFill>
                  <a:srgbClr val="B0BED0"/>
                </a:solidFill>
              </a:rPr>
              <a:t>▸ Reward: based on detection rate &amp; layout difficulty</a:t>
            </a:r>
          </a:p>
        </p:txBody>
      </p:sp>
      <p:sp>
        <p:nvSpPr>
          <p:cNvPr id="11" name="Rectangle 10"/>
          <p:cNvSpPr/>
          <p:nvPr/>
        </p:nvSpPr>
        <p:spPr>
          <a:xfrm>
            <a:off x="6309360" y="1051560"/>
            <a:ext cx="557784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051560"/>
            <a:ext cx="5577840" cy="5943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078992"/>
            <a:ext cx="5394960" cy="548640"/>
          </a:xfrm>
          <a:prstGeom prst="rect">
            <a:avLst/>
          </a:prstGeom>
          <a:noFill/>
        </p:spPr>
        <p:txBody>
          <a:bodyPr wrap="square">
            <a:spAutoFit/>
          </a:bodyPr>
          <a:lstStyle/>
          <a:p>
            <a:pPr algn="l"/>
            <a:r>
              <a:rPr sz="1700" b="1" i="0">
                <a:solidFill>
                  <a:srgbClr val="FFFFFF"/>
                </a:solidFill>
              </a:rPr>
              <a:t>🕵️  The Solver  (Infiltrator)</a:t>
            </a:r>
          </a:p>
        </p:txBody>
      </p:sp>
      <p:sp>
        <p:nvSpPr>
          <p:cNvPr id="14" name="TextBox 13"/>
          <p:cNvSpPr txBox="1"/>
          <p:nvPr/>
        </p:nvSpPr>
        <p:spPr>
          <a:xfrm>
            <a:off x="6492240" y="1737360"/>
            <a:ext cx="5212080" cy="4297680"/>
          </a:xfrm>
          <a:prstGeom prst="rect">
            <a:avLst/>
          </a:prstGeom>
          <a:noFill/>
        </p:spPr>
        <p:txBody>
          <a:bodyPr wrap="square">
            <a:spAutoFit/>
          </a:bodyPr>
          <a:lstStyle/>
          <a:p>
            <a:endParaRPr/>
          </a:p>
          <a:p>
            <a:r>
              <a:rPr sz="1500" b="0">
                <a:solidFill>
                  <a:srgbClr val="B0BED0"/>
                </a:solidFill>
              </a:rPr>
              <a:t>▸ Actions: UP, DOWN, LEFT, RIGHT, WAIT</a:t>
            </a:r>
          </a:p>
          <a:p>
            <a:r>
              <a:rPr sz="1500" b="0">
                <a:solidFill>
                  <a:srgbClr val="B0BED0"/>
                </a:solidFill>
              </a:rPr>
              <a:t>▸ Observes: occupancy grid + visibility map</a:t>
            </a:r>
          </a:p>
          <a:p>
            <a:r>
              <a:rPr sz="1500" b="0">
                <a:solidFill>
                  <a:srgbClr val="B0BED0"/>
                </a:solidFill>
              </a:rPr>
              <a:t>▸ Must avoid camera cones &amp; guard vision zones</a:t>
            </a:r>
          </a:p>
          <a:p>
            <a:r>
              <a:rPr sz="1500" b="0">
                <a:solidFill>
                  <a:srgbClr val="B0BED0"/>
                </a:solidFill>
              </a:rPr>
              <a:t>▸ Network: CNN + LSTM (550 K params)</a:t>
            </a:r>
          </a:p>
          <a:p>
            <a:r>
              <a:rPr sz="1500" b="0">
                <a:solidFill>
                  <a:srgbClr val="B0BED0"/>
                </a:solidFill>
              </a:rPr>
              <a:t>▸ LSTM remembers camera rotation cycles</a:t>
            </a:r>
          </a:p>
          <a:p>
            <a:r>
              <a:rPr sz="1500" b="0">
                <a:solidFill>
                  <a:srgbClr val="B0BED0"/>
                </a:solidFill>
              </a:rPr>
              <a:t>▸ Reward: +10 vault, −1 detected, shaped shaping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Methodology — PPO + GAE + Curriculum Learning</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5577840" cy="26517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97280"/>
            <a:ext cx="5303520" cy="502920"/>
          </a:xfrm>
          <a:prstGeom prst="rect">
            <a:avLst/>
          </a:prstGeom>
          <a:noFill/>
        </p:spPr>
        <p:txBody>
          <a:bodyPr wrap="square">
            <a:spAutoFit/>
          </a:bodyPr>
          <a:lstStyle/>
          <a:p>
            <a:pPr algn="l"/>
            <a:r>
              <a:rPr sz="1700" b="1" i="0">
                <a:solidFill>
                  <a:srgbClr val="F97316"/>
                </a:solidFill>
              </a:rPr>
              <a:t>Proximal Policy Optimization (PPO)</a:t>
            </a:r>
          </a:p>
        </p:txBody>
      </p:sp>
      <p:sp>
        <p:nvSpPr>
          <p:cNvPr id="9" name="TextBox 8"/>
          <p:cNvSpPr txBox="1"/>
          <p:nvPr/>
        </p:nvSpPr>
        <p:spPr>
          <a:xfrm>
            <a:off x="457200" y="1645920"/>
            <a:ext cx="5303520" cy="2011680"/>
          </a:xfrm>
          <a:prstGeom prst="rect">
            <a:avLst/>
          </a:prstGeom>
          <a:noFill/>
        </p:spPr>
        <p:txBody>
          <a:bodyPr wrap="square">
            <a:spAutoFit/>
          </a:bodyPr>
          <a:lstStyle/>
          <a:p>
            <a:endParaRPr/>
          </a:p>
          <a:p>
            <a:r>
              <a:rPr sz="1400" b="0">
                <a:solidFill>
                  <a:srgbClr val="B0BED0"/>
                </a:solidFill>
              </a:rPr>
              <a:t>▸ On-policy gradient with clipped surrogate objective</a:t>
            </a:r>
          </a:p>
          <a:p>
            <a:r>
              <a:rPr sz="1400" b="0">
                <a:solidFill>
                  <a:srgbClr val="B0BED0"/>
                </a:solidFill>
              </a:rPr>
              <a:t>▸ Prevents over-large policy updates (ratio ∈ [1−ε, 1+ε])</a:t>
            </a:r>
          </a:p>
          <a:p>
            <a:r>
              <a:rPr sz="1400" b="0">
                <a:solidFill>
                  <a:srgbClr val="B0BED0"/>
                </a:solidFill>
              </a:rPr>
              <a:t>▸ Stable, sample-efficient, widely used in production AI</a:t>
            </a:r>
          </a:p>
          <a:p>
            <a:r>
              <a:rPr sz="1400" b="0">
                <a:solidFill>
                  <a:srgbClr val="B0BED0"/>
                </a:solidFill>
              </a:rPr>
              <a:t>▸ Entropy bonus encourages exploration</a:t>
            </a:r>
          </a:p>
        </p:txBody>
      </p:sp>
      <p:sp>
        <p:nvSpPr>
          <p:cNvPr id="10" name="Rectangle 9"/>
          <p:cNvSpPr/>
          <p:nvPr/>
        </p:nvSpPr>
        <p:spPr>
          <a:xfrm>
            <a:off x="274320" y="3794760"/>
            <a:ext cx="5577840" cy="23774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840480"/>
            <a:ext cx="5303520" cy="502920"/>
          </a:xfrm>
          <a:prstGeom prst="rect">
            <a:avLst/>
          </a:prstGeom>
          <a:noFill/>
        </p:spPr>
        <p:txBody>
          <a:bodyPr wrap="square">
            <a:spAutoFit/>
          </a:bodyPr>
          <a:lstStyle/>
          <a:p>
            <a:pPr algn="l"/>
            <a:r>
              <a:rPr sz="1700" b="1" i="0">
                <a:solidFill>
                  <a:srgbClr val="10B981"/>
                </a:solidFill>
              </a:rPr>
              <a:t>Generalized Advantage Estimation (GAE)</a:t>
            </a:r>
          </a:p>
        </p:txBody>
      </p:sp>
      <p:sp>
        <p:nvSpPr>
          <p:cNvPr id="12" name="TextBox 11"/>
          <p:cNvSpPr txBox="1"/>
          <p:nvPr/>
        </p:nvSpPr>
        <p:spPr>
          <a:xfrm>
            <a:off x="457200" y="4389120"/>
            <a:ext cx="5303520" cy="1645920"/>
          </a:xfrm>
          <a:prstGeom prst="rect">
            <a:avLst/>
          </a:prstGeom>
          <a:noFill/>
        </p:spPr>
        <p:txBody>
          <a:bodyPr wrap="square">
            <a:spAutoFit/>
          </a:bodyPr>
          <a:lstStyle/>
          <a:p>
            <a:endParaRPr/>
          </a:p>
          <a:p>
            <a:r>
              <a:rPr sz="1400" b="0">
                <a:solidFill>
                  <a:srgbClr val="B0BED0"/>
                </a:solidFill>
              </a:rPr>
              <a:t>▸ Blends Monte-Carlo returns with TD bootstrapping (λ)</a:t>
            </a:r>
          </a:p>
          <a:p>
            <a:r>
              <a:rPr sz="1400" b="0">
                <a:solidFill>
                  <a:srgbClr val="B0BED0"/>
                </a:solidFill>
              </a:rPr>
              <a:t>▸ Reduces variance while controlling bias</a:t>
            </a:r>
          </a:p>
          <a:p>
            <a:r>
              <a:rPr sz="1400" b="0">
                <a:solidFill>
                  <a:srgbClr val="B0BED0"/>
                </a:solidFill>
              </a:rPr>
              <a:t>▸ Enables stable credit assignment over long episodes</a:t>
            </a:r>
          </a:p>
        </p:txBody>
      </p:sp>
      <p:sp>
        <p:nvSpPr>
          <p:cNvPr id="13" name="Rectangle 12"/>
          <p:cNvSpPr/>
          <p:nvPr/>
        </p:nvSpPr>
        <p:spPr>
          <a:xfrm>
            <a:off x="6172200" y="1051560"/>
            <a:ext cx="571500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097280"/>
            <a:ext cx="5486400" cy="502920"/>
          </a:xfrm>
          <a:prstGeom prst="rect">
            <a:avLst/>
          </a:prstGeom>
          <a:noFill/>
        </p:spPr>
        <p:txBody>
          <a:bodyPr wrap="square">
            <a:spAutoFit/>
          </a:bodyPr>
          <a:lstStyle/>
          <a:p>
            <a:pPr algn="l"/>
            <a:r>
              <a:rPr sz="1700" b="1" i="0">
                <a:solidFill>
                  <a:srgbClr val="00D4FF"/>
                </a:solidFill>
              </a:rPr>
              <a:t>Curriculum Learning (5 Phases)</a:t>
            </a:r>
          </a:p>
        </p:txBody>
      </p:sp>
      <p:sp>
        <p:nvSpPr>
          <p:cNvPr id="15" name="Rectangle 14"/>
          <p:cNvSpPr/>
          <p:nvPr/>
        </p:nvSpPr>
        <p:spPr>
          <a:xfrm>
            <a:off x="6355080" y="1719072"/>
            <a:ext cx="164592" cy="640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737360"/>
            <a:ext cx="2194560" cy="594360"/>
          </a:xfrm>
          <a:prstGeom prst="rect">
            <a:avLst/>
          </a:prstGeom>
          <a:noFill/>
        </p:spPr>
        <p:txBody>
          <a:bodyPr wrap="square">
            <a:spAutoFit/>
          </a:bodyPr>
          <a:lstStyle/>
          <a:p>
            <a:pPr algn="l"/>
            <a:r>
              <a:rPr sz="1200" b="1" i="0">
                <a:solidFill>
                  <a:srgbClr val="10B981"/>
                </a:solidFill>
              </a:rPr>
              <a:t>Warmup  (Ep 0-30)</a:t>
            </a:r>
          </a:p>
        </p:txBody>
      </p:sp>
      <p:sp>
        <p:nvSpPr>
          <p:cNvPr id="17" name="TextBox 16"/>
          <p:cNvSpPr txBox="1"/>
          <p:nvPr/>
        </p:nvSpPr>
        <p:spPr>
          <a:xfrm>
            <a:off x="8823960" y="1737360"/>
            <a:ext cx="2926080" cy="594360"/>
          </a:xfrm>
          <a:prstGeom prst="rect">
            <a:avLst/>
          </a:prstGeom>
          <a:noFill/>
        </p:spPr>
        <p:txBody>
          <a:bodyPr wrap="square">
            <a:spAutoFit/>
          </a:bodyPr>
          <a:lstStyle/>
          <a:p>
            <a:pPr algn="l"/>
            <a:r>
              <a:rPr sz="1200" b="0" i="0">
                <a:solidFill>
                  <a:srgbClr val="B0BED0"/>
                </a:solidFill>
              </a:rPr>
              <a:t>Empty grid — basic navigation</a:t>
            </a:r>
          </a:p>
        </p:txBody>
      </p:sp>
      <p:sp>
        <p:nvSpPr>
          <p:cNvPr id="18" name="Rectangle 17"/>
          <p:cNvSpPr/>
          <p:nvPr/>
        </p:nvSpPr>
        <p:spPr>
          <a:xfrm>
            <a:off x="6355080" y="2432304"/>
            <a:ext cx="164592" cy="6400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0" y="2450592"/>
            <a:ext cx="2194560" cy="594360"/>
          </a:xfrm>
          <a:prstGeom prst="rect">
            <a:avLst/>
          </a:prstGeom>
          <a:noFill/>
        </p:spPr>
        <p:txBody>
          <a:bodyPr wrap="square">
            <a:spAutoFit/>
          </a:bodyPr>
          <a:lstStyle/>
          <a:p>
            <a:pPr algn="l"/>
            <a:r>
              <a:rPr sz="1200" b="1" i="0">
                <a:solidFill>
                  <a:srgbClr val="00D4FF"/>
                </a:solidFill>
              </a:rPr>
              <a:t>Phase 1  (Ep 1-80)</a:t>
            </a:r>
          </a:p>
        </p:txBody>
      </p:sp>
      <p:sp>
        <p:nvSpPr>
          <p:cNvPr id="20" name="TextBox 19"/>
          <p:cNvSpPr txBox="1"/>
          <p:nvPr/>
        </p:nvSpPr>
        <p:spPr>
          <a:xfrm>
            <a:off x="8823960" y="2450592"/>
            <a:ext cx="2926080" cy="594360"/>
          </a:xfrm>
          <a:prstGeom prst="rect">
            <a:avLst/>
          </a:prstGeom>
          <a:noFill/>
        </p:spPr>
        <p:txBody>
          <a:bodyPr wrap="square">
            <a:spAutoFit/>
          </a:bodyPr>
          <a:lstStyle/>
          <a:p>
            <a:pPr algn="l"/>
            <a:r>
              <a:rPr sz="1200" b="0" i="0">
                <a:solidFill>
                  <a:srgbClr val="B0BED0"/>
                </a:solidFill>
              </a:rPr>
              <a:t>Walls only, budget=5</a:t>
            </a:r>
          </a:p>
        </p:txBody>
      </p:sp>
      <p:sp>
        <p:nvSpPr>
          <p:cNvPr id="21" name="Rectangle 20"/>
          <p:cNvSpPr/>
          <p:nvPr/>
        </p:nvSpPr>
        <p:spPr>
          <a:xfrm>
            <a:off x="6355080" y="3145536"/>
            <a:ext cx="164592" cy="64008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3163824"/>
            <a:ext cx="2194560" cy="594360"/>
          </a:xfrm>
          <a:prstGeom prst="rect">
            <a:avLst/>
          </a:prstGeom>
          <a:noFill/>
        </p:spPr>
        <p:txBody>
          <a:bodyPr wrap="square">
            <a:spAutoFit/>
          </a:bodyPr>
          <a:lstStyle/>
          <a:p>
            <a:pPr algn="l"/>
            <a:r>
              <a:rPr sz="1200" b="1" i="0">
                <a:solidFill>
                  <a:srgbClr val="FBBC04"/>
                </a:solidFill>
              </a:rPr>
              <a:t>Phase 2  (Ep 81-200)</a:t>
            </a:r>
          </a:p>
        </p:txBody>
      </p:sp>
      <p:sp>
        <p:nvSpPr>
          <p:cNvPr id="23" name="TextBox 22"/>
          <p:cNvSpPr txBox="1"/>
          <p:nvPr/>
        </p:nvSpPr>
        <p:spPr>
          <a:xfrm>
            <a:off x="8823960" y="3163824"/>
            <a:ext cx="2926080" cy="594360"/>
          </a:xfrm>
          <a:prstGeom prst="rect">
            <a:avLst/>
          </a:prstGeom>
          <a:noFill/>
        </p:spPr>
        <p:txBody>
          <a:bodyPr wrap="square">
            <a:spAutoFit/>
          </a:bodyPr>
          <a:lstStyle/>
          <a:p>
            <a:pPr algn="l"/>
            <a:r>
              <a:rPr sz="1200" b="0" i="0">
                <a:solidFill>
                  <a:srgbClr val="B0BED0"/>
                </a:solidFill>
              </a:rPr>
              <a:t>Walls + Cameras, budget=8</a:t>
            </a:r>
          </a:p>
        </p:txBody>
      </p:sp>
      <p:sp>
        <p:nvSpPr>
          <p:cNvPr id="24" name="Rectangle 23"/>
          <p:cNvSpPr/>
          <p:nvPr/>
        </p:nvSpPr>
        <p:spPr>
          <a:xfrm>
            <a:off x="6355080" y="3858768"/>
            <a:ext cx="164592" cy="64008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3877056"/>
            <a:ext cx="2194560" cy="594360"/>
          </a:xfrm>
          <a:prstGeom prst="rect">
            <a:avLst/>
          </a:prstGeom>
          <a:noFill/>
        </p:spPr>
        <p:txBody>
          <a:bodyPr wrap="square">
            <a:spAutoFit/>
          </a:bodyPr>
          <a:lstStyle/>
          <a:p>
            <a:pPr algn="l"/>
            <a:r>
              <a:rPr sz="1200" b="1" i="0">
                <a:solidFill>
                  <a:srgbClr val="F97316"/>
                </a:solidFill>
              </a:rPr>
              <a:t>Phase 3  (Ep 201-400)</a:t>
            </a:r>
          </a:p>
        </p:txBody>
      </p:sp>
      <p:sp>
        <p:nvSpPr>
          <p:cNvPr id="26" name="TextBox 25"/>
          <p:cNvSpPr txBox="1"/>
          <p:nvPr/>
        </p:nvSpPr>
        <p:spPr>
          <a:xfrm>
            <a:off x="8823960" y="3877056"/>
            <a:ext cx="2926080" cy="594360"/>
          </a:xfrm>
          <a:prstGeom prst="rect">
            <a:avLst/>
          </a:prstGeom>
          <a:noFill/>
        </p:spPr>
        <p:txBody>
          <a:bodyPr wrap="square">
            <a:spAutoFit/>
          </a:bodyPr>
          <a:lstStyle/>
          <a:p>
            <a:pPr algn="l"/>
            <a:r>
              <a:rPr sz="1200" b="0" i="0">
                <a:solidFill>
                  <a:srgbClr val="B0BED0"/>
                </a:solidFill>
              </a:rPr>
              <a:t>Full security, budget=15</a:t>
            </a:r>
          </a:p>
        </p:txBody>
      </p:sp>
      <p:sp>
        <p:nvSpPr>
          <p:cNvPr id="27" name="Rectangle 26"/>
          <p:cNvSpPr/>
          <p:nvPr/>
        </p:nvSpPr>
        <p:spPr>
          <a:xfrm>
            <a:off x="6355080" y="4572000"/>
            <a:ext cx="164592" cy="64008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4590288"/>
            <a:ext cx="2194560" cy="594360"/>
          </a:xfrm>
          <a:prstGeom prst="rect">
            <a:avLst/>
          </a:prstGeom>
          <a:noFill/>
        </p:spPr>
        <p:txBody>
          <a:bodyPr wrap="square">
            <a:spAutoFit/>
          </a:bodyPr>
          <a:lstStyle/>
          <a:p>
            <a:pPr algn="l"/>
            <a:r>
              <a:rPr sz="1200" b="1" i="0">
                <a:solidFill>
                  <a:srgbClr val="D946EF"/>
                </a:solidFill>
              </a:rPr>
              <a:t>Phase 4  (Ep 400+)</a:t>
            </a:r>
          </a:p>
        </p:txBody>
      </p:sp>
      <p:sp>
        <p:nvSpPr>
          <p:cNvPr id="29" name="TextBox 28"/>
          <p:cNvSpPr txBox="1"/>
          <p:nvPr/>
        </p:nvSpPr>
        <p:spPr>
          <a:xfrm>
            <a:off x="8823960" y="4590288"/>
            <a:ext cx="2926080" cy="594360"/>
          </a:xfrm>
          <a:prstGeom prst="rect">
            <a:avLst/>
          </a:prstGeom>
          <a:noFill/>
        </p:spPr>
        <p:txBody>
          <a:bodyPr wrap="square">
            <a:spAutoFit/>
          </a:bodyPr>
          <a:lstStyle/>
          <a:p>
            <a:pPr algn="l"/>
            <a:r>
              <a:rPr sz="1200" b="0" i="0">
                <a:solidFill>
                  <a:srgbClr val="B0BED0"/>
                </a:solidFill>
              </a:rPr>
              <a:t>Expert, budget=22 — Nash zone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Methodology — Neural Network Architectures</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5486400" cy="521208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97280"/>
            <a:ext cx="5212080" cy="502920"/>
          </a:xfrm>
          <a:prstGeom prst="rect">
            <a:avLst/>
          </a:prstGeom>
          <a:noFill/>
        </p:spPr>
        <p:txBody>
          <a:bodyPr wrap="square">
            <a:spAutoFit/>
          </a:bodyPr>
          <a:lstStyle/>
          <a:p>
            <a:pPr algn="l"/>
            <a:r>
              <a:rPr sz="1600" b="1" i="0">
                <a:solidFill>
                  <a:srgbClr val="00D4FF"/>
                </a:solidFill>
              </a:rPr>
              <a:t>Solver Network  (CNN + LSTM — 550 K params)</a:t>
            </a:r>
          </a:p>
        </p:txBody>
      </p:sp>
      <p:sp>
        <p:nvSpPr>
          <p:cNvPr id="9" name="TextBox 8"/>
          <p:cNvSpPr txBox="1"/>
          <p:nvPr/>
        </p:nvSpPr>
        <p:spPr>
          <a:xfrm>
            <a:off x="457200" y="1664208"/>
            <a:ext cx="5212080" cy="4389120"/>
          </a:xfrm>
          <a:prstGeom prst="rect">
            <a:avLst/>
          </a:prstGeom>
          <a:noFill/>
        </p:spPr>
        <p:txBody>
          <a:bodyPr wrap="square">
            <a:spAutoFit/>
          </a:bodyPr>
          <a:lstStyle/>
          <a:p>
            <a:pPr algn="l"/>
            <a:r>
              <a:rPr sz="1400" b="0" i="0">
                <a:solidFill>
                  <a:srgbClr val="B0BED0"/>
                </a:solidFill>
              </a:rPr>
              <a:t>Input: 3-channel grid  (20×20)
  Ch1: Occupancy  (walls/cameras/guards)
  Ch2: Visibility map  (danger zones)
  Ch3: Position gradient
Conv2D(3→32) → Conv2D(32→64) → Conv2D(64→64)
  → Flatten  →  LSTM(256, hidden=128)
          ↙               ↘
 Policy Head         Value Head
  (5 actions)         (1 scalar)
Why LSTM?
Cameras rotate over time — the solver
must remember past frames to time
its movements around rotation cycles.</a:t>
            </a:r>
          </a:p>
        </p:txBody>
      </p:sp>
      <p:sp>
        <p:nvSpPr>
          <p:cNvPr id="10" name="Rectangle 9"/>
          <p:cNvSpPr/>
          <p:nvPr/>
        </p:nvSpPr>
        <p:spPr>
          <a:xfrm>
            <a:off x="6217920" y="1051560"/>
            <a:ext cx="5669280" cy="521208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097280"/>
            <a:ext cx="5394960" cy="502920"/>
          </a:xfrm>
          <a:prstGeom prst="rect">
            <a:avLst/>
          </a:prstGeom>
          <a:noFill/>
        </p:spPr>
        <p:txBody>
          <a:bodyPr wrap="square">
            <a:spAutoFit/>
          </a:bodyPr>
          <a:lstStyle/>
          <a:p>
            <a:pPr algn="l"/>
            <a:r>
              <a:rPr sz="1600" b="1" i="0">
                <a:solidFill>
                  <a:srgbClr val="D946EF"/>
                </a:solidFill>
              </a:rPr>
              <a:t>Architect Network  (Encoder-Decoder CNN — 407 K params)</a:t>
            </a:r>
          </a:p>
        </p:txBody>
      </p:sp>
      <p:sp>
        <p:nvSpPr>
          <p:cNvPr id="12" name="TextBox 11"/>
          <p:cNvSpPr txBox="1"/>
          <p:nvPr/>
        </p:nvSpPr>
        <p:spPr>
          <a:xfrm>
            <a:off x="6400800" y="1664208"/>
            <a:ext cx="5303520" cy="4389120"/>
          </a:xfrm>
          <a:prstGeom prst="rect">
            <a:avLst/>
          </a:prstGeom>
          <a:noFill/>
        </p:spPr>
        <p:txBody>
          <a:bodyPr wrap="square">
            <a:spAutoFit/>
          </a:bodyPr>
          <a:lstStyle/>
          <a:p>
            <a:pPr algn="l"/>
            <a:r>
              <a:rPr sz="1400" b="0" i="0">
                <a:solidFill>
                  <a:srgbClr val="B0BED0"/>
                </a:solidFill>
              </a:rPr>
              <a:t>Input: 1-channel grid  (20×20)
Encoder:
  Conv2D(1→32) → Conv2D(32→64) → Conv2D(64→128)
Decoder:
  ConvTranspose(128→64) → ConvTranspose(64→32)
  ConvTranspose(32→3) + Sigmoid
  → Per-tile probabilities:
     [wall_prob, camera_prob, guard_prob]
+ Extra heads for camera FOV,
  rotation speed, guard patrol paths
Budget-greedy placement:
Sample probabilities until budget runs 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Real-Life Use Cases of Adversarial RL</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051560"/>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051560"/>
            <a:ext cx="109728" cy="14447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124712"/>
            <a:ext cx="3520439" cy="438912"/>
          </a:xfrm>
          <a:prstGeom prst="rect">
            <a:avLst/>
          </a:prstGeom>
          <a:noFill/>
        </p:spPr>
        <p:txBody>
          <a:bodyPr wrap="square">
            <a:spAutoFit/>
          </a:bodyPr>
          <a:lstStyle/>
          <a:p>
            <a:pPr algn="l"/>
            <a:r>
              <a:rPr sz="1300" b="1" i="0">
                <a:solidFill>
                  <a:srgbClr val="00D4FF"/>
                </a:solidFill>
              </a:rPr>
              <a:t>🔐  Cybersecurity — Red Teaming</a:t>
            </a:r>
          </a:p>
        </p:txBody>
      </p:sp>
      <p:sp>
        <p:nvSpPr>
          <p:cNvPr id="10" name="TextBox 9"/>
          <p:cNvSpPr txBox="1"/>
          <p:nvPr/>
        </p:nvSpPr>
        <p:spPr>
          <a:xfrm>
            <a:off x="411480" y="1536192"/>
            <a:ext cx="3520439" cy="877824"/>
          </a:xfrm>
          <a:prstGeom prst="rect">
            <a:avLst/>
          </a:prstGeom>
          <a:noFill/>
        </p:spPr>
        <p:txBody>
          <a:bodyPr wrap="square">
            <a:spAutoFit/>
          </a:bodyPr>
          <a:lstStyle/>
          <a:p>
            <a:pPr algn="l"/>
            <a:r>
              <a:rPr sz="1100" b="0" i="0">
                <a:solidFill>
                  <a:srgbClr val="B0BED0"/>
                </a:solidFill>
              </a:rPr>
              <a:t>AI red-team agents auto-discover network vulns while a blue-team agent hardens defenses. Used by DARPA's Cyber Grand Challenge &amp; commercial platforms like Darktrace.</a:t>
            </a:r>
          </a:p>
        </p:txBody>
      </p:sp>
      <p:sp>
        <p:nvSpPr>
          <p:cNvPr id="11" name="Rectangle 10"/>
          <p:cNvSpPr/>
          <p:nvPr/>
        </p:nvSpPr>
        <p:spPr>
          <a:xfrm>
            <a:off x="4142231" y="1051560"/>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42231" y="1051560"/>
            <a:ext cx="109728" cy="144475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25111" y="1124712"/>
            <a:ext cx="3520439" cy="438912"/>
          </a:xfrm>
          <a:prstGeom prst="rect">
            <a:avLst/>
          </a:prstGeom>
          <a:noFill/>
        </p:spPr>
        <p:txBody>
          <a:bodyPr wrap="square">
            <a:spAutoFit/>
          </a:bodyPr>
          <a:lstStyle/>
          <a:p>
            <a:pPr algn="l"/>
            <a:r>
              <a:rPr sz="1300" b="1" i="0">
                <a:solidFill>
                  <a:srgbClr val="FBBC04"/>
                </a:solidFill>
              </a:rPr>
              <a:t>🎮  Game AI &amp; Procedural Level Design</a:t>
            </a:r>
          </a:p>
        </p:txBody>
      </p:sp>
      <p:sp>
        <p:nvSpPr>
          <p:cNvPr id="14" name="TextBox 13"/>
          <p:cNvSpPr txBox="1"/>
          <p:nvPr/>
        </p:nvSpPr>
        <p:spPr>
          <a:xfrm>
            <a:off x="4325111" y="1536192"/>
            <a:ext cx="3520439" cy="877824"/>
          </a:xfrm>
          <a:prstGeom prst="rect">
            <a:avLst/>
          </a:prstGeom>
          <a:noFill/>
        </p:spPr>
        <p:txBody>
          <a:bodyPr wrap="square">
            <a:spAutoFit/>
          </a:bodyPr>
          <a:lstStyle/>
          <a:p>
            <a:pPr algn="l"/>
            <a:r>
              <a:rPr sz="1100" b="0" i="0">
                <a:solidFill>
                  <a:srgbClr val="B0BED0"/>
                </a:solidFill>
              </a:rPr>
              <a:t>OpenAI Five, Valve's test-map generator. Adversarial layout design directly mirrors procedural level generation where difficulty co-evolves with player skill.</a:t>
            </a:r>
          </a:p>
        </p:txBody>
      </p:sp>
      <p:sp>
        <p:nvSpPr>
          <p:cNvPr id="15" name="Rectangle 14"/>
          <p:cNvSpPr/>
          <p:nvPr/>
        </p:nvSpPr>
        <p:spPr>
          <a:xfrm>
            <a:off x="8055862" y="1051560"/>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55862" y="1051560"/>
            <a:ext cx="109728" cy="144475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38742" y="1124712"/>
            <a:ext cx="3520439" cy="438912"/>
          </a:xfrm>
          <a:prstGeom prst="rect">
            <a:avLst/>
          </a:prstGeom>
          <a:noFill/>
        </p:spPr>
        <p:txBody>
          <a:bodyPr wrap="square">
            <a:spAutoFit/>
          </a:bodyPr>
          <a:lstStyle/>
          <a:p>
            <a:pPr algn="l"/>
            <a:r>
              <a:rPr sz="1300" b="1" i="0">
                <a:solidFill>
                  <a:srgbClr val="D946EF"/>
                </a:solidFill>
              </a:rPr>
              <a:t>🚗  Autonomous Vehicle Safety</a:t>
            </a:r>
          </a:p>
        </p:txBody>
      </p:sp>
      <p:sp>
        <p:nvSpPr>
          <p:cNvPr id="18" name="TextBox 17"/>
          <p:cNvSpPr txBox="1"/>
          <p:nvPr/>
        </p:nvSpPr>
        <p:spPr>
          <a:xfrm>
            <a:off x="8238742" y="1536192"/>
            <a:ext cx="3520439" cy="877824"/>
          </a:xfrm>
          <a:prstGeom prst="rect">
            <a:avLst/>
          </a:prstGeom>
          <a:noFill/>
        </p:spPr>
        <p:txBody>
          <a:bodyPr wrap="square">
            <a:spAutoFit/>
          </a:bodyPr>
          <a:lstStyle/>
          <a:p>
            <a:pPr algn="l"/>
            <a:r>
              <a:rPr sz="1100" b="0" i="0">
                <a:solidFill>
                  <a:srgbClr val="B0BED0"/>
                </a:solidFill>
              </a:rPr>
              <a:t>Adversarial agents generate edge-case traffic scenarios (Waymo, NVIDIA DRIVE Sim) forcing ego-vehicles to encounter rare critical events at scale — without real-world risk.</a:t>
            </a:r>
          </a:p>
        </p:txBody>
      </p:sp>
      <p:sp>
        <p:nvSpPr>
          <p:cNvPr id="19" name="Rectangle 18"/>
          <p:cNvSpPr/>
          <p:nvPr/>
        </p:nvSpPr>
        <p:spPr>
          <a:xfrm>
            <a:off x="228600" y="2633472"/>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8600" y="2633472"/>
            <a:ext cx="109728" cy="14447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706624"/>
            <a:ext cx="3520439" cy="438912"/>
          </a:xfrm>
          <a:prstGeom prst="rect">
            <a:avLst/>
          </a:prstGeom>
          <a:noFill/>
        </p:spPr>
        <p:txBody>
          <a:bodyPr wrap="square">
            <a:spAutoFit/>
          </a:bodyPr>
          <a:lstStyle/>
          <a:p>
            <a:pPr algn="l"/>
            <a:r>
              <a:rPr sz="1300" b="1" i="0">
                <a:solidFill>
                  <a:srgbClr val="F97316"/>
                </a:solidFill>
              </a:rPr>
              <a:t>🏦  Physical Security Planning</a:t>
            </a:r>
          </a:p>
        </p:txBody>
      </p:sp>
      <p:sp>
        <p:nvSpPr>
          <p:cNvPr id="22" name="TextBox 21"/>
          <p:cNvSpPr txBox="1"/>
          <p:nvPr/>
        </p:nvSpPr>
        <p:spPr>
          <a:xfrm>
            <a:off x="411480" y="3118104"/>
            <a:ext cx="3520439" cy="877824"/>
          </a:xfrm>
          <a:prstGeom prst="rect">
            <a:avLst/>
          </a:prstGeom>
          <a:noFill/>
        </p:spPr>
        <p:txBody>
          <a:bodyPr wrap="square">
            <a:spAutoFit/>
          </a:bodyPr>
          <a:lstStyle/>
          <a:p>
            <a:pPr algn="l"/>
            <a:r>
              <a:rPr sz="1100" b="0" i="0">
                <a:solidFill>
                  <a:srgbClr val="B0BED0"/>
                </a:solidFill>
              </a:rPr>
              <a:t>Optimising CCTV placement, guard routes, and access control in banks, airports, data centers. RAND Corp &amp; Argonne National Lab apply game-theoretic security to real infrastructure.</a:t>
            </a:r>
          </a:p>
        </p:txBody>
      </p:sp>
      <p:sp>
        <p:nvSpPr>
          <p:cNvPr id="23" name="Rectangle 22"/>
          <p:cNvSpPr/>
          <p:nvPr/>
        </p:nvSpPr>
        <p:spPr>
          <a:xfrm>
            <a:off x="4142231" y="2633472"/>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42231" y="2633472"/>
            <a:ext cx="109728" cy="14447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25111" y="2706624"/>
            <a:ext cx="3520439" cy="438912"/>
          </a:xfrm>
          <a:prstGeom prst="rect">
            <a:avLst/>
          </a:prstGeom>
          <a:noFill/>
        </p:spPr>
        <p:txBody>
          <a:bodyPr wrap="square">
            <a:spAutoFit/>
          </a:bodyPr>
          <a:lstStyle/>
          <a:p>
            <a:pPr algn="l"/>
            <a:r>
              <a:rPr sz="1300" b="1" i="0">
                <a:solidFill>
                  <a:srgbClr val="10B981"/>
                </a:solidFill>
              </a:rPr>
              <a:t>🩺  Adversarial Robustness in Healthcare AI</a:t>
            </a:r>
          </a:p>
        </p:txBody>
      </p:sp>
      <p:sp>
        <p:nvSpPr>
          <p:cNvPr id="26" name="TextBox 25"/>
          <p:cNvSpPr txBox="1"/>
          <p:nvPr/>
        </p:nvSpPr>
        <p:spPr>
          <a:xfrm>
            <a:off x="4325111" y="3118104"/>
            <a:ext cx="3520439" cy="877824"/>
          </a:xfrm>
          <a:prstGeom prst="rect">
            <a:avLst/>
          </a:prstGeom>
          <a:noFill/>
        </p:spPr>
        <p:txBody>
          <a:bodyPr wrap="square">
            <a:spAutoFit/>
          </a:bodyPr>
          <a:lstStyle/>
          <a:p>
            <a:pPr algn="l"/>
            <a:r>
              <a:rPr sz="1100" b="0" i="0">
                <a:solidFill>
                  <a:srgbClr val="B0BED0"/>
                </a:solidFill>
              </a:rPr>
              <a:t>Training medical imaging models to resist adversarial perturbations. FDA's AI/ML action plan mandates adversarial robustness evaluations for cleared models.</a:t>
            </a:r>
          </a:p>
        </p:txBody>
      </p:sp>
      <p:sp>
        <p:nvSpPr>
          <p:cNvPr id="27" name="Rectangle 26"/>
          <p:cNvSpPr/>
          <p:nvPr/>
        </p:nvSpPr>
        <p:spPr>
          <a:xfrm>
            <a:off x="8055862" y="2633472"/>
            <a:ext cx="3749039" cy="1444752"/>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55862" y="2633472"/>
            <a:ext cx="109728" cy="1444752"/>
          </a:xfrm>
          <a:prstGeom prst="rect">
            <a:avLst/>
          </a:prstGeom>
          <a:solidFill>
            <a:srgbClr val="A08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38742" y="2706624"/>
            <a:ext cx="3520439" cy="438912"/>
          </a:xfrm>
          <a:prstGeom prst="rect">
            <a:avLst/>
          </a:prstGeom>
          <a:noFill/>
        </p:spPr>
        <p:txBody>
          <a:bodyPr wrap="square">
            <a:spAutoFit/>
          </a:bodyPr>
          <a:lstStyle/>
          <a:p>
            <a:pPr algn="l"/>
            <a:r>
              <a:rPr sz="1300" b="1" i="0">
                <a:solidFill>
                  <a:srgbClr val="A082FF"/>
                </a:solidFill>
              </a:rPr>
              <a:t>🛡️  Military &amp; Defense Simulation</a:t>
            </a:r>
          </a:p>
        </p:txBody>
      </p:sp>
      <p:sp>
        <p:nvSpPr>
          <p:cNvPr id="30" name="TextBox 29"/>
          <p:cNvSpPr txBox="1"/>
          <p:nvPr/>
        </p:nvSpPr>
        <p:spPr>
          <a:xfrm>
            <a:off x="8238742" y="3118104"/>
            <a:ext cx="3520439" cy="877824"/>
          </a:xfrm>
          <a:prstGeom prst="rect">
            <a:avLst/>
          </a:prstGeom>
          <a:noFill/>
        </p:spPr>
        <p:txBody>
          <a:bodyPr wrap="square">
            <a:spAutoFit/>
          </a:bodyPr>
          <a:lstStyle/>
          <a:p>
            <a:pPr algn="l"/>
            <a:r>
              <a:rPr sz="1100" b="0" i="0">
                <a:solidFill>
                  <a:srgbClr val="B0BED0"/>
                </a:solidFill>
              </a:rPr>
              <a:t>DARPA AlphaDogfight Trials (AI vs. AI aerial combat), wargame &amp; red-force planning, and autonomous drone swarm coordination all rely on multi-agent adversarial RL.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Emergent Strategies &amp; Training Results</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5486400" cy="251460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97280"/>
            <a:ext cx="5212080" cy="457200"/>
          </a:xfrm>
          <a:prstGeom prst="rect">
            <a:avLst/>
          </a:prstGeom>
          <a:noFill/>
        </p:spPr>
        <p:txBody>
          <a:bodyPr wrap="square">
            <a:spAutoFit/>
          </a:bodyPr>
          <a:lstStyle/>
          <a:p>
            <a:pPr algn="l"/>
            <a:r>
              <a:rPr sz="1600" b="1" i="0">
                <a:solidFill>
                  <a:srgbClr val="00D4FF"/>
                </a:solidFill>
              </a:rPr>
              <a:t>Architect Discovers (via self-play)</a:t>
            </a:r>
          </a:p>
        </p:txBody>
      </p:sp>
      <p:sp>
        <p:nvSpPr>
          <p:cNvPr id="9" name="TextBox 8"/>
          <p:cNvSpPr txBox="1"/>
          <p:nvPr/>
        </p:nvSpPr>
        <p:spPr>
          <a:xfrm>
            <a:off x="457200" y="1600200"/>
            <a:ext cx="5212080" cy="1920240"/>
          </a:xfrm>
          <a:prstGeom prst="rect">
            <a:avLst/>
          </a:prstGeom>
          <a:noFill/>
        </p:spPr>
        <p:txBody>
          <a:bodyPr wrap="square">
            <a:spAutoFit/>
          </a:bodyPr>
          <a:lstStyle/>
          <a:p>
            <a:endParaRPr/>
          </a:p>
          <a:p>
            <a:r>
              <a:rPr sz="1400" b="0">
                <a:solidFill>
                  <a:srgbClr val="B0BED0"/>
                </a:solidFill>
              </a:rPr>
              <a:t>▸ Chokepoints — narrow corridors swept by cameras</a:t>
            </a:r>
          </a:p>
          <a:p>
            <a:r>
              <a:rPr sz="1400" b="0">
                <a:solidFill>
                  <a:srgbClr val="B0BED0"/>
                </a:solidFill>
              </a:rPr>
              <a:t>▸ Dead-ends that funnel solver into surveillance</a:t>
            </a:r>
          </a:p>
          <a:p>
            <a:r>
              <a:rPr sz="1400" b="0">
                <a:solidFill>
                  <a:srgbClr val="B0BED0"/>
                </a:solidFill>
              </a:rPr>
              <a:t>▸ Patrol sync — no safe timing window</a:t>
            </a:r>
          </a:p>
          <a:p>
            <a:r>
              <a:rPr sz="1400" b="0">
                <a:solidFill>
                  <a:srgbClr val="B0BED0"/>
                </a:solidFill>
              </a:rPr>
              <a:t>▸ Camera crossfire covering mutual blind spots</a:t>
            </a:r>
          </a:p>
        </p:txBody>
      </p:sp>
      <p:sp>
        <p:nvSpPr>
          <p:cNvPr id="10" name="Rectangle 9"/>
          <p:cNvSpPr/>
          <p:nvPr/>
        </p:nvSpPr>
        <p:spPr>
          <a:xfrm>
            <a:off x="274320" y="3657600"/>
            <a:ext cx="5486400" cy="246888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703320"/>
            <a:ext cx="5212080" cy="457200"/>
          </a:xfrm>
          <a:prstGeom prst="rect">
            <a:avLst/>
          </a:prstGeom>
          <a:noFill/>
        </p:spPr>
        <p:txBody>
          <a:bodyPr wrap="square">
            <a:spAutoFit/>
          </a:bodyPr>
          <a:lstStyle/>
          <a:p>
            <a:pPr algn="l"/>
            <a:r>
              <a:rPr sz="1600" b="1" i="0">
                <a:solidFill>
                  <a:srgbClr val="D946EF"/>
                </a:solidFill>
              </a:rPr>
              <a:t>Solver Discovers (via self-play)</a:t>
            </a:r>
          </a:p>
        </p:txBody>
      </p:sp>
      <p:sp>
        <p:nvSpPr>
          <p:cNvPr id="12" name="TextBox 11"/>
          <p:cNvSpPr txBox="1"/>
          <p:nvPr/>
        </p:nvSpPr>
        <p:spPr>
          <a:xfrm>
            <a:off x="457200" y="4206240"/>
            <a:ext cx="5212080" cy="1828800"/>
          </a:xfrm>
          <a:prstGeom prst="rect">
            <a:avLst/>
          </a:prstGeom>
          <a:noFill/>
        </p:spPr>
        <p:txBody>
          <a:bodyPr wrap="square">
            <a:spAutoFit/>
          </a:bodyPr>
          <a:lstStyle/>
          <a:p>
            <a:endParaRPr/>
          </a:p>
          <a:p>
            <a:r>
              <a:rPr sz="1400" b="0">
                <a:solidFill>
                  <a:srgbClr val="B0BED0"/>
                </a:solidFill>
              </a:rPr>
              <a:t>▸ Wall-hugging for camera-cone cover</a:t>
            </a:r>
          </a:p>
          <a:p>
            <a:r>
              <a:rPr sz="1400" b="0">
                <a:solidFill>
                  <a:srgbClr val="B0BED0"/>
                </a:solidFill>
              </a:rPr>
              <a:t>▸ WAIT action — timing camera rotations</a:t>
            </a:r>
          </a:p>
          <a:p>
            <a:r>
              <a:rPr sz="1400" b="0">
                <a:solidFill>
                  <a:srgbClr val="B0BED0"/>
                </a:solidFill>
              </a:rPr>
              <a:t>▸ Indirect longer routes avoiding detection</a:t>
            </a:r>
          </a:p>
          <a:p>
            <a:r>
              <a:rPr sz="1400" b="0">
                <a:solidFill>
                  <a:srgbClr val="B0BED0"/>
                </a:solidFill>
              </a:rPr>
              <a:t>▸ Exploitation of guard patrol blind spots</a:t>
            </a:r>
          </a:p>
        </p:txBody>
      </p:sp>
      <p:sp>
        <p:nvSpPr>
          <p:cNvPr id="13" name="Rectangle 12"/>
          <p:cNvSpPr/>
          <p:nvPr/>
        </p:nvSpPr>
        <p:spPr>
          <a:xfrm>
            <a:off x="5943600" y="1051560"/>
            <a:ext cx="5943600" cy="512064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097280"/>
            <a:ext cx="5669280" cy="457200"/>
          </a:xfrm>
          <a:prstGeom prst="rect">
            <a:avLst/>
          </a:prstGeom>
          <a:noFill/>
        </p:spPr>
        <p:txBody>
          <a:bodyPr wrap="square">
            <a:spAutoFit/>
          </a:bodyPr>
          <a:lstStyle/>
          <a:p>
            <a:pPr algn="l"/>
            <a:r>
              <a:rPr sz="1600" b="1" i="0">
                <a:solidFill>
                  <a:srgbClr val="10B981"/>
                </a:solidFill>
              </a:rPr>
              <a:t>Training Progression</a:t>
            </a:r>
          </a:p>
        </p:txBody>
      </p:sp>
      <p:sp>
        <p:nvSpPr>
          <p:cNvPr id="15" name="Rectangle 14"/>
          <p:cNvSpPr/>
          <p:nvPr/>
        </p:nvSpPr>
        <p:spPr>
          <a:xfrm>
            <a:off x="6035040" y="1600200"/>
            <a:ext cx="1463040" cy="6583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80760" y="1618488"/>
            <a:ext cx="1389888" cy="658368"/>
          </a:xfrm>
          <a:prstGeom prst="rect">
            <a:avLst/>
          </a:prstGeom>
          <a:noFill/>
        </p:spPr>
        <p:txBody>
          <a:bodyPr wrap="square">
            <a:spAutoFit/>
          </a:bodyPr>
          <a:lstStyle/>
          <a:p>
            <a:pPr algn="l"/>
            <a:r>
              <a:rPr sz="1200" b="1" i="0">
                <a:solidFill>
                  <a:srgbClr val="0D1B2A"/>
                </a:solidFill>
              </a:rPr>
              <a:t>Phase</a:t>
            </a:r>
          </a:p>
        </p:txBody>
      </p:sp>
      <p:sp>
        <p:nvSpPr>
          <p:cNvPr id="17" name="Rectangle 16"/>
          <p:cNvSpPr/>
          <p:nvPr/>
        </p:nvSpPr>
        <p:spPr>
          <a:xfrm>
            <a:off x="7543800" y="1600200"/>
            <a:ext cx="1143000" cy="6583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0" y="1618488"/>
            <a:ext cx="1069848" cy="658368"/>
          </a:xfrm>
          <a:prstGeom prst="rect">
            <a:avLst/>
          </a:prstGeom>
          <a:noFill/>
        </p:spPr>
        <p:txBody>
          <a:bodyPr wrap="square">
            <a:spAutoFit/>
          </a:bodyPr>
          <a:lstStyle/>
          <a:p>
            <a:pPr algn="l"/>
            <a:r>
              <a:rPr sz="1200" b="1" i="0">
                <a:solidFill>
                  <a:srgbClr val="0D1B2A"/>
                </a:solidFill>
              </a:rPr>
              <a:t>Solve %</a:t>
            </a:r>
          </a:p>
        </p:txBody>
      </p:sp>
      <p:sp>
        <p:nvSpPr>
          <p:cNvPr id="19" name="Rectangle 18"/>
          <p:cNvSpPr/>
          <p:nvPr/>
        </p:nvSpPr>
        <p:spPr>
          <a:xfrm>
            <a:off x="8732520" y="1600200"/>
            <a:ext cx="1170432" cy="6583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0" y="1618488"/>
            <a:ext cx="1097280" cy="658368"/>
          </a:xfrm>
          <a:prstGeom prst="rect">
            <a:avLst/>
          </a:prstGeom>
          <a:noFill/>
        </p:spPr>
        <p:txBody>
          <a:bodyPr wrap="square">
            <a:spAutoFit/>
          </a:bodyPr>
          <a:lstStyle/>
          <a:p>
            <a:pPr algn="l"/>
            <a:r>
              <a:rPr sz="1200" b="1" i="0">
                <a:solidFill>
                  <a:srgbClr val="0D1B2A"/>
                </a:solidFill>
              </a:rPr>
              <a:t>Detect %</a:t>
            </a:r>
          </a:p>
        </p:txBody>
      </p:sp>
      <p:sp>
        <p:nvSpPr>
          <p:cNvPr id="21" name="Rectangle 20"/>
          <p:cNvSpPr/>
          <p:nvPr/>
        </p:nvSpPr>
        <p:spPr>
          <a:xfrm>
            <a:off x="9921240" y="1600200"/>
            <a:ext cx="1920240" cy="6583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66960" y="1618488"/>
            <a:ext cx="1847088" cy="658368"/>
          </a:xfrm>
          <a:prstGeom prst="rect">
            <a:avLst/>
          </a:prstGeom>
          <a:noFill/>
        </p:spPr>
        <p:txBody>
          <a:bodyPr wrap="square">
            <a:spAutoFit/>
          </a:bodyPr>
          <a:lstStyle/>
          <a:p>
            <a:pPr algn="l"/>
            <a:r>
              <a:rPr sz="1200" b="1" i="0">
                <a:solidFill>
                  <a:srgbClr val="0D1B2A"/>
                </a:solidFill>
              </a:rPr>
              <a:t>Notes</a:t>
            </a:r>
          </a:p>
        </p:txBody>
      </p:sp>
      <p:sp>
        <p:nvSpPr>
          <p:cNvPr id="23" name="Rectangle 22"/>
          <p:cNvSpPr/>
          <p:nvPr/>
        </p:nvSpPr>
        <p:spPr>
          <a:xfrm>
            <a:off x="6035040" y="2258568"/>
            <a:ext cx="14630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80760" y="2276856"/>
            <a:ext cx="1389888" cy="658368"/>
          </a:xfrm>
          <a:prstGeom prst="rect">
            <a:avLst/>
          </a:prstGeom>
          <a:noFill/>
        </p:spPr>
        <p:txBody>
          <a:bodyPr wrap="square">
            <a:spAutoFit/>
          </a:bodyPr>
          <a:lstStyle/>
          <a:p>
            <a:pPr algn="l"/>
            <a:r>
              <a:rPr sz="1200" b="0" i="0">
                <a:solidFill>
                  <a:srgbClr val="B0BED0"/>
                </a:solidFill>
              </a:rPr>
              <a:t>Warmup</a:t>
            </a:r>
          </a:p>
        </p:txBody>
      </p:sp>
      <p:sp>
        <p:nvSpPr>
          <p:cNvPr id="25" name="Rectangle 24"/>
          <p:cNvSpPr/>
          <p:nvPr/>
        </p:nvSpPr>
        <p:spPr>
          <a:xfrm>
            <a:off x="7543800" y="2258568"/>
            <a:ext cx="114300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0" y="2276856"/>
            <a:ext cx="1069848" cy="658368"/>
          </a:xfrm>
          <a:prstGeom prst="rect">
            <a:avLst/>
          </a:prstGeom>
          <a:noFill/>
        </p:spPr>
        <p:txBody>
          <a:bodyPr wrap="square">
            <a:spAutoFit/>
          </a:bodyPr>
          <a:lstStyle/>
          <a:p>
            <a:pPr algn="l"/>
            <a:r>
              <a:rPr sz="1200" b="0" i="0">
                <a:solidFill>
                  <a:srgbClr val="B0BED0"/>
                </a:solidFill>
              </a:rPr>
              <a:t>~100 %</a:t>
            </a:r>
          </a:p>
        </p:txBody>
      </p:sp>
      <p:sp>
        <p:nvSpPr>
          <p:cNvPr id="27" name="Rectangle 26"/>
          <p:cNvSpPr/>
          <p:nvPr/>
        </p:nvSpPr>
        <p:spPr>
          <a:xfrm>
            <a:off x="8732520" y="2258568"/>
            <a:ext cx="1170432"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0" y="2276856"/>
            <a:ext cx="1097280" cy="658368"/>
          </a:xfrm>
          <a:prstGeom prst="rect">
            <a:avLst/>
          </a:prstGeom>
          <a:noFill/>
        </p:spPr>
        <p:txBody>
          <a:bodyPr wrap="square">
            <a:spAutoFit/>
          </a:bodyPr>
          <a:lstStyle/>
          <a:p>
            <a:pPr algn="l"/>
            <a:r>
              <a:rPr sz="1200" b="0" i="0">
                <a:solidFill>
                  <a:srgbClr val="B0BED0"/>
                </a:solidFill>
              </a:rPr>
              <a:t>0 %</a:t>
            </a:r>
          </a:p>
        </p:txBody>
      </p:sp>
      <p:sp>
        <p:nvSpPr>
          <p:cNvPr id="29" name="Rectangle 28"/>
          <p:cNvSpPr/>
          <p:nvPr/>
        </p:nvSpPr>
        <p:spPr>
          <a:xfrm>
            <a:off x="9921240" y="2258568"/>
            <a:ext cx="19202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6960" y="2276856"/>
            <a:ext cx="1847088" cy="658368"/>
          </a:xfrm>
          <a:prstGeom prst="rect">
            <a:avLst/>
          </a:prstGeom>
          <a:noFill/>
        </p:spPr>
        <p:txBody>
          <a:bodyPr wrap="square">
            <a:spAutoFit/>
          </a:bodyPr>
          <a:lstStyle/>
          <a:p>
            <a:pPr algn="l"/>
            <a:r>
              <a:rPr sz="1200" b="0" i="0">
                <a:solidFill>
                  <a:srgbClr val="B0BED0"/>
                </a:solidFill>
              </a:rPr>
              <a:t>No threats</a:t>
            </a:r>
          </a:p>
        </p:txBody>
      </p:sp>
      <p:sp>
        <p:nvSpPr>
          <p:cNvPr id="31" name="Rectangle 30"/>
          <p:cNvSpPr/>
          <p:nvPr/>
        </p:nvSpPr>
        <p:spPr>
          <a:xfrm>
            <a:off x="6035040" y="2916936"/>
            <a:ext cx="146304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80760" y="2935224"/>
            <a:ext cx="1389888" cy="658368"/>
          </a:xfrm>
          <a:prstGeom prst="rect">
            <a:avLst/>
          </a:prstGeom>
          <a:noFill/>
        </p:spPr>
        <p:txBody>
          <a:bodyPr wrap="square">
            <a:spAutoFit/>
          </a:bodyPr>
          <a:lstStyle/>
          <a:p>
            <a:pPr algn="l"/>
            <a:r>
              <a:rPr sz="1200" b="0" i="0">
                <a:solidFill>
                  <a:srgbClr val="B0BED0"/>
                </a:solidFill>
              </a:rPr>
              <a:t>Walls</a:t>
            </a:r>
          </a:p>
        </p:txBody>
      </p:sp>
      <p:sp>
        <p:nvSpPr>
          <p:cNvPr id="33" name="Rectangle 32"/>
          <p:cNvSpPr/>
          <p:nvPr/>
        </p:nvSpPr>
        <p:spPr>
          <a:xfrm>
            <a:off x="7543800" y="2916936"/>
            <a:ext cx="114300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89520" y="2935224"/>
            <a:ext cx="1069848" cy="658368"/>
          </a:xfrm>
          <a:prstGeom prst="rect">
            <a:avLst/>
          </a:prstGeom>
          <a:noFill/>
        </p:spPr>
        <p:txBody>
          <a:bodyPr wrap="square">
            <a:spAutoFit/>
          </a:bodyPr>
          <a:lstStyle/>
          <a:p>
            <a:pPr algn="l"/>
            <a:r>
              <a:rPr sz="1200" b="0" i="0">
                <a:solidFill>
                  <a:srgbClr val="B0BED0"/>
                </a:solidFill>
              </a:rPr>
              <a:t>80-100 %</a:t>
            </a:r>
          </a:p>
        </p:txBody>
      </p:sp>
      <p:sp>
        <p:nvSpPr>
          <p:cNvPr id="35" name="Rectangle 34"/>
          <p:cNvSpPr/>
          <p:nvPr/>
        </p:nvSpPr>
        <p:spPr>
          <a:xfrm>
            <a:off x="8732520" y="2916936"/>
            <a:ext cx="1170432"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78240" y="2935224"/>
            <a:ext cx="1097280" cy="658368"/>
          </a:xfrm>
          <a:prstGeom prst="rect">
            <a:avLst/>
          </a:prstGeom>
          <a:noFill/>
        </p:spPr>
        <p:txBody>
          <a:bodyPr wrap="square">
            <a:spAutoFit/>
          </a:bodyPr>
          <a:lstStyle/>
          <a:p>
            <a:pPr algn="l"/>
            <a:r>
              <a:rPr sz="1200" b="0" i="0">
                <a:solidFill>
                  <a:srgbClr val="B0BED0"/>
                </a:solidFill>
              </a:rPr>
              <a:t>0 %</a:t>
            </a:r>
          </a:p>
        </p:txBody>
      </p:sp>
      <p:sp>
        <p:nvSpPr>
          <p:cNvPr id="37" name="Rectangle 36"/>
          <p:cNvSpPr/>
          <p:nvPr/>
        </p:nvSpPr>
        <p:spPr>
          <a:xfrm>
            <a:off x="9921240" y="2916936"/>
            <a:ext cx="192024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66960" y="2935224"/>
            <a:ext cx="1847088" cy="658368"/>
          </a:xfrm>
          <a:prstGeom prst="rect">
            <a:avLst/>
          </a:prstGeom>
          <a:noFill/>
        </p:spPr>
        <p:txBody>
          <a:bodyPr wrap="square">
            <a:spAutoFit/>
          </a:bodyPr>
          <a:lstStyle/>
          <a:p>
            <a:pPr algn="l"/>
            <a:r>
              <a:rPr sz="1200" b="0" i="0">
                <a:solidFill>
                  <a:srgbClr val="B0BED0"/>
                </a:solidFill>
              </a:rPr>
              <a:t>Maze nav</a:t>
            </a:r>
          </a:p>
        </p:txBody>
      </p:sp>
      <p:sp>
        <p:nvSpPr>
          <p:cNvPr id="39" name="Rectangle 38"/>
          <p:cNvSpPr/>
          <p:nvPr/>
        </p:nvSpPr>
        <p:spPr>
          <a:xfrm>
            <a:off x="6035040" y="3575304"/>
            <a:ext cx="14630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3593592"/>
            <a:ext cx="1389888" cy="658368"/>
          </a:xfrm>
          <a:prstGeom prst="rect">
            <a:avLst/>
          </a:prstGeom>
          <a:noFill/>
        </p:spPr>
        <p:txBody>
          <a:bodyPr wrap="square">
            <a:spAutoFit/>
          </a:bodyPr>
          <a:lstStyle/>
          <a:p>
            <a:pPr algn="l"/>
            <a:r>
              <a:rPr sz="1200" b="0" i="0">
                <a:solidFill>
                  <a:srgbClr val="B0BED0"/>
                </a:solidFill>
              </a:rPr>
              <a:t>Cameras</a:t>
            </a:r>
          </a:p>
        </p:txBody>
      </p:sp>
      <p:sp>
        <p:nvSpPr>
          <p:cNvPr id="41" name="Rectangle 40"/>
          <p:cNvSpPr/>
          <p:nvPr/>
        </p:nvSpPr>
        <p:spPr>
          <a:xfrm>
            <a:off x="7543800" y="3575304"/>
            <a:ext cx="114300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9520" y="3593592"/>
            <a:ext cx="1069848" cy="658368"/>
          </a:xfrm>
          <a:prstGeom prst="rect">
            <a:avLst/>
          </a:prstGeom>
          <a:noFill/>
        </p:spPr>
        <p:txBody>
          <a:bodyPr wrap="square">
            <a:spAutoFit/>
          </a:bodyPr>
          <a:lstStyle/>
          <a:p>
            <a:pPr algn="l"/>
            <a:r>
              <a:rPr sz="1200" b="0" i="0">
                <a:solidFill>
                  <a:srgbClr val="B0BED0"/>
                </a:solidFill>
              </a:rPr>
              <a:t>30-60 %</a:t>
            </a:r>
          </a:p>
        </p:txBody>
      </p:sp>
      <p:sp>
        <p:nvSpPr>
          <p:cNvPr id="43" name="Rectangle 42"/>
          <p:cNvSpPr/>
          <p:nvPr/>
        </p:nvSpPr>
        <p:spPr>
          <a:xfrm>
            <a:off x="8732520" y="3575304"/>
            <a:ext cx="1170432"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778240" y="3593592"/>
            <a:ext cx="1097280" cy="658368"/>
          </a:xfrm>
          <a:prstGeom prst="rect">
            <a:avLst/>
          </a:prstGeom>
          <a:noFill/>
        </p:spPr>
        <p:txBody>
          <a:bodyPr wrap="square">
            <a:spAutoFit/>
          </a:bodyPr>
          <a:lstStyle/>
          <a:p>
            <a:pPr algn="l"/>
            <a:r>
              <a:rPr sz="1200" b="0" i="0">
                <a:solidFill>
                  <a:srgbClr val="B0BED0"/>
                </a:solidFill>
              </a:rPr>
              <a:t>20-40 %</a:t>
            </a:r>
          </a:p>
        </p:txBody>
      </p:sp>
      <p:sp>
        <p:nvSpPr>
          <p:cNvPr id="45" name="Rectangle 44"/>
          <p:cNvSpPr/>
          <p:nvPr/>
        </p:nvSpPr>
        <p:spPr>
          <a:xfrm>
            <a:off x="9921240" y="3575304"/>
            <a:ext cx="19202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66960" y="3593592"/>
            <a:ext cx="1847088" cy="658368"/>
          </a:xfrm>
          <a:prstGeom prst="rect">
            <a:avLst/>
          </a:prstGeom>
          <a:noFill/>
        </p:spPr>
        <p:txBody>
          <a:bodyPr wrap="square">
            <a:spAutoFit/>
          </a:bodyPr>
          <a:lstStyle/>
          <a:p>
            <a:pPr algn="l"/>
            <a:r>
              <a:rPr sz="1200" b="0" i="0">
                <a:solidFill>
                  <a:srgbClr val="B0BED0"/>
                </a:solidFill>
              </a:rPr>
              <a:t>Avoids cones</a:t>
            </a:r>
          </a:p>
        </p:txBody>
      </p:sp>
      <p:sp>
        <p:nvSpPr>
          <p:cNvPr id="47" name="Rectangle 46"/>
          <p:cNvSpPr/>
          <p:nvPr/>
        </p:nvSpPr>
        <p:spPr>
          <a:xfrm>
            <a:off x="6035040" y="4233672"/>
            <a:ext cx="146304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80760" y="4251960"/>
            <a:ext cx="1389888" cy="658368"/>
          </a:xfrm>
          <a:prstGeom prst="rect">
            <a:avLst/>
          </a:prstGeom>
          <a:noFill/>
        </p:spPr>
        <p:txBody>
          <a:bodyPr wrap="square">
            <a:spAutoFit/>
          </a:bodyPr>
          <a:lstStyle/>
          <a:p>
            <a:pPr algn="l"/>
            <a:r>
              <a:rPr sz="1200" b="0" i="0">
                <a:solidFill>
                  <a:srgbClr val="B0BED0"/>
                </a:solidFill>
              </a:rPr>
              <a:t>Full Sec</a:t>
            </a:r>
          </a:p>
        </p:txBody>
      </p:sp>
      <p:sp>
        <p:nvSpPr>
          <p:cNvPr id="49" name="Rectangle 48"/>
          <p:cNvSpPr/>
          <p:nvPr/>
        </p:nvSpPr>
        <p:spPr>
          <a:xfrm>
            <a:off x="7543800" y="4233672"/>
            <a:ext cx="114300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589520" y="4251960"/>
            <a:ext cx="1069848" cy="658368"/>
          </a:xfrm>
          <a:prstGeom prst="rect">
            <a:avLst/>
          </a:prstGeom>
          <a:noFill/>
        </p:spPr>
        <p:txBody>
          <a:bodyPr wrap="square">
            <a:spAutoFit/>
          </a:bodyPr>
          <a:lstStyle/>
          <a:p>
            <a:pPr algn="l"/>
            <a:r>
              <a:rPr sz="1200" b="0" i="0">
                <a:solidFill>
                  <a:srgbClr val="B0BED0"/>
                </a:solidFill>
              </a:rPr>
              <a:t>20-50 %</a:t>
            </a:r>
          </a:p>
        </p:txBody>
      </p:sp>
      <p:sp>
        <p:nvSpPr>
          <p:cNvPr id="51" name="Rectangle 50"/>
          <p:cNvSpPr/>
          <p:nvPr/>
        </p:nvSpPr>
        <p:spPr>
          <a:xfrm>
            <a:off x="8732520" y="4233672"/>
            <a:ext cx="1170432"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778240" y="4251960"/>
            <a:ext cx="1097280" cy="658368"/>
          </a:xfrm>
          <a:prstGeom prst="rect">
            <a:avLst/>
          </a:prstGeom>
          <a:noFill/>
        </p:spPr>
        <p:txBody>
          <a:bodyPr wrap="square">
            <a:spAutoFit/>
          </a:bodyPr>
          <a:lstStyle/>
          <a:p>
            <a:pPr algn="l"/>
            <a:r>
              <a:rPr sz="1200" b="0" i="0">
                <a:solidFill>
                  <a:srgbClr val="B0BED0"/>
                </a:solidFill>
              </a:rPr>
              <a:t>30-50 %</a:t>
            </a:r>
          </a:p>
        </p:txBody>
      </p:sp>
      <p:sp>
        <p:nvSpPr>
          <p:cNvPr id="53" name="Rectangle 52"/>
          <p:cNvSpPr/>
          <p:nvPr/>
        </p:nvSpPr>
        <p:spPr>
          <a:xfrm>
            <a:off x="9921240" y="4233672"/>
            <a:ext cx="192024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966960" y="4251960"/>
            <a:ext cx="1847088" cy="658368"/>
          </a:xfrm>
          <a:prstGeom prst="rect">
            <a:avLst/>
          </a:prstGeom>
          <a:noFill/>
        </p:spPr>
        <p:txBody>
          <a:bodyPr wrap="square">
            <a:spAutoFit/>
          </a:bodyPr>
          <a:lstStyle/>
          <a:p>
            <a:pPr algn="l"/>
            <a:r>
              <a:rPr sz="1200" b="0" i="0">
                <a:solidFill>
                  <a:srgbClr val="B0BED0"/>
                </a:solidFill>
              </a:rPr>
              <a:t>Adversarial</a:t>
            </a:r>
          </a:p>
        </p:txBody>
      </p:sp>
      <p:sp>
        <p:nvSpPr>
          <p:cNvPr id="55" name="Rectangle 54"/>
          <p:cNvSpPr/>
          <p:nvPr/>
        </p:nvSpPr>
        <p:spPr>
          <a:xfrm>
            <a:off x="6035040" y="4892040"/>
            <a:ext cx="14630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080760" y="4910328"/>
            <a:ext cx="1389888" cy="658368"/>
          </a:xfrm>
          <a:prstGeom prst="rect">
            <a:avLst/>
          </a:prstGeom>
          <a:noFill/>
        </p:spPr>
        <p:txBody>
          <a:bodyPr wrap="square">
            <a:spAutoFit/>
          </a:bodyPr>
          <a:lstStyle/>
          <a:p>
            <a:pPr algn="l"/>
            <a:r>
              <a:rPr sz="1200" b="0" i="0">
                <a:solidFill>
                  <a:srgbClr val="B0BED0"/>
                </a:solidFill>
              </a:rPr>
              <a:t>Expert</a:t>
            </a:r>
          </a:p>
        </p:txBody>
      </p:sp>
      <p:sp>
        <p:nvSpPr>
          <p:cNvPr id="57" name="Rectangle 56"/>
          <p:cNvSpPr/>
          <p:nvPr/>
        </p:nvSpPr>
        <p:spPr>
          <a:xfrm>
            <a:off x="7543800" y="4892040"/>
            <a:ext cx="114300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589520" y="4910328"/>
            <a:ext cx="1069848" cy="658368"/>
          </a:xfrm>
          <a:prstGeom prst="rect">
            <a:avLst/>
          </a:prstGeom>
          <a:noFill/>
        </p:spPr>
        <p:txBody>
          <a:bodyPr wrap="square">
            <a:spAutoFit/>
          </a:bodyPr>
          <a:lstStyle/>
          <a:p>
            <a:pPr algn="l"/>
            <a:r>
              <a:rPr sz="1200" b="0" i="0">
                <a:solidFill>
                  <a:srgbClr val="B0BED0"/>
                </a:solidFill>
              </a:rPr>
              <a:t>~35 %</a:t>
            </a:r>
          </a:p>
        </p:txBody>
      </p:sp>
      <p:sp>
        <p:nvSpPr>
          <p:cNvPr id="59" name="Rectangle 58"/>
          <p:cNvSpPr/>
          <p:nvPr/>
        </p:nvSpPr>
        <p:spPr>
          <a:xfrm>
            <a:off x="8732520" y="4892040"/>
            <a:ext cx="1170432"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778240" y="4910328"/>
            <a:ext cx="1097280" cy="658368"/>
          </a:xfrm>
          <a:prstGeom prst="rect">
            <a:avLst/>
          </a:prstGeom>
          <a:noFill/>
        </p:spPr>
        <p:txBody>
          <a:bodyPr wrap="square">
            <a:spAutoFit/>
          </a:bodyPr>
          <a:lstStyle/>
          <a:p>
            <a:pPr algn="l"/>
            <a:r>
              <a:rPr sz="1200" b="0" i="0">
                <a:solidFill>
                  <a:srgbClr val="B0BED0"/>
                </a:solidFill>
              </a:rPr>
              <a:t>~45 %</a:t>
            </a:r>
          </a:p>
        </p:txBody>
      </p:sp>
      <p:sp>
        <p:nvSpPr>
          <p:cNvPr id="61" name="Rectangle 60"/>
          <p:cNvSpPr/>
          <p:nvPr/>
        </p:nvSpPr>
        <p:spPr>
          <a:xfrm>
            <a:off x="9921240" y="4892040"/>
            <a:ext cx="1920240" cy="658368"/>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966960" y="4910328"/>
            <a:ext cx="1847088" cy="658368"/>
          </a:xfrm>
          <a:prstGeom prst="rect">
            <a:avLst/>
          </a:prstGeom>
          <a:noFill/>
        </p:spPr>
        <p:txBody>
          <a:bodyPr wrap="square">
            <a:spAutoFit/>
          </a:bodyPr>
          <a:lstStyle/>
          <a:p>
            <a:pPr algn="l"/>
            <a:r>
              <a:rPr sz="1200" b="0" i="0">
                <a:solidFill>
                  <a:srgbClr val="B0BED0"/>
                </a:solidFill>
              </a:rPr>
              <a:t>Nash Equil.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82296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731520"/>
          </a:xfrm>
          <a:prstGeom prst="rect">
            <a:avLst/>
          </a:prstGeom>
          <a:noFill/>
        </p:spPr>
        <p:txBody>
          <a:bodyPr wrap="square">
            <a:spAutoFit/>
          </a:bodyPr>
          <a:lstStyle/>
          <a:p>
            <a:pPr algn="l"/>
            <a:r>
              <a:rPr sz="2800" b="1" i="0">
                <a:solidFill>
                  <a:srgbClr val="FFFFFF"/>
                </a:solidFill>
              </a:rPr>
              <a:t>References</a:t>
            </a:r>
          </a:p>
        </p:txBody>
      </p:sp>
      <p:sp>
        <p:nvSpPr>
          <p:cNvPr id="5" name="TextBox 4"/>
          <p:cNvSpPr txBox="1"/>
          <p:nvPr/>
        </p:nvSpPr>
        <p:spPr>
          <a:xfrm>
            <a:off x="182880" y="6537960"/>
            <a:ext cx="8229600" cy="274320"/>
          </a:xfrm>
          <a:prstGeom prst="rect">
            <a:avLst/>
          </a:prstGeom>
          <a:noFill/>
        </p:spPr>
        <p:txBody>
          <a:bodyPr wrap="square">
            <a:spAutoFit/>
          </a:bodyPr>
          <a:lstStyle/>
          <a:p>
            <a:pPr algn="l"/>
            <a:r>
              <a:rPr sz="1000" b="0" i="1">
                <a:solidFill>
                  <a:srgbClr val="B0BED0"/>
                </a:solidFill>
              </a:rPr>
              <a:t>Heist Architect — Adversarial RL Framework  |  CSE4019</a:t>
            </a:r>
          </a:p>
        </p:txBody>
      </p:sp>
      <p:sp>
        <p:nvSpPr>
          <p:cNvPr id="6" name="Rectangle 5"/>
          <p:cNvSpPr/>
          <p:nvPr/>
        </p:nvSpPr>
        <p:spPr>
          <a:xfrm>
            <a:off x="0" y="6821424"/>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51560"/>
            <a:ext cx="11612880" cy="5486400"/>
          </a:xfrm>
          <a:prstGeom prst="rect">
            <a:avLst/>
          </a:prstGeom>
          <a:solidFill>
            <a:srgbClr val="11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88720"/>
            <a:ext cx="11338560" cy="5212080"/>
          </a:xfrm>
          <a:prstGeom prst="rect">
            <a:avLst/>
          </a:prstGeom>
          <a:noFill/>
        </p:spPr>
        <p:txBody>
          <a:bodyPr wrap="square">
            <a:spAutoFit/>
          </a:bodyPr>
          <a:lstStyle/>
          <a:p>
            <a:endParaRPr/>
          </a:p>
          <a:p>
            <a:r>
              <a:rPr sz="1350">
                <a:solidFill>
                  <a:srgbClr val="B0BED0"/>
                </a:solidFill>
              </a:rPr>
              <a:t>[1]  Schulman, J. et al. (2017). Proximal Policy Optimization Algorithms. arXiv:1707.06347</a:t>
            </a:r>
          </a:p>
          <a:p>
            <a:endParaRPr sz="1350">
              <a:solidFill>
                <a:srgbClr val="B0BED0"/>
              </a:solidFill>
            </a:endParaRPr>
          </a:p>
          <a:p>
            <a:r>
              <a:rPr sz="1350">
                <a:solidFill>
                  <a:srgbClr val="B0BED0"/>
                </a:solidFill>
              </a:rPr>
              <a:t>[2]  Schulman, J. et al. (2015). Generalized Advantage Estimation. arXiv:1506.02438</a:t>
            </a:r>
          </a:p>
          <a:p>
            <a:endParaRPr sz="1350">
              <a:solidFill>
                <a:srgbClr val="B0BED0"/>
              </a:solidFill>
            </a:endParaRPr>
          </a:p>
          <a:p>
            <a:r>
              <a:rPr sz="1350">
                <a:solidFill>
                  <a:srgbClr val="B0BED0"/>
                </a:solidFill>
              </a:rPr>
              <a:t>[3]  Silver, D. et al. (2017). Mastering Chess and Shogi by Self-Play (AlphaZero). arXiv:1712.01815</a:t>
            </a:r>
          </a:p>
          <a:p>
            <a:endParaRPr sz="1350">
              <a:solidFill>
                <a:srgbClr val="B0BED0"/>
              </a:solidFill>
            </a:endParaRPr>
          </a:p>
          <a:p>
            <a:r>
              <a:rPr sz="1350">
                <a:solidFill>
                  <a:srgbClr val="B0BED0"/>
                </a:solidFill>
              </a:rPr>
              <a:t>[4]  OpenAI (2019). OpenAI Five: Dota 2 with Large Scale Deep Reinforcement Learning.</a:t>
            </a:r>
          </a:p>
          <a:p>
            <a:endParaRPr sz="1350">
              <a:solidFill>
                <a:srgbClr val="B0BED0"/>
              </a:solidFill>
            </a:endParaRPr>
          </a:p>
          <a:p>
            <a:r>
              <a:rPr sz="1350">
                <a:solidFill>
                  <a:srgbClr val="B0BED0"/>
                </a:solidFill>
              </a:rPr>
              <a:t>[5]  Goodfellow, I. et al. (2014). Generative Adversarial Nets. NeurIPS.</a:t>
            </a:r>
          </a:p>
          <a:p>
            <a:endParaRPr sz="1350">
              <a:solidFill>
                <a:srgbClr val="B0BED0"/>
              </a:solidFill>
            </a:endParaRPr>
          </a:p>
          <a:p>
            <a:r>
              <a:rPr sz="1350">
                <a:solidFill>
                  <a:srgbClr val="B0BED0"/>
                </a:solidFill>
              </a:rPr>
              <a:t>[6]  Nash, J. (1951). Non-Cooperative Games. Annals of Mathematics 54(2), 286-295.</a:t>
            </a:r>
          </a:p>
          <a:p>
            <a:endParaRPr sz="1350">
              <a:solidFill>
                <a:srgbClr val="B0BED0"/>
              </a:solidFill>
            </a:endParaRPr>
          </a:p>
          <a:p>
            <a:r>
              <a:rPr sz="1350">
                <a:solidFill>
                  <a:srgbClr val="B0BED0"/>
                </a:solidFill>
              </a:rPr>
              <a:t>[7]  Tambe, M. et al. (2008). ARMOR: Game-Theoretic Security at LAX / Ports. AAAI/IAAI.</a:t>
            </a:r>
          </a:p>
          <a:p>
            <a:endParaRPr sz="1350">
              <a:solidFill>
                <a:srgbClr val="B0BED0"/>
              </a:solidFill>
            </a:endParaRPr>
          </a:p>
          <a:p>
            <a:r>
              <a:rPr sz="1350">
                <a:solidFill>
                  <a:srgbClr val="B0BED0"/>
                </a:solidFill>
              </a:rPr>
              <a:t>[8]  DARPA Cyber Grand Challenge (2016). Fully Automated Cyber Reasoning System.</a:t>
            </a:r>
          </a:p>
          <a:p>
            <a:endParaRPr sz="1350">
              <a:solidFill>
                <a:srgbClr val="B0BED0"/>
              </a:solidFill>
            </a:endParaRPr>
          </a:p>
          <a:p>
            <a:r>
              <a:rPr sz="1350">
                <a:solidFill>
                  <a:srgbClr val="B0BED0"/>
                </a:solidFill>
              </a:rPr>
              <a:t>[9]  Peng, X. B. et al. (2018). Adversarial Skill Networks. ICLR.</a:t>
            </a:r>
          </a:p>
          <a:p>
            <a:endParaRPr sz="1350">
              <a:solidFill>
                <a:srgbClr val="B0BED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737360"/>
            <a:ext cx="11247120" cy="1463040"/>
          </a:xfrm>
          <a:prstGeom prst="rect">
            <a:avLst/>
          </a:prstGeom>
          <a:noFill/>
        </p:spPr>
        <p:txBody>
          <a:bodyPr wrap="square">
            <a:spAutoFit/>
          </a:bodyPr>
          <a:lstStyle/>
          <a:p>
            <a:pPr algn="ctr"/>
            <a:r>
              <a:rPr sz="6000" b="1" i="0">
                <a:solidFill>
                  <a:srgbClr val="FFFFFF"/>
                </a:solidFill>
              </a:rPr>
              <a:t>Thank You</a:t>
            </a:r>
          </a:p>
        </p:txBody>
      </p:sp>
      <p:sp>
        <p:nvSpPr>
          <p:cNvPr id="4" name="Rectangle 3"/>
          <p:cNvSpPr/>
          <p:nvPr/>
        </p:nvSpPr>
        <p:spPr>
          <a:xfrm>
            <a:off x="2743200" y="3291840"/>
            <a:ext cx="6675120" cy="5486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3520440"/>
            <a:ext cx="11247120" cy="731520"/>
          </a:xfrm>
          <a:prstGeom prst="rect">
            <a:avLst/>
          </a:prstGeom>
          <a:noFill/>
        </p:spPr>
        <p:txBody>
          <a:bodyPr wrap="square">
            <a:spAutoFit/>
          </a:bodyPr>
          <a:lstStyle/>
          <a:p>
            <a:pPr algn="ctr"/>
            <a:r>
              <a:rPr sz="2000" b="0" i="1">
                <a:solidFill>
                  <a:srgbClr val="B0BED0"/>
                </a:solidFill>
              </a:rPr>
              <a:t>"Two AIs. Infinite iterations. Neither ever truly wins."</a:t>
            </a:r>
          </a:p>
        </p:txBody>
      </p:sp>
      <p:sp>
        <p:nvSpPr>
          <p:cNvPr id="7" name="Rectangle 6"/>
          <p:cNvSpPr/>
          <p:nvPr/>
        </p:nvSpPr>
        <p:spPr>
          <a:xfrm>
            <a:off x="0" y="6803136"/>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97EEB53-C97E-DAA9-87AF-8C25D0F9325E}"/>
              </a:ext>
            </a:extLst>
          </p:cNvPr>
          <p:cNvSpPr txBox="1"/>
          <p:nvPr/>
        </p:nvSpPr>
        <p:spPr>
          <a:xfrm>
            <a:off x="914400" y="5029200"/>
            <a:ext cx="10332720" cy="461665"/>
          </a:xfrm>
          <a:prstGeom prst="rect">
            <a:avLst/>
          </a:prstGeom>
          <a:noFill/>
        </p:spPr>
        <p:txBody>
          <a:bodyPr wrap="square">
            <a:spAutoFit/>
          </a:bodyPr>
          <a:lstStyle/>
          <a:p>
            <a:pPr algn="ctr"/>
            <a:r>
              <a:rPr lang="en-US" sz="1200" b="0" i="1" dirty="0">
                <a:solidFill>
                  <a:srgbClr val="B0BED0"/>
                </a:solidFill>
              </a:rPr>
              <a:t>Shanmukesh Bonala – 23BCE20070</a:t>
            </a:r>
            <a:br>
              <a:rPr lang="en-US" sz="1200" b="0" i="1" dirty="0">
                <a:solidFill>
                  <a:srgbClr val="B0BED0"/>
                </a:solidFill>
              </a:rPr>
            </a:br>
            <a:r>
              <a:rPr lang="en-US" sz="1200" b="0" i="1" dirty="0">
                <a:solidFill>
                  <a:srgbClr val="B0BED0"/>
                </a:solidFill>
              </a:rPr>
              <a:t>Sridhar E -23BCE7203</a:t>
            </a:r>
            <a:endParaRPr sz="1200" b="0" i="1" dirty="0">
              <a:solidFill>
                <a:srgbClr val="B0BED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66</TotalTime>
  <Words>1426</Words>
  <Application>Microsoft Office PowerPoint</Application>
  <PresentationFormat>Custom</PresentationFormat>
  <Paragraphs>155</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Bonala Shanmukesh</cp:lastModifiedBy>
  <cp:revision>2</cp:revision>
  <dcterms:created xsi:type="dcterms:W3CDTF">2013-01-27T09:14:16Z</dcterms:created>
  <dcterms:modified xsi:type="dcterms:W3CDTF">2026-03-11T09:59:05Z</dcterms:modified>
  <cp:category/>
</cp:coreProperties>
</file>