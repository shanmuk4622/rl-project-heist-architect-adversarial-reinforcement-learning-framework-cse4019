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4" r:id="rId7"/>
    <p:sldId id="26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75" r:id="rId16"/>
    <p:sldId id="276" r:id="rId17"/>
    <p:sldId id="277" r:id="rId18"/>
  </p:sldIdLst>
  <p:sldSz cx="12192000" cy="6858000"/>
  <p:notesSz cx="6858000" cy="9144000"/>
  <p:embeddedFontLst>
    <p:embeddedFont>
      <p:font typeface="Calibri Light" panose="020F0302020204030204" pitchFamily="34" charset="0"/>
      <p:regular r:id="rId20"/>
      <p:italic r:id="rId21"/>
    </p:embeddedFont>
    <p:embeddedFont>
      <p:font typeface="Tw Cen MT" panose="020B0602020104020603" pitchFamily="34" charset="0"/>
      <p:regular r:id="rId22"/>
      <p:bold r:id="rId23"/>
      <p:italic r:id="rId24"/>
      <p:boldItalic r:id="rId25"/>
    </p:embeddedFont>
    <p:embeddedFont>
      <p:font typeface="Gill Sans MT" panose="020B0502020104020203" pitchFamily="34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Poppins" panose="020B0604020202020204" charset="0"/>
      <p:regular r:id="rId34"/>
      <p:bold r:id="rId35"/>
      <p:italic r:id="rId36"/>
      <p:boldItalic r:id="rId37"/>
    </p:embeddedFont>
    <p:embeddedFont>
      <p:font typeface="SimSun" panose="02010600030101010101" pitchFamily="2" charset="-122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249"/>
    <a:srgbClr val="133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2CD9A-772D-483E-A9FB-E7B351828C8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11BB-82F3-4D71-8727-DE44A8117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8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AB12-403B-848C-B62C-8AB82EB7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09FB9-A025-52DB-7A0C-309E61E83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3B802-9A84-E600-A38D-2812B28CA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60B70-3BAF-B5FA-7058-9E14E481A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3EA1-0A29-883E-1EE4-CA4E226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B9B8A-E8C5-187C-ECA7-ABA8D3F81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39181-FBE8-CEE8-0548-B9D09857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84C7-DFAE-B978-8108-028D4D700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5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4E69-127E-DEF5-F14A-CC202E07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5A2A2-CD98-6A7B-8741-204362E54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C4A01-680E-BCF5-0F66-701E3AF6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F28F5-C5A3-F7C0-5672-8C2683DDF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D814-234C-DF59-B542-1C521B1B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C523B-A2E4-8887-83E6-8EF0BE6FD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DA127-5FE4-9C66-1DDC-55A169018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ACBEE-5D5E-3FD3-C3B6-C1C3E64E3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73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02AA-8804-BA40-F27B-933E0F45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DAEC9-C871-52CE-D341-2B8EE3693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5969E-11D3-9071-681E-D908A96A9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277B8-D7F0-4AE0-A116-B4D0B4403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4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7AA5-B049-4E38-0AAF-ED4757E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0D868-4AF0-FA22-47CA-1EB3BA77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55E06-3F84-42F9-9B85-1156D5816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8CE87-B981-A37A-B674-FC1F2789D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78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C550-7BD7-18BD-4345-ED3B2948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694EA-DC7A-7E98-4B16-DB6479079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5CAB4-2FB3-6E4C-F2F5-128108141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CBA0B-F67E-4DA0-E634-3FB17FDDA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08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289-E6FB-CD57-66F8-5D684DC7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594D6-1799-14A0-1E62-34A36E361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93F03-C759-4D06-5B7B-0B43EFB5C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79436-863C-7013-2F5B-5203B3652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8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682-D2DC-DE44-376D-7C750BF8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C64B3-B385-E0C9-338F-C251EC28D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3F979-8637-6319-CF40-16B29AFA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0793-B0D7-1386-AD6F-B3F342322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01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C26D-CACF-9A45-3295-D0419C5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E6FB5-3954-99CF-08E3-EA7A8A65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D1602-68DD-088A-E841-C211BCB4D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4F2DB-B345-EB3B-4941-90232DE4F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66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CF77-DC49-89D9-3D48-EBD46AD0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D6705-5D0E-8789-FF0C-D4701F1B2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EFC5C-E424-0E64-CBD5-548D326ED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418E5-9D35-95F6-54FC-F5551914D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68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5E0C-4B07-4D12-4FE1-49A3B904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A645E-C3D3-0CA6-A028-F402A82D8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20576-9928-2218-0274-5408B3F0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7521-F375-43F4-E289-69B574257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38DD-AA76-8731-7E50-90D8615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43BA2-5E89-183E-7B54-4DB7019E9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B705D-7A68-0CCD-0D5E-6FEAA29A6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FC493-363D-3BED-4542-2ECB803AF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54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B3FD6-CCE8-5144-D131-FFC02EEC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B7ED1-D890-24CF-79DA-43AECAA59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D8DC5-FECD-FE25-A4FE-FF53385C0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F309E-7452-AAA0-7646-599E2F452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32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C5787-565C-111B-6343-B66C3943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99A10-B5C9-A51F-E7AE-FB94195A3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A5046-2A9A-0E34-3568-86A07684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1DDAD-1782-A6DD-BB3A-942DCD6F4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7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83DB-5AC7-019B-1E02-E16256069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2FF5A-3D4A-A50C-96AA-324453752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BF2DF-2558-3EC9-BFFA-04E4FB58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5371D-71F9-1524-1034-E49614ED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C99A-B5BC-5666-352D-E343445F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DE54-2521-E452-8A7E-43E70382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1948-1551-0033-7E3E-C7AB78C1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D5B36-D20C-FD2C-7E10-F0570FDB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996B1-7B9F-A47B-7A80-F2C177C4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2A0F-849A-6F87-DA79-A6312A37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6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0E47-66FC-42DC-0570-DEE26333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107E8-7B3B-45B4-0591-2C1B806D3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285F-8F80-A9A2-22E7-86283F69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9F06-235F-3069-2D00-4210EB8B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3EA36-7CF6-C4A0-0F7E-7CA901B7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5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AF13-0938-C417-4AD5-93E660D9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90BC-D8D9-E28B-D0E2-D41FCF49C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1D632-F757-F712-4B78-3559DCB44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5AB90-B4A4-E9FD-5D5E-5D0CECB1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49494-549C-C0F9-A18C-1B4D6E68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BD031-5DD8-F8BC-0D18-B900D742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5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3A85-D8AF-9E1E-5B3A-B3EC5FDF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B0DC4-FA55-C8A2-D8F4-5A04DA5E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EC938-7351-1DC8-ADA5-D01336959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A9D34-FE84-9532-1278-5065EFFF2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8650D-E346-AD2A-6FE4-E55B49ABD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448E2-AFEE-C8FC-B9D2-DB1F300C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12E6C-FA44-3420-2153-9A70BF22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32114-ACB9-1BEE-38DD-A0ECFFA9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050F-25F6-9C61-BFF5-AF55BD63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D5817-2A9F-40FB-524D-CA74BEF8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9DBC1-0267-512C-72CF-507B7C77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E3A5C-1F13-B5F6-34E5-D9A6E7FA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40385-808C-AB4C-F5A7-672F1E41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E1958-5099-2BBD-8B81-F4000EED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4ED02-517C-08F1-797D-A0330A64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9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0535-8925-9AA7-ED1A-9B9E9BD1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1C034-8530-F528-92D1-13A9E2061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1DD56-5849-62A0-E03F-F58EAC345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A4875-BD03-7405-2501-5BF6522A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88529-4B14-C012-30A4-8BBB07CB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DAAD-4405-8E20-F943-5CCA34B4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9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19CF-C4F9-ED5C-7E27-C2919930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37D0D-F530-0A64-010B-A4203ED0F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F36C2-DD57-E5D6-2E84-0B3A3F88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7D38D-46B8-29FB-4B85-070E376B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614C-57F3-55E5-22AE-741DD7E8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FE3AC-798F-A007-17A9-D0FF68FD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4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2BDB-C76B-0D23-3CB9-A52D9DDE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3A46D-969E-4527-D42C-8DE5A0754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C0C8-7AEA-E464-128C-8E4F8AEC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03F2C-1B79-58AB-DF80-14F2B31C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D059C-E9D3-A394-2B16-AF4B097C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0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C845B-42F9-6112-F8DC-FD7F9A7A1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14CF4-ED2B-B32D-9D8C-24D9C9EBE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D1EB-400C-D7A4-5BEB-59B879EF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FBB41-CDCD-DC27-7F9A-5B475C8C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860AB-25F3-0506-FD88-2A3DDC8C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3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F6EE1-9CD2-1C2C-7905-6E95BD20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8C9B7-EAC3-8376-231C-53D5B4C03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1D5DE-DA57-0210-0A0A-926E72932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CD64-8B4F-4024-B9D4-D854FC52C3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7ED5-B356-8AC1-A0E5-BE34C8562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CC09-921E-32F7-ECC2-74580F4B8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51/itmconf/20257301019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doi.org/10.1007/s41060-023-00493-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23/A:1013689704352" TargetMode="External"/><Relationship Id="rId5" Type="http://schemas.openxmlformats.org/officeDocument/2006/relationships/image" Target="../media/image6.svg"/><Relationship Id="rId10" Type="http://schemas.openxmlformats.org/officeDocument/2006/relationships/hyperlink" Target="https://proceedings.mlr.press/v9/lu10a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i.org/10.1145/3209978.321005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09BA5FD-6ACA-4518-EA4E-883778C9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5012" y="895350"/>
            <a:ext cx="7351913" cy="15074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C63020-CA5C-423F-BA42-2FF3DC554485}"/>
              </a:ext>
            </a:extLst>
          </p:cNvPr>
          <p:cNvSpPr txBox="1"/>
          <p:nvPr/>
        </p:nvSpPr>
        <p:spPr>
          <a:xfrm>
            <a:off x="1" y="2844026"/>
            <a:ext cx="12192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Reinforcement Learning for Optimizing Advertisement Selection in Digital Marketing: A Study of Multi-armed Bandit Algorithms</a:t>
            </a:r>
          </a:p>
          <a:p>
            <a:pPr algn="ctr"/>
            <a:r>
              <a:rPr lang="en-US" sz="2800" b="1" dirty="0">
                <a:solidFill>
                  <a:srgbClr val="FFFF00"/>
                </a:solidFill>
              </a:rPr>
              <a:t>Paper ID: 167 (1571194953)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FB2EBCCB-4C80-D175-66C4-21D51020F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4495800"/>
            <a:ext cx="9107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SzPct val="150000"/>
              <a:buFontTx/>
              <a:buNone/>
            </a:pPr>
            <a:r>
              <a:rPr lang="en-US" altLang="en-US" sz="2400" i="1" dirty="0">
                <a:solidFill>
                  <a:schemeClr val="bg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Authors</a:t>
            </a:r>
            <a:endParaRPr lang="en-US" altLang="en-US" sz="2000" i="1" dirty="0">
              <a:solidFill>
                <a:schemeClr val="bg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27">
            <a:extLst>
              <a:ext uri="{FF2B5EF4-FFF2-40B4-BE49-F238E27FC236}">
                <a16:creationId xmlns:a16="http://schemas.microsoft.com/office/drawing/2014/main" id="{EED5E21B-6D43-EF35-40D6-3F141473066F}"/>
              </a:ext>
            </a:extLst>
          </p:cNvPr>
          <p:cNvSpPr txBox="1">
            <a:spLocks/>
          </p:cNvSpPr>
          <p:nvPr/>
        </p:nvSpPr>
        <p:spPr bwMode="auto">
          <a:xfrm>
            <a:off x="2638425" y="6069013"/>
            <a:ext cx="9505950" cy="6842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D5D149A3-7E85-5F2E-81BE-53E9286DA9CF}"/>
              </a:ext>
            </a:extLst>
          </p:cNvPr>
          <p:cNvSpPr txBox="1">
            <a:spLocks/>
          </p:cNvSpPr>
          <p:nvPr/>
        </p:nvSpPr>
        <p:spPr bwMode="auto">
          <a:xfrm>
            <a:off x="47625" y="6069013"/>
            <a:ext cx="2524125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20-21 October 2025</a:t>
            </a:r>
            <a:endParaRPr lang="en-IN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7408056-9D13-40B7-007A-132C1993A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7" y="6211094"/>
            <a:ext cx="9859962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Venue:  </a:t>
            </a:r>
            <a:endParaRPr lang="en-US" sz="2000" kern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929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E19F4-574C-F921-0714-421834F8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B5CCF89-A8E1-7BD4-A008-9318267F5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E9AD0-5369-9CBE-7F3F-E6A6472F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2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2D2687AD-BA33-6AD0-3341-56A3276D7015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Presentation Outline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E93119-CE4B-564B-12E7-E8B4D47D06BC}"/>
              </a:ext>
            </a:extLst>
          </p:cNvPr>
          <p:cNvSpPr/>
          <p:nvPr/>
        </p:nvSpPr>
        <p:spPr>
          <a:xfrm>
            <a:off x="0" y="1494122"/>
            <a:ext cx="8495414" cy="536387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Introduction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Problem Statement and Proposed Solution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Literature Review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Methodology and Implementation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altLang="en-US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Results and Analysi</a:t>
            </a:r>
            <a:r>
              <a:rPr lang="en-US" altLang="en-I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endParaRPr lang="en-IN" altLang="en-US" sz="2800" dirty="0">
              <a:solidFill>
                <a:schemeClr val="accent1">
                  <a:lumMod val="75000"/>
                </a:schemeClr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Conclusion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Important References </a:t>
            </a:r>
          </a:p>
        </p:txBody>
      </p:sp>
    </p:spTree>
    <p:extLst>
      <p:ext uri="{BB962C8B-B14F-4D97-AF65-F5344CB8AC3E}">
        <p14:creationId xmlns:p14="http://schemas.microsoft.com/office/powerpoint/2010/main" val="138372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86082-1BF7-B2DC-0CA5-E7564F54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7569CEE-09F6-BFAD-2B83-B63D92765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941D1D-D749-151C-9315-F173C3A7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3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7933F2FC-F757-D4BA-4EAB-46D35F616A1A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Introduction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22222AFC-CA4A-081A-52DB-3FE83BB04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56101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Digital advertising is a major driver of online business revenue and brand visibility.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Advertisers aim to display the right ad to the right user at the right time to maximize engagement and click-through rates (CTR).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Traditional ad selection methods rely on static rules or historical data analysis, which cannot adapt to rapidly changing user behaviors and market </a:t>
            </a:r>
            <a:r>
              <a:rPr lang="en-US" altLang="en-US" sz="2200" dirty="0" err="1">
                <a:solidFill>
                  <a:srgbClr val="222222"/>
                </a:solidFill>
                <a:cs typeface="Times New Roman" panose="02020603050405020304" pitchFamily="18" charset="0"/>
              </a:rPr>
              <a:t>trends.These</a:t>
            </a: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 methods fail to adapt to dynamic user behaviors.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Reinforcement Learning (RL) offers a dynamic, feedback-driven solution where systems learn optimal strategies through continuous interaction.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Multi-Armed Bandit (MAB) algorithms balance exploration vs. exploitation to optimize ad selection.</a:t>
            </a:r>
          </a:p>
        </p:txBody>
      </p:sp>
    </p:spTree>
    <p:extLst>
      <p:ext uri="{BB962C8B-B14F-4D97-AF65-F5344CB8AC3E}">
        <p14:creationId xmlns:p14="http://schemas.microsoft.com/office/powerpoint/2010/main" val="147272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2EBE0-1525-12C2-3503-307F49D7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4A10296-DEFE-868A-3445-842B26514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86AA6-FFD5-E8B6-1E12-E0C3546B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4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70CC5951-891D-3CE8-C5F0-8E4B9591ADF1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Problem Statement and Proposed Solution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2225255-4E7A-1CA1-D537-EE13C865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40861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Problem: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Difficulty in dynamically optimizing ads based on user engagement (CTR).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Static models don’t account for changing user preferences.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b="1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Proposed Solution: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Evaluate MAB algorithms (Random Selection, </a:t>
            </a:r>
            <a:r>
              <a:rPr lang="el-GR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ε-</a:t>
            </a: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Greedy, UCB).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Use artificial user interaction data to simulate real-world ad behavior.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Identify which algorithm achieves higher rewards, lower regret, and better selection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96213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2E03E-5954-FFA8-BD46-7C25D9F2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5D86698F-62EA-A410-2B21-5BAFBEBF0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B5181-2DD8-8ADF-EBDC-D8CB2A4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5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C48D3FB8-9887-3BA4-A722-DEA7FF4B10F0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0E215-2809-0CEE-9550-A012BAE7B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900256"/>
              </p:ext>
            </p:extLst>
          </p:nvPr>
        </p:nvGraphicFramePr>
        <p:xfrm>
          <a:off x="117366" y="1210169"/>
          <a:ext cx="11895443" cy="549729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4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3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31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ea typeface="SimSun" panose="02010600030101010101" pitchFamily="2" charset="-122"/>
                          <a:cs typeface="+mn-lt"/>
                        </a:rPr>
                        <a:t>Ref.</a:t>
                      </a: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Focused Area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Methodology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Key findings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Relevance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65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1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Exploration–exploitation dilemma in reinforcement learning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Theoretical analysis of regret minimization; formulation of uniformly optimal policies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Demonstrated that logarithmic regret is achievable over time for all bounded reward distributions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Establishes the mathematical foundation for regret-based evaluation of MAB algorithms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59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2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Optimization of ad bids and budgets in digital marketing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Developed a parametric contextual bandit with bootstrapped Thompson sampling; tested on real and synthetic data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The proposed model achieved higher conversions and better performance under low data and tight budget conditions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Shows how MAB can effectively optimize marketing campaigns and improve conversions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53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3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Comparative performance of MAB algorithms in digital advertising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Experimental comparison of ε-Greedy, UCB, LinUCB, and Softmax algorithms using ad data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LinUCB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achieved the highest cumulative return and accuracy by leveraging contextual information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Highlights the benefit of contextual learning for accurate, user-targeted ad recommendations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3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4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Handling dynamic user preferences in recommender and ad systems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Proposed a contextual bandit capable of detecting environmental changes and updating policies accordingly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Achieved robust performance with low regret in changing environments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Relevant for real-time ad optimization where user behavior and interests evolve continuously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453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5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Context-aware ad recommendation and CTR optimization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Modeled ad selection as a contextual MAB problem; introduced regret bounds for contextual settings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Provided theoretical regret bounds and practical insights for contextual decision-making in online ads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Core reference for applying contextual MABs to personalized advertising in search engines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33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27FA2-A7FF-4A0F-6047-647D834A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8D51B27-AC5F-CAD4-7075-F208E1AF9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B39D94-9E1A-94A4-AB02-57C5CB2F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6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D1B7D199-294B-F614-73AE-639EFEA2093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Methodology and Implementation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5A3F18E6-82DB-2023-E0F0-1E1E23A2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6" y="1143176"/>
            <a:ext cx="5841274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Data Collection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Five advertisements with predefined CTRs are chosen to mimic  real-world engagement scenario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Algorithms used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Random selection, ε-greedy and UCB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Evaluation Metrics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Cumulative reward, selection accuracy,  regret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Tools used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Simulations were carried on Python for 10000 iterations for each algorithm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Process flow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Input: Dataset with multiple ad options.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Agent: Applies MAB algorithm (Random, ε-Greedy, or UCB).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Output: Selection accuracy, cumulative reward, and regret</a:t>
            </a:r>
          </a:p>
        </p:txBody>
      </p:sp>
      <p:pic>
        <p:nvPicPr>
          <p:cNvPr id="4" name="Google Shape;133;g38bc94221a0_0_61" descr="image13.png">
            <a:extLst>
              <a:ext uri="{FF2B5EF4-FFF2-40B4-BE49-F238E27FC236}">
                <a16:creationId xmlns:a16="http://schemas.microsoft.com/office/drawing/2014/main" id="{3D472873-4B33-7D1A-610B-7D786DD0216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 l="12106" t="12821" r="289" b="12327"/>
          <a:stretch/>
        </p:blipFill>
        <p:spPr>
          <a:xfrm>
            <a:off x="6101468" y="1314094"/>
            <a:ext cx="6048000" cy="42959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95ED652B-F427-1F76-7E98-08CD2D0E540D}"/>
              </a:ext>
            </a:extLst>
          </p:cNvPr>
          <p:cNvSpPr txBox="1"/>
          <p:nvPr/>
        </p:nvSpPr>
        <p:spPr>
          <a:xfrm>
            <a:off x="7026307" y="5671390"/>
            <a:ext cx="4692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SzPts val="800"/>
              <a:tabLst>
                <a:tab pos="685800" algn="l"/>
                <a:tab pos="400050" algn="l"/>
              </a:tabLst>
            </a:pPr>
            <a:r>
              <a:rPr lang="en-US" sz="2000" spc="-5" dirty="0">
                <a:cs typeface="Times New Roman" panose="02020603050405020304" pitchFamily="18" charset="0"/>
              </a:rPr>
              <a:t>Fig. </a:t>
            </a:r>
            <a:r>
              <a:rPr lang="en-US" sz="2000" dirty="0">
                <a:solidFill>
                  <a:schemeClr val="tx1"/>
                </a:solidFill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Proposed model implementation flow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IN" sz="1600" b="1" spc="-5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AD459-7ED1-7FED-376B-80733CF0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C5C781E-BC0A-5443-93F2-DD24EBE0C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DF68EE-84CF-B66A-031A-85C377EA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7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F0AACEF-2FA8-4688-0E47-6FE14E661564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/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0"/>
          <a:stretch/>
        </p:blipFill>
        <p:spPr>
          <a:xfrm>
            <a:off x="4530131" y="1545504"/>
            <a:ext cx="6789342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4905" y="6117504"/>
            <a:ext cx="4438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RSA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13B41-8A05-D458-C2D0-FAAE95C332DF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Random selection algorithm (RSA)</a:t>
            </a:r>
          </a:p>
        </p:txBody>
      </p:sp>
    </p:spTree>
    <p:extLst>
      <p:ext uri="{BB962C8B-B14F-4D97-AF65-F5344CB8AC3E}">
        <p14:creationId xmlns:p14="http://schemas.microsoft.com/office/powerpoint/2010/main" val="10162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47DA2-7A1D-BD14-FE49-14DD8715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89445E6-F130-58D6-1A57-11B2463DD8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6E9B1-51F1-7E65-C822-8D5E5E94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8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28E5D664-BD6D-75A0-B1C8-5843E4ED478B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13FA4163-B518-5CBC-CDE8-8740CCB15EBB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88667-49BA-80AF-578A-7CF6A0C0B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3"/>
          <a:stretch>
            <a:fillRect/>
          </a:stretch>
        </p:blipFill>
        <p:spPr>
          <a:xfrm>
            <a:off x="189469" y="2370666"/>
            <a:ext cx="5486400" cy="3486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3C11F7-3A39-67E9-1D6D-A9B44634BF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6" b="-1"/>
          <a:stretch>
            <a:fillRect/>
          </a:stretch>
        </p:blipFill>
        <p:spPr>
          <a:xfrm>
            <a:off x="6439129" y="2370666"/>
            <a:ext cx="5486400" cy="3491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8B5CC7-6D89-6E91-ADFE-16D8804B683A}"/>
              </a:ext>
            </a:extLst>
          </p:cNvPr>
          <p:cNvSpPr txBox="1"/>
          <p:nvPr/>
        </p:nvSpPr>
        <p:spPr>
          <a:xfrm>
            <a:off x="1247776" y="5980804"/>
            <a:ext cx="3743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RSA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A4945-98F8-DE11-E1A7-F926ED0A6D20}"/>
              </a:ext>
            </a:extLst>
          </p:cNvPr>
          <p:cNvSpPr txBox="1"/>
          <p:nvPr/>
        </p:nvSpPr>
        <p:spPr>
          <a:xfrm>
            <a:off x="8010507" y="6097629"/>
            <a:ext cx="3402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RSA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E402D1-B047-7C16-42F2-F98F06838BDA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Random selection algorithm (RSA)</a:t>
            </a:r>
          </a:p>
        </p:txBody>
      </p:sp>
    </p:spTree>
    <p:extLst>
      <p:ext uri="{BB962C8B-B14F-4D97-AF65-F5344CB8AC3E}">
        <p14:creationId xmlns:p14="http://schemas.microsoft.com/office/powerpoint/2010/main" val="66009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4F509-B78F-7A9F-33CD-239E04CA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71E9CD0-3B20-E294-BD6B-CA53251D7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3073C-55B7-E839-C1F5-6EBEF447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9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17A14296-44BF-D201-D6E0-A79A54437B01}"/>
              </a:ext>
            </a:extLst>
          </p:cNvPr>
          <p:cNvSpPr txBox="1">
            <a:spLocks/>
          </p:cNvSpPr>
          <p:nvPr/>
        </p:nvSpPr>
        <p:spPr bwMode="auto">
          <a:xfrm>
            <a:off x="0" y="948250"/>
            <a:ext cx="6516131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DE1D217A-5966-C978-8AAD-2C84E487672C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DCCF9-2A1E-8432-7F3D-0E0D01846A42}"/>
              </a:ext>
            </a:extLst>
          </p:cNvPr>
          <p:cNvSpPr txBox="1"/>
          <p:nvPr/>
        </p:nvSpPr>
        <p:spPr>
          <a:xfrm>
            <a:off x="170655" y="5844853"/>
            <a:ext cx="566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ε-greedy algorithm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387EE-3FC7-FEBB-6835-E22111D3F619}"/>
              </a:ext>
            </a:extLst>
          </p:cNvPr>
          <p:cNvSpPr txBox="1"/>
          <p:nvPr/>
        </p:nvSpPr>
        <p:spPr>
          <a:xfrm>
            <a:off x="143460" y="1784200"/>
            <a:ext cx="228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ε-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greedy Algorithm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971" y="95697"/>
            <a:ext cx="5818958" cy="67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4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F9FFC-0E92-0950-5DE8-CFB0D01C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3CE00E9-0CA7-7B68-2AC6-75F2A0C8F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DD5019-F2AC-133F-DEEB-CC2692D3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10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856D35D7-B29B-B91A-3483-E15B48F4F21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56CEC4A9-30D2-A000-BC2A-43409C4285C9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1B2AD-4AA1-AC5E-B185-47078C106877}"/>
              </a:ext>
            </a:extLst>
          </p:cNvPr>
          <p:cNvSpPr txBox="1"/>
          <p:nvPr/>
        </p:nvSpPr>
        <p:spPr>
          <a:xfrm>
            <a:off x="6918194" y="5672926"/>
            <a:ext cx="507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ε-greedy algorithm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86AFB0-7C06-EECF-1D64-A8298FBF435F}"/>
              </a:ext>
            </a:extLst>
          </p:cNvPr>
          <p:cNvSpPr txBox="1"/>
          <p:nvPr/>
        </p:nvSpPr>
        <p:spPr>
          <a:xfrm>
            <a:off x="143460" y="1163129"/>
            <a:ext cx="228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ε-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greedy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4AE00-AA7F-1431-DF5B-2AF3F110CD65}"/>
              </a:ext>
            </a:extLst>
          </p:cNvPr>
          <p:cNvSpPr txBox="1"/>
          <p:nvPr/>
        </p:nvSpPr>
        <p:spPr>
          <a:xfrm>
            <a:off x="371793" y="5604787"/>
            <a:ext cx="5607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ε-greedy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89479-5545-71FD-9503-7F139471BF9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/>
          <a:stretch/>
        </p:blipFill>
        <p:spPr>
          <a:xfrm>
            <a:off x="193958" y="1782674"/>
            <a:ext cx="5486400" cy="36977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6"/>
          <a:stretch/>
        </p:blipFill>
        <p:spPr>
          <a:xfrm>
            <a:off x="6511644" y="1782674"/>
            <a:ext cx="5486400" cy="369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4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0493B-EC45-2EA4-22D7-35A61DC7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1FDC332-FB7B-5E63-191F-EF560A073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7EB19-9C08-19F4-AF2C-14970D94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048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11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8FB7BB7D-25C1-F100-AAF8-FE194BD5B9F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072D80DD-2F20-544C-B0DA-9A561BED04D5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A1674-683B-5E33-B35F-60A340D7CF05}"/>
              </a:ext>
            </a:extLst>
          </p:cNvPr>
          <p:cNvSpPr txBox="1"/>
          <p:nvPr/>
        </p:nvSpPr>
        <p:spPr>
          <a:xfrm>
            <a:off x="6224905" y="6117504"/>
            <a:ext cx="4438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UCB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B2EC7-49E5-286D-A1B0-66AB97DFA684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Upper Confidence Bound (UCB)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4"/>
          <a:stretch/>
        </p:blipFill>
        <p:spPr>
          <a:xfrm>
            <a:off x="4774047" y="1454064"/>
            <a:ext cx="6301509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1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B5841-1B7D-0544-4E78-6651D6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0FEE422-A78A-6685-F0CB-7B39448BA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3DBEEC-3D93-D03F-D616-D0FA034C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12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B976813-4BF2-74E2-79C3-72A1D23FEC5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F95F37C0-18BC-5ED2-0E3F-42B26CB33C67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6E131-F8F9-DC2D-5339-A549D65559FA}"/>
              </a:ext>
            </a:extLst>
          </p:cNvPr>
          <p:cNvSpPr txBox="1"/>
          <p:nvPr/>
        </p:nvSpPr>
        <p:spPr>
          <a:xfrm>
            <a:off x="6947070" y="6072531"/>
            <a:ext cx="507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USB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D5FF8-F732-B149-8607-C7C77E52F413}"/>
              </a:ext>
            </a:extLst>
          </p:cNvPr>
          <p:cNvSpPr txBox="1"/>
          <p:nvPr/>
        </p:nvSpPr>
        <p:spPr>
          <a:xfrm>
            <a:off x="143459" y="1163129"/>
            <a:ext cx="3697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Upper Confidence Bound (UCB)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9A482-0E2C-2C08-C6D4-792B8C0D496E}"/>
              </a:ext>
            </a:extLst>
          </p:cNvPr>
          <p:cNvSpPr txBox="1"/>
          <p:nvPr/>
        </p:nvSpPr>
        <p:spPr>
          <a:xfrm>
            <a:off x="371793" y="6073036"/>
            <a:ext cx="5607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UCB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4"/>
          <a:stretch/>
        </p:blipFill>
        <p:spPr>
          <a:xfrm>
            <a:off x="67377" y="1858077"/>
            <a:ext cx="5486400" cy="41075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4"/>
          <a:stretch/>
        </p:blipFill>
        <p:spPr>
          <a:xfrm>
            <a:off x="6516131" y="1826477"/>
            <a:ext cx="5486400" cy="41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D237C-150C-2308-A072-0D36B3CF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4DBB75D1-003A-019C-1237-0AB2958B9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04D3D-9971-82C4-4528-DF66918B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13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E4AD7166-9DEC-E907-48A5-D97AE8146B8A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25661-1CED-A254-FBAA-A10A4961C3DD}"/>
              </a:ext>
            </a:extLst>
          </p:cNvPr>
          <p:cNvSpPr txBox="1"/>
          <p:nvPr/>
        </p:nvSpPr>
        <p:spPr>
          <a:xfrm>
            <a:off x="7026307" y="5988584"/>
            <a:ext cx="474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Cumulative regret for MAB algorithms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7740F-BA24-94C6-CEE5-670A7A78743A}"/>
              </a:ext>
            </a:extLst>
          </p:cNvPr>
          <p:cNvSpPr txBox="1"/>
          <p:nvPr/>
        </p:nvSpPr>
        <p:spPr>
          <a:xfrm>
            <a:off x="419082" y="5988584"/>
            <a:ext cx="4825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Cumulative rewards for MAB algorithms </a:t>
            </a:r>
          </a:p>
        </p:txBody>
      </p:sp>
      <p:pic>
        <p:nvPicPr>
          <p:cNvPr id="5" name="Google Shape;149;p7" descr="image5.png"/>
          <p:cNvPicPr preferRelativeResize="0"/>
          <p:nvPr/>
        </p:nvPicPr>
        <p:blipFill rotWithShape="1">
          <a:blip r:embed="rId6">
            <a:alphaModFix/>
          </a:blip>
          <a:srcRect l="1113" t="6842" r="422" b="2178"/>
          <a:stretch>
            <a:fillRect/>
          </a:stretch>
        </p:blipFill>
        <p:spPr>
          <a:xfrm>
            <a:off x="176597" y="1701427"/>
            <a:ext cx="5760720" cy="420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7" descr="image8.png"/>
          <p:cNvPicPr preferRelativeResize="0"/>
          <p:nvPr/>
        </p:nvPicPr>
        <p:blipFill rotWithShape="1">
          <a:blip r:embed="rId7">
            <a:alphaModFix/>
          </a:blip>
          <a:srcRect l="885" t="6024" r="767" b="1926"/>
          <a:stretch>
            <a:fillRect/>
          </a:stretch>
        </p:blipFill>
        <p:spPr>
          <a:xfrm>
            <a:off x="6254685" y="1701427"/>
            <a:ext cx="5760720" cy="4206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602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A0F0A-D3B6-DA39-A10B-EE9AD4F7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3B25899-DDE2-AD99-61C4-C9902E4FC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9574E-4ADB-D96F-D3DE-BC4F4AB3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3360" y="13752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14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01190BC-C13B-F4B3-2B16-8D3A31A6B753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446E59B-07A0-09A5-9F69-C8BC2721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561016"/>
            <a:ext cx="10667308" cy="233721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UCB does well in terms of selection accuracy, avg. reward and regret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Hence, it can support personalization in ad delivery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Enables dynamic adaptation to user preferences and evolving environments.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comparative analysis of three MAB algorithms is given in Table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None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6B6653-B0EF-7828-FDED-3AE5C3347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68447"/>
              </p:ext>
            </p:extLst>
          </p:nvPr>
        </p:nvGraphicFramePr>
        <p:xfrm>
          <a:off x="2428240" y="4630455"/>
          <a:ext cx="6863611" cy="1746581"/>
        </p:xfrm>
        <a:graphic>
          <a:graphicData uri="http://schemas.openxmlformats.org/drawingml/2006/table">
            <a:tbl>
              <a:tblPr firstRow="1" firstCol="1" bandRow="1"/>
              <a:tblGrid>
                <a:gridCol w="2326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8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66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6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0581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Avg. Reward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Regret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Random Selection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0.053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304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19.58%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l-GR" dirty="0">
                          <a:cs typeface="Poppins" panose="020B0604020202020204" charset="0"/>
                        </a:rPr>
                        <a:t>ε</a:t>
                      </a:r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 - greedy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0.067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175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60.09%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UCB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114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81.15%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8CC722-BF7B-1149-C92D-C39A8DA3EDB3}"/>
              </a:ext>
            </a:extLst>
          </p:cNvPr>
          <p:cNvSpPr txBox="1"/>
          <p:nvPr/>
        </p:nvSpPr>
        <p:spPr>
          <a:xfrm>
            <a:off x="3345162" y="4064288"/>
            <a:ext cx="512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Table. Comparative Performance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02094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E90ED-B339-4548-A114-3CA355C5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16BB037-5953-93E1-6DE9-D1AFD1965F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58736-6B85-EF61-73E7-BBE3532E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15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F914C595-5EEB-1598-2BCA-595FD37A0338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Conclusion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F0A7A1C-4E7A-8B08-0FB2-7CC6675F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19525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This study explored the use of the Multi-Armed Bandit (MAB) framework combined with reinforcement learning for the optimization of advertisements.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Three MAB Algorithms - the Random Selection, Epsilon-Greedy, and Upper Confidence Bound (UCB) algorithms, were examined and probed for efficacy.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findings showed that UCB performed better than the other strategies by effectively striking a balance between exploration and exploitation.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This paper highlights how parameter choices influence regret, reward, and accuracy, thus advertisers can reduce wasted impressions and increase click-through rates.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personalized ad targeting can be made possible by contextual bandits, which combine both  user features like gender, age etc.. and ad features like CTC, length of ad </a:t>
            </a:r>
            <a:r>
              <a:rPr lang="en-US" altLang="en-US" sz="2200" dirty="0" err="1">
                <a:solidFill>
                  <a:srgbClr val="222222"/>
                </a:solidFill>
                <a:cs typeface="Times New Roman" panose="02020603050405020304" pitchFamily="18" charset="0"/>
              </a:rPr>
              <a:t>etc</a:t>
            </a: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BBCD8-71D3-3E19-5C49-633B4370B905}"/>
              </a:ext>
            </a:extLst>
          </p:cNvPr>
          <p:cNvSpPr txBox="1"/>
          <p:nvPr/>
        </p:nvSpPr>
        <p:spPr>
          <a:xfrm>
            <a:off x="2067" y="5145056"/>
            <a:ext cx="1688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31577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1054F-06AC-F21C-CC68-7C8B3A51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F520AF0-5E58-96AE-30B7-86A9C2899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D67C6-8435-375C-D647-0438CC30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16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61A9C858-B4F2-7734-CA57-427FA2E8AF4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Important References 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2EAC0280-2243-33FF-28EF-4249DD926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53" y="1724026"/>
            <a:ext cx="11268702" cy="48577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+mj-lt"/>
              <a:buAutoNum type="arabicPeriod"/>
            </a:pPr>
            <a:r>
              <a:rPr lang="en-US" sz="1800" dirty="0"/>
              <a:t>P. Auer, N. </a:t>
            </a:r>
            <a:r>
              <a:rPr lang="en-US" sz="1800" dirty="0" err="1"/>
              <a:t>Cesa</a:t>
            </a:r>
            <a:r>
              <a:rPr lang="en-US" sz="1800" dirty="0"/>
              <a:t>-Bianchi, and P. Fischer, “Finite-time Analysis of the Multiarmed Bandit Problem,” </a:t>
            </a:r>
            <a:r>
              <a:rPr lang="en-US" sz="1800" i="1" dirty="0"/>
              <a:t>Machine Learning</a:t>
            </a:r>
            <a:r>
              <a:rPr lang="en-US" sz="1800" dirty="0"/>
              <a:t>, vol. 47, no. 2–3, pp. 235–256, May 2002. </a:t>
            </a:r>
            <a:r>
              <a:rPr lang="en-US" sz="1800" dirty="0" err="1"/>
              <a:t>doi</a:t>
            </a:r>
            <a:r>
              <a:rPr lang="en-US" sz="1800" dirty="0"/>
              <a:t>: </a:t>
            </a:r>
            <a:r>
              <a:rPr lang="en-US" sz="1800" u="sng" dirty="0">
                <a:hlinkClick r:id="rId6"/>
              </a:rPr>
              <a:t>https://doi.org/10.1023/A:1013689704352</a:t>
            </a:r>
            <a:r>
              <a:rPr lang="en-IN" sz="18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M. Gigli and F. Stella, “Multi-armed Bandits for Performance Marketing,” </a:t>
            </a:r>
            <a:r>
              <a:rPr lang="en-US" sz="1800" i="1" dirty="0"/>
              <a:t>International Journal of Data Science and Analytics</a:t>
            </a:r>
            <a:r>
              <a:rPr lang="en-US" sz="1800" dirty="0"/>
              <a:t>, vol. 20, pp. 151–165, 2025. </a:t>
            </a:r>
            <a:r>
              <a:rPr lang="en-US" sz="1800" u="sng" dirty="0">
                <a:hlinkClick r:id="rId7"/>
              </a:rPr>
              <a:t>https://doi.org/10.1007/s41060-023-00493-7</a:t>
            </a:r>
            <a:r>
              <a:rPr lang="en-IN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Z. Tian, “Bandit Algorithms for Advertising Optimization: A Comparative Study,” </a:t>
            </a:r>
            <a:r>
              <a:rPr lang="en-US" sz="1800" i="1" dirty="0"/>
              <a:t>ITM Web Conf.</a:t>
            </a:r>
            <a:r>
              <a:rPr lang="en-US" sz="1800" dirty="0"/>
              <a:t>, vol. 73, p. 01019, 2025, </a:t>
            </a:r>
            <a:r>
              <a:rPr lang="en-US" sz="1800" dirty="0" err="1"/>
              <a:t>doi</a:t>
            </a:r>
            <a:r>
              <a:rPr lang="en-US" sz="1800" dirty="0"/>
              <a:t>: </a:t>
            </a:r>
            <a:r>
              <a:rPr lang="en-US" sz="1800" u="sng" dirty="0">
                <a:hlinkClick r:id="rId8"/>
              </a:rPr>
              <a:t>https://doi.org/10.1051/itmconf/20257301019</a:t>
            </a:r>
            <a:r>
              <a:rPr lang="en-IN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Q. Wu, N. Iyer, and H. Wang, “Learning Contextual Bandits in a Non-stationary Environment,” </a:t>
            </a:r>
            <a:r>
              <a:rPr lang="en-US" sz="1800" i="1" dirty="0"/>
              <a:t>SIGIR '18: The 41</a:t>
            </a:r>
            <a:r>
              <a:rPr lang="en-US" sz="1800" i="1" baseline="30000" dirty="0"/>
              <a:t>st</a:t>
            </a:r>
            <a:r>
              <a:rPr lang="en-US" sz="1800" i="1" dirty="0"/>
              <a:t> International ACM SIGIR Conference on Research &amp; Development in Information Retrieval,</a:t>
            </a:r>
            <a:r>
              <a:rPr lang="en-US" sz="1800" dirty="0"/>
              <a:t> pp. 495-504, 2018. </a:t>
            </a:r>
            <a:r>
              <a:rPr lang="en-US" sz="1800" dirty="0" err="1"/>
              <a:t>doi</a:t>
            </a:r>
            <a:r>
              <a:rPr lang="en-US" sz="1800" dirty="0"/>
              <a:t>:  </a:t>
            </a:r>
            <a:r>
              <a:rPr lang="en-US" sz="1800" u="sng" dirty="0">
                <a:hlinkClick r:id="rId9"/>
              </a:rPr>
              <a:t>https://doi.org/10.1145/3209978.3210051</a:t>
            </a:r>
            <a:r>
              <a:rPr lang="en-IN" sz="18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T. Lu, D. Pál, and M. Pál, “Contextual Multi-Armed Bandits,” </a:t>
            </a:r>
            <a:r>
              <a:rPr lang="en-US" sz="1800" i="1" dirty="0"/>
              <a:t>Proceedings of Machine Learning Research (PMLR)</a:t>
            </a:r>
            <a:r>
              <a:rPr lang="en-US" sz="1800" dirty="0"/>
              <a:t>, vol. 9, pp. 485-492, 2010. </a:t>
            </a:r>
            <a:r>
              <a:rPr lang="en-US" sz="1800" u="sng" dirty="0">
                <a:hlinkClick r:id="rId10"/>
              </a:rPr>
              <a:t>https://proceedings.mlr.press/v9/lu10a.html</a:t>
            </a:r>
            <a:r>
              <a:rPr lang="en-IN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8252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879AD-18DC-4333-4167-D3376E67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F1CCAFF-8E0D-CF5E-1D22-2D365670C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5D839-F1A9-0F00-38B0-087F2493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17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D1CE79-64A7-37B3-AA41-00B98C83F412}"/>
              </a:ext>
            </a:extLst>
          </p:cNvPr>
          <p:cNvSpPr txBox="1">
            <a:spLocks/>
          </p:cNvSpPr>
          <p:nvPr/>
        </p:nvSpPr>
        <p:spPr bwMode="auto">
          <a:xfrm>
            <a:off x="758363" y="2594277"/>
            <a:ext cx="10667307" cy="110790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5919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1147</Words>
  <Application>Microsoft Office PowerPoint</Application>
  <PresentationFormat>Widescreen</PresentationFormat>
  <Paragraphs>171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Aptos</vt:lpstr>
      <vt:lpstr>Calibri (Body)</vt:lpstr>
      <vt:lpstr>Calibri Light</vt:lpstr>
      <vt:lpstr>Tw Cen MT</vt:lpstr>
      <vt:lpstr>Times New Roman</vt:lpstr>
      <vt:lpstr>Calibri body</vt:lpstr>
      <vt:lpstr>Wingdings</vt:lpstr>
      <vt:lpstr>Gill Sans MT</vt:lpstr>
      <vt:lpstr>Calibri</vt:lpstr>
      <vt:lpstr>Poppins</vt:lpstr>
      <vt:lpstr>Arial</vt:lpstr>
      <vt:lpstr>SimSun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Pokpong Kumthai</dc:creator>
  <cp:lastModifiedBy>MY PC</cp:lastModifiedBy>
  <cp:revision>54</cp:revision>
  <dcterms:created xsi:type="dcterms:W3CDTF">2025-09-22T02:45:44Z</dcterms:created>
  <dcterms:modified xsi:type="dcterms:W3CDTF">2026-01-02T09:41:55Z</dcterms:modified>
</cp:coreProperties>
</file>